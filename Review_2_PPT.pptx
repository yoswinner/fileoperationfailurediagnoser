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Operating Systems mini-project is the File Operation Failure Diagnoser. It is a Windows desktop tool that explains why a requested file operation may fail, using OS-level interfaces and Windows APIs. I am presenting Review 2: the proposed methodology and architecture, and the coding status of the current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Everyday file errors on Windows are generic. 'Access is denied' or 'The file is in use' tells the user that something failed, but not what. The same message can come from a process holding the file, from permission or ownership restrictions, from filesystem attributes, or from synchronisation activity. Our motivation is to turn that generic failure into a specific diagnosis backed by evidence from the operating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complete objectives of the project. Objectives one, two, five and six are addressed by the current prototype. Objectives three and four — file attribute analysis and cloud-sync detection — are part of the complete proposed system and are not yet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proposed architecture. The user interacts only with the desktop GUI. The GUI passes the file path and the requested operation to the Diagnosis Engine, which is the central coordination layer. The Diagnosis Engine coordinates four independent peer analyzers — Process/Lock, Permission, File Attribute and Cloud-Sync. They are peers, not a chain: none of them calls another, and each returns structured evidence to the engine. The four sets of results are then correlated, a root cause is classified, the Recommendation Engine converts that into a safe action, and the final result is displayed in the GUI.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proposed workflow, thirteen steps in three phases. Input: the user selects a file and an operation, the GUI hands both to the Diagnosis Engine, and the path is validated. Analysis: the four peer analyzers run and each returns structured evidence. Decision: the engine collects and correlates that evidence, determines the root cause, generates a recommendation, and the GUI displays the diagnosis. The note at the bottom states exactly how much of this the current prototype executes.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how the application actually obtains its information. It runs locally — it is not a web or remote service — and it reads from the operating system through OS-level interfaces and Windows APIs. For lock detection: Python calls into the Windows Restart Manager API through ctypes against Rstrtmgr.dll, which returns the processes associated with the file. For permissions: Python OS interfaces such as os.access, together with ctypes against advapi32.dll for Windows security information, give owner and ACL-related data. psutil enriches process metadata such as the executable path where applicable. The application does not directly issue raw system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is the deterministic decision flow the prototype executes today. Does the file exist — if not, FILE_NOT_FOUND. Is a lock detected — if yes, FILE_LOCKED. Is the permission allowed — if not, PERMISSION_DENIED, or READ_ONLY where supported. Otherwise OPERATION_ALLOWED. On the right is how the complete proposed system extends that same engine with file attribute evidence, cloud-sync evidence, and broader correlation across all four analyzers before classifying the root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design of the desktop application. The user enters or browses to a file, picks the operation, and presses Diagnose File. The result comes back as a status and reason, a process list, and a permissions panel, with a recommendation at the bottom. The File Attributes and Cloud-Sync sections are present in the layout but explicitly marked Coming Soon — we do not display fabricated results for them. Importantly, the GUI is only a presentation layer: it calls the existing Diagnosis Engine and does not perform OS-level diagnosis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coding status. Five components are implemented: the Process/Lock Analyzer, the Permission and Ownership Analyzer, the Diagnosis Engine, the suggested-action output, and the Tkinter desktop GUI. Two components are not yet implemented: the File Attribute Analyzer and the Cloud-Sync Analyzer. The prototype demonstrates the implemented backend and the GUI path end to end; the remaining analyzers are part of the complete proposed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was verified on Windows. Seventy-two tests in total: seventy-one passed, zero failed, and one was skipped. The single skipped test is intentionally skipped — it checks non-Windows behaviour, so it does not apply when the suite runs on Windows. Windows-specific lock detection, Windows-specific permission and ownership checks, and the Diagnosis Engine all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live demonstration we will run four scenarios against real files on this machine. A normal file with READ, which returns OPERATION_ALLOWED. A permission-restricted or read-only file with WRITE, which returns PERMISSION_DENIED or READ_ONLY. A file genuinely held open by another process with WRITE, which returns FILE_LOCKED along with the process name, PID and executable path as returned by the Restart Manager. And an invalid path, which returns FILE_NOT_FOUND. These are real operating-system conditions — nothing is mocked.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have a modular OS-level diagnostic architecture built around four peer analyzers, with real Windows API integration for lock detection and for permission and ownership analysis, a working Diagnosis Engine, a working Tkinter desktop prototype, and safe recommendation output — verified on Windows. The File Attribute Analyzer and the Cloud-Sync Analyzer remain to be implemented, after which all proposed components will be integrated into the final desktop application. The project is not complete; this is Review 2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A30"/>
        </a:solidFill>
      </p:bgPr>
    </p:bg>
    <p:spTree>
      <p:nvGrpSpPr>
        <p:cNvPr id="1" name=""/>
        <p:cNvGrpSpPr/>
        <p:nvPr/>
      </p:nvGrpSpPr>
      <p:grpSpPr>
        <a:xfrm>
          <a:off x="0" y="0"/>
          <a:ext cx="0" cy="0"/>
          <a:chOff x="0" y="0"/>
          <a:chExt cx="0" cy="0"/>
        </a:xfrm>
      </p:grpSpPr>
      <p:sp>
        <p:nvSpPr>
          <p:cNvPr id="3" name="Shape 0"/>
          <p:cNvSpPr/>
          <p:nvPr/>
        </p:nvSpPr>
        <p:spPr>
          <a:xfrm>
            <a:off x="8732520" y="868680"/>
            <a:ext cx="475488" cy="475488"/>
          </a:xfrm>
          <a:prstGeom prst="roundRect">
            <a:avLst>
              <a:gd name="adj" fmla="val 11538"/>
            </a:avLst>
          </a:prstGeom>
          <a:solidFill>
            <a:srgbClr val="1E3560"/>
          </a:solidFill>
          <a:ln w="12700">
            <a:solidFill>
              <a:srgbClr val="4F8EF7"/>
            </a:solidFill>
            <a:prstDash val="solid"/>
          </a:ln>
        </p:spPr>
      </p:sp>
      <p:sp>
        <p:nvSpPr>
          <p:cNvPr id="4" name="Shape 1"/>
          <p:cNvSpPr/>
          <p:nvPr/>
        </p:nvSpPr>
        <p:spPr>
          <a:xfrm>
            <a:off x="9390888" y="868680"/>
            <a:ext cx="475488" cy="475488"/>
          </a:xfrm>
          <a:prstGeom prst="roundRect">
            <a:avLst>
              <a:gd name="adj" fmla="val 11538"/>
            </a:avLst>
          </a:prstGeom>
          <a:solidFill>
            <a:srgbClr val="0C1A30"/>
          </a:solidFill>
          <a:ln w="12700">
            <a:solidFill>
              <a:srgbClr val="22375F"/>
            </a:solidFill>
            <a:prstDash val="solid"/>
          </a:ln>
        </p:spPr>
      </p:sp>
      <p:sp>
        <p:nvSpPr>
          <p:cNvPr id="5" name="Shape 2"/>
          <p:cNvSpPr/>
          <p:nvPr/>
        </p:nvSpPr>
        <p:spPr>
          <a:xfrm>
            <a:off x="10049256" y="868680"/>
            <a:ext cx="475488" cy="475488"/>
          </a:xfrm>
          <a:prstGeom prst="roundRect">
            <a:avLst>
              <a:gd name="adj" fmla="val 11538"/>
            </a:avLst>
          </a:prstGeom>
          <a:solidFill>
            <a:srgbClr val="0C1A30"/>
          </a:solidFill>
          <a:ln w="12700">
            <a:solidFill>
              <a:srgbClr val="22375F"/>
            </a:solidFill>
            <a:prstDash val="solid"/>
          </a:ln>
        </p:spPr>
      </p:sp>
      <p:sp>
        <p:nvSpPr>
          <p:cNvPr id="6" name="Shape 3"/>
          <p:cNvSpPr/>
          <p:nvPr/>
        </p:nvSpPr>
        <p:spPr>
          <a:xfrm>
            <a:off x="10707624" y="868680"/>
            <a:ext cx="475488" cy="475488"/>
          </a:xfrm>
          <a:prstGeom prst="roundRect">
            <a:avLst>
              <a:gd name="adj" fmla="val 11538"/>
            </a:avLst>
          </a:prstGeom>
          <a:solidFill>
            <a:srgbClr val="1E3560"/>
          </a:solidFill>
          <a:ln w="12700">
            <a:solidFill>
              <a:srgbClr val="4F8EF7"/>
            </a:solidFill>
            <a:prstDash val="solid"/>
          </a:ln>
        </p:spPr>
      </p:sp>
      <p:sp>
        <p:nvSpPr>
          <p:cNvPr id="7" name="Shape 4"/>
          <p:cNvSpPr/>
          <p:nvPr/>
        </p:nvSpPr>
        <p:spPr>
          <a:xfrm>
            <a:off x="8732520" y="1527048"/>
            <a:ext cx="475488" cy="475488"/>
          </a:xfrm>
          <a:prstGeom prst="roundRect">
            <a:avLst>
              <a:gd name="adj" fmla="val 11538"/>
            </a:avLst>
          </a:prstGeom>
          <a:solidFill>
            <a:srgbClr val="0C1A30"/>
          </a:solidFill>
          <a:ln w="12700">
            <a:solidFill>
              <a:srgbClr val="22375F"/>
            </a:solidFill>
            <a:prstDash val="solid"/>
          </a:ln>
        </p:spPr>
      </p:sp>
      <p:sp>
        <p:nvSpPr>
          <p:cNvPr id="8" name="Shape 5"/>
          <p:cNvSpPr/>
          <p:nvPr/>
        </p:nvSpPr>
        <p:spPr>
          <a:xfrm>
            <a:off x="9390888" y="1527048"/>
            <a:ext cx="475488" cy="475488"/>
          </a:xfrm>
          <a:prstGeom prst="roundRect">
            <a:avLst>
              <a:gd name="adj" fmla="val 11538"/>
            </a:avLst>
          </a:prstGeom>
          <a:solidFill>
            <a:srgbClr val="0C1A30"/>
          </a:solidFill>
          <a:ln w="12700">
            <a:solidFill>
              <a:srgbClr val="22375F"/>
            </a:solidFill>
            <a:prstDash val="solid"/>
          </a:ln>
        </p:spPr>
      </p:sp>
      <p:sp>
        <p:nvSpPr>
          <p:cNvPr id="9" name="Shape 6"/>
          <p:cNvSpPr/>
          <p:nvPr/>
        </p:nvSpPr>
        <p:spPr>
          <a:xfrm>
            <a:off x="10049256" y="1527048"/>
            <a:ext cx="475488" cy="475488"/>
          </a:xfrm>
          <a:prstGeom prst="roundRect">
            <a:avLst>
              <a:gd name="adj" fmla="val 11538"/>
            </a:avLst>
          </a:prstGeom>
          <a:solidFill>
            <a:srgbClr val="1E3560"/>
          </a:solidFill>
          <a:ln w="12700">
            <a:solidFill>
              <a:srgbClr val="4F8EF7"/>
            </a:solidFill>
            <a:prstDash val="solid"/>
          </a:ln>
        </p:spPr>
      </p:sp>
      <p:sp>
        <p:nvSpPr>
          <p:cNvPr id="10" name="Shape 7"/>
          <p:cNvSpPr/>
          <p:nvPr/>
        </p:nvSpPr>
        <p:spPr>
          <a:xfrm>
            <a:off x="10707624" y="1527048"/>
            <a:ext cx="475488" cy="475488"/>
          </a:xfrm>
          <a:prstGeom prst="roundRect">
            <a:avLst>
              <a:gd name="adj" fmla="val 11538"/>
            </a:avLst>
          </a:prstGeom>
          <a:solidFill>
            <a:srgbClr val="0C1A30"/>
          </a:solidFill>
          <a:ln w="12700">
            <a:solidFill>
              <a:srgbClr val="22375F"/>
            </a:solidFill>
            <a:prstDash val="solid"/>
          </a:ln>
        </p:spPr>
      </p:sp>
      <p:sp>
        <p:nvSpPr>
          <p:cNvPr id="11" name="Shape 8"/>
          <p:cNvSpPr/>
          <p:nvPr/>
        </p:nvSpPr>
        <p:spPr>
          <a:xfrm>
            <a:off x="8732520" y="2185416"/>
            <a:ext cx="475488" cy="475488"/>
          </a:xfrm>
          <a:prstGeom prst="roundRect">
            <a:avLst>
              <a:gd name="adj" fmla="val 11538"/>
            </a:avLst>
          </a:prstGeom>
          <a:solidFill>
            <a:srgbClr val="0C1A30"/>
          </a:solidFill>
          <a:ln w="12700">
            <a:solidFill>
              <a:srgbClr val="22375F"/>
            </a:solidFill>
            <a:prstDash val="solid"/>
          </a:ln>
        </p:spPr>
      </p:sp>
      <p:sp>
        <p:nvSpPr>
          <p:cNvPr id="12" name="Shape 9"/>
          <p:cNvSpPr/>
          <p:nvPr/>
        </p:nvSpPr>
        <p:spPr>
          <a:xfrm>
            <a:off x="9390888" y="2185416"/>
            <a:ext cx="475488" cy="475488"/>
          </a:xfrm>
          <a:prstGeom prst="roundRect">
            <a:avLst>
              <a:gd name="adj" fmla="val 11538"/>
            </a:avLst>
          </a:prstGeom>
          <a:solidFill>
            <a:srgbClr val="1E3560"/>
          </a:solidFill>
          <a:ln w="12700">
            <a:solidFill>
              <a:srgbClr val="4F8EF7"/>
            </a:solidFill>
            <a:prstDash val="solid"/>
          </a:ln>
        </p:spPr>
      </p:sp>
      <p:sp>
        <p:nvSpPr>
          <p:cNvPr id="13" name="Shape 10"/>
          <p:cNvSpPr/>
          <p:nvPr/>
        </p:nvSpPr>
        <p:spPr>
          <a:xfrm>
            <a:off x="10049256" y="2185416"/>
            <a:ext cx="475488" cy="475488"/>
          </a:xfrm>
          <a:prstGeom prst="roundRect">
            <a:avLst>
              <a:gd name="adj" fmla="val 11538"/>
            </a:avLst>
          </a:prstGeom>
          <a:solidFill>
            <a:srgbClr val="0C1A30"/>
          </a:solidFill>
          <a:ln w="12700">
            <a:solidFill>
              <a:srgbClr val="22375F"/>
            </a:solidFill>
            <a:prstDash val="solid"/>
          </a:ln>
        </p:spPr>
      </p:sp>
      <p:sp>
        <p:nvSpPr>
          <p:cNvPr id="14" name="Shape 11"/>
          <p:cNvSpPr/>
          <p:nvPr/>
        </p:nvSpPr>
        <p:spPr>
          <a:xfrm>
            <a:off x="10707624" y="2185416"/>
            <a:ext cx="475488" cy="475488"/>
          </a:xfrm>
          <a:prstGeom prst="roundRect">
            <a:avLst>
              <a:gd name="adj" fmla="val 11538"/>
            </a:avLst>
          </a:prstGeom>
          <a:solidFill>
            <a:srgbClr val="0C1A30"/>
          </a:solidFill>
          <a:ln w="12700">
            <a:solidFill>
              <a:srgbClr val="22375F"/>
            </a:solidFill>
            <a:prstDash val="solid"/>
          </a:ln>
        </p:spPr>
      </p:sp>
      <p:sp>
        <p:nvSpPr>
          <p:cNvPr id="15" name="Shape 12"/>
          <p:cNvSpPr/>
          <p:nvPr/>
        </p:nvSpPr>
        <p:spPr>
          <a:xfrm>
            <a:off x="8732520" y="2843784"/>
            <a:ext cx="475488" cy="475488"/>
          </a:xfrm>
          <a:prstGeom prst="roundRect">
            <a:avLst>
              <a:gd name="adj" fmla="val 11538"/>
            </a:avLst>
          </a:prstGeom>
          <a:solidFill>
            <a:srgbClr val="1E3560"/>
          </a:solidFill>
          <a:ln w="12700">
            <a:solidFill>
              <a:srgbClr val="4F8EF7"/>
            </a:solidFill>
            <a:prstDash val="solid"/>
          </a:ln>
        </p:spPr>
      </p:sp>
      <p:sp>
        <p:nvSpPr>
          <p:cNvPr id="16" name="Shape 13"/>
          <p:cNvSpPr/>
          <p:nvPr/>
        </p:nvSpPr>
        <p:spPr>
          <a:xfrm>
            <a:off x="9390888" y="2843784"/>
            <a:ext cx="475488" cy="475488"/>
          </a:xfrm>
          <a:prstGeom prst="roundRect">
            <a:avLst>
              <a:gd name="adj" fmla="val 11538"/>
            </a:avLst>
          </a:prstGeom>
          <a:solidFill>
            <a:srgbClr val="0C1A30"/>
          </a:solidFill>
          <a:ln w="12700">
            <a:solidFill>
              <a:srgbClr val="22375F"/>
            </a:solidFill>
            <a:prstDash val="solid"/>
          </a:ln>
        </p:spPr>
      </p:sp>
      <p:sp>
        <p:nvSpPr>
          <p:cNvPr id="17" name="Shape 14"/>
          <p:cNvSpPr/>
          <p:nvPr/>
        </p:nvSpPr>
        <p:spPr>
          <a:xfrm>
            <a:off x="10049256" y="2843784"/>
            <a:ext cx="475488" cy="475488"/>
          </a:xfrm>
          <a:prstGeom prst="roundRect">
            <a:avLst>
              <a:gd name="adj" fmla="val 11538"/>
            </a:avLst>
          </a:prstGeom>
          <a:solidFill>
            <a:srgbClr val="0C1A30"/>
          </a:solidFill>
          <a:ln w="12700">
            <a:solidFill>
              <a:srgbClr val="22375F"/>
            </a:solidFill>
            <a:prstDash val="solid"/>
          </a:ln>
        </p:spPr>
      </p:sp>
      <p:sp>
        <p:nvSpPr>
          <p:cNvPr id="18" name="Shape 15"/>
          <p:cNvSpPr/>
          <p:nvPr/>
        </p:nvSpPr>
        <p:spPr>
          <a:xfrm>
            <a:off x="10707624" y="2843784"/>
            <a:ext cx="475488" cy="475488"/>
          </a:xfrm>
          <a:prstGeom prst="roundRect">
            <a:avLst>
              <a:gd name="adj" fmla="val 11538"/>
            </a:avLst>
          </a:prstGeom>
          <a:solidFill>
            <a:srgbClr val="1E3560"/>
          </a:solidFill>
          <a:ln w="12700">
            <a:solidFill>
              <a:srgbClr val="4F8EF7"/>
            </a:solidFill>
            <a:prstDash val="solid"/>
          </a:ln>
        </p:spPr>
      </p:sp>
      <p:sp>
        <p:nvSpPr>
          <p:cNvPr id="19" name="Text 16"/>
          <p:cNvSpPr txBox="1"/>
          <p:nvPr/>
        </p:nvSpPr>
        <p:spPr>
          <a:xfrm>
            <a:off x="777240" y="1417320"/>
            <a:ext cx="7680960" cy="274320"/>
          </a:xfrm>
          <a:prstGeom prst="rect">
            <a:avLst/>
          </a:prstGeom>
          <a:noFill/>
          <a:ln/>
        </p:spPr>
        <p:txBody>
          <a:bodyPr wrap="square" lIns="0" tIns="0" rIns="0" bIns="0" rtlCol="0" anchor="ctr"/>
          <a:lstStyle/>
          <a:p>
            <a:pPr indent="0" marL="0">
              <a:buNone/>
            </a:pPr>
            <a:r>
              <a:rPr lang="en-US" sz="1200" b="1" spc="200" kern="0" dirty="0">
                <a:solidFill>
                  <a:srgbClr val="4F8EF7"/>
                </a:solidFill>
                <a:latin typeface="Calibri" pitchFamily="34" charset="0"/>
                <a:ea typeface="Calibri" pitchFamily="34" charset="-122"/>
                <a:cs typeface="Calibri" pitchFamily="34" charset="-120"/>
              </a:rPr>
              <a:t>OPERATING SYSTEMS (LAB)  •  MINI-PROJECT REVIEW 2</a:t>
            </a:r>
            <a:endParaRPr lang="en-US" sz="1200" dirty="0"/>
          </a:p>
        </p:txBody>
      </p:sp>
      <p:sp>
        <p:nvSpPr>
          <p:cNvPr id="20" name="Text 17"/>
          <p:cNvSpPr txBox="1"/>
          <p:nvPr/>
        </p:nvSpPr>
        <p:spPr>
          <a:xfrm>
            <a:off x="777240" y="1783080"/>
            <a:ext cx="7680960" cy="1600200"/>
          </a:xfrm>
          <a:prstGeom prst="rect">
            <a:avLst/>
          </a:prstGeom>
          <a:noFill/>
          <a:ln/>
        </p:spPr>
        <p:txBody>
          <a:bodyPr wrap="square" lIns="0" tIns="0" rIns="0" bIns="0" rtlCol="0" anchor="ctr"/>
          <a:lstStyle/>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File Operation</a:t>
            </a:r>
            <a:endParaRPr lang="en-US" sz="4600" dirty="0"/>
          </a:p>
          <a:p>
            <a:pPr indent="0" marL="0">
              <a:lnSpc>
                <a:spcPts val="5200"/>
              </a:lnSpc>
              <a:buNone/>
            </a:pPr>
            <a:r>
              <a:rPr lang="en-US" sz="4600" b="1" dirty="0">
                <a:solidFill>
                  <a:srgbClr val="FFFFFF"/>
                </a:solidFill>
                <a:latin typeface="Cambria" pitchFamily="34" charset="0"/>
                <a:ea typeface="Cambria" pitchFamily="34" charset="-122"/>
                <a:cs typeface="Cambria" pitchFamily="34" charset="-120"/>
              </a:rPr>
              <a:t>Failure Diagnoser</a:t>
            </a:r>
            <a:endParaRPr lang="en-US" sz="4600" dirty="0"/>
          </a:p>
        </p:txBody>
      </p:sp>
      <p:sp>
        <p:nvSpPr>
          <p:cNvPr id="21" name="Text 18"/>
          <p:cNvSpPr txBox="1"/>
          <p:nvPr/>
        </p:nvSpPr>
        <p:spPr>
          <a:xfrm>
            <a:off x="777240" y="3474720"/>
            <a:ext cx="7680960" cy="658368"/>
          </a:xfrm>
          <a:prstGeom prst="rect">
            <a:avLst/>
          </a:prstGeom>
          <a:noFill/>
          <a:ln/>
        </p:spPr>
        <p:txBody>
          <a:bodyPr wrap="square" lIns="0" tIns="0" rIns="0" bIns="0" rtlCol="0" anchor="ctr"/>
          <a:lstStyle/>
          <a:p>
            <a:pPr indent="0" marL="0">
              <a:lnSpc>
                <a:spcPts val="2200"/>
              </a:lnSpc>
              <a:buNone/>
            </a:pPr>
            <a:r>
              <a:rPr lang="en-US" sz="1450" dirty="0">
                <a:solidFill>
                  <a:srgbClr val="A9BCDB"/>
                </a:solidFill>
                <a:latin typeface="Calibri" pitchFamily="34" charset="0"/>
                <a:ea typeface="Calibri" pitchFamily="34" charset="-122"/>
                <a:cs typeface="Calibri" pitchFamily="34" charset="-120"/>
              </a:rPr>
              <a:t>A desktop diagnostic utility that turns a generic file-operation error into an</a:t>
            </a:r>
            <a:endParaRPr lang="en-US" sz="1450" dirty="0"/>
          </a:p>
          <a:p>
            <a:pPr indent="0" marL="0">
              <a:lnSpc>
                <a:spcPts val="2200"/>
              </a:lnSpc>
              <a:buNone/>
            </a:pPr>
            <a:r>
              <a:rPr lang="en-US" sz="1450" dirty="0">
                <a:solidFill>
                  <a:srgbClr val="A9BCDB"/>
                </a:solidFill>
                <a:latin typeface="Calibri" pitchFamily="34" charset="0"/>
                <a:ea typeface="Calibri" pitchFamily="34" charset="-122"/>
                <a:cs typeface="Calibri" pitchFamily="34" charset="-120"/>
              </a:rPr>
              <a:t>understandable diagnosis supported by OS-level evidence.</a:t>
            </a:r>
            <a:endParaRPr lang="en-US" sz="1450" dirty="0"/>
          </a:p>
        </p:txBody>
      </p:sp>
      <p:sp>
        <p:nvSpPr>
          <p:cNvPr id="22" name="Text 19"/>
          <p:cNvSpPr txBox="1"/>
          <p:nvPr/>
        </p:nvSpPr>
        <p:spPr>
          <a:xfrm>
            <a:off x="777240" y="4572000"/>
            <a:ext cx="2468880"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Yash Pradhan</a:t>
            </a:r>
            <a:endParaRPr lang="en-US" sz="1400" dirty="0"/>
          </a:p>
        </p:txBody>
      </p:sp>
      <p:sp>
        <p:nvSpPr>
          <p:cNvPr id="23" name="Text 20"/>
          <p:cNvSpPr txBox="1"/>
          <p:nvPr/>
        </p:nvSpPr>
        <p:spPr>
          <a:xfrm>
            <a:off x="777240" y="4846320"/>
            <a:ext cx="2468880" cy="237744"/>
          </a:xfrm>
          <a:prstGeom prst="rect">
            <a:avLst/>
          </a:prstGeom>
          <a:noFill/>
          <a:ln/>
        </p:spPr>
        <p:txBody>
          <a:bodyPr wrap="square" lIns="0" tIns="0" rIns="0" bIns="0" rtlCol="0" anchor="ctr"/>
          <a:lstStyle/>
          <a:p>
            <a:pPr indent="0" marL="0">
              <a:buNone/>
            </a:pPr>
            <a:r>
              <a:rPr lang="en-US" sz="1150" dirty="0">
                <a:solidFill>
                  <a:srgbClr val="4F8EF7"/>
                </a:solidFill>
                <a:latin typeface="Courier New" pitchFamily="34" charset="0"/>
                <a:ea typeface="Courier New" pitchFamily="34" charset="-122"/>
                <a:cs typeface="Courier New" pitchFamily="34" charset="-120"/>
              </a:rPr>
              <a:t>24BCE0702</a:t>
            </a:r>
            <a:endParaRPr lang="en-US" sz="1150" dirty="0"/>
          </a:p>
        </p:txBody>
      </p:sp>
      <p:sp>
        <p:nvSpPr>
          <p:cNvPr id="24" name="Text 21"/>
          <p:cNvSpPr txBox="1"/>
          <p:nvPr/>
        </p:nvSpPr>
        <p:spPr>
          <a:xfrm>
            <a:off x="3474720" y="4572000"/>
            <a:ext cx="2468880"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Anjini Pandey</a:t>
            </a:r>
            <a:endParaRPr lang="en-US" sz="1400" dirty="0"/>
          </a:p>
        </p:txBody>
      </p:sp>
      <p:sp>
        <p:nvSpPr>
          <p:cNvPr id="25" name="Text 22"/>
          <p:cNvSpPr txBox="1"/>
          <p:nvPr/>
        </p:nvSpPr>
        <p:spPr>
          <a:xfrm>
            <a:off x="3474720" y="4846320"/>
            <a:ext cx="2468880" cy="237744"/>
          </a:xfrm>
          <a:prstGeom prst="rect">
            <a:avLst/>
          </a:prstGeom>
          <a:noFill/>
          <a:ln/>
        </p:spPr>
        <p:txBody>
          <a:bodyPr wrap="square" lIns="0" tIns="0" rIns="0" bIns="0" rtlCol="0" anchor="ctr"/>
          <a:lstStyle/>
          <a:p>
            <a:pPr indent="0" marL="0">
              <a:buNone/>
            </a:pPr>
            <a:r>
              <a:rPr lang="en-US" sz="1150" dirty="0">
                <a:solidFill>
                  <a:srgbClr val="4F8EF7"/>
                </a:solidFill>
                <a:latin typeface="Courier New" pitchFamily="34" charset="0"/>
                <a:ea typeface="Courier New" pitchFamily="34" charset="-122"/>
                <a:cs typeface="Courier New" pitchFamily="34" charset="-120"/>
              </a:rPr>
              <a:t>24BCE0714</a:t>
            </a:r>
            <a:endParaRPr lang="en-US" sz="1150" dirty="0"/>
          </a:p>
        </p:txBody>
      </p:sp>
      <p:sp>
        <p:nvSpPr>
          <p:cNvPr id="26" name="Text 23"/>
          <p:cNvSpPr txBox="1"/>
          <p:nvPr/>
        </p:nvSpPr>
        <p:spPr>
          <a:xfrm>
            <a:off x="6172200" y="4572000"/>
            <a:ext cx="2468880" cy="256032"/>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Dhruv Kothari</a:t>
            </a:r>
            <a:endParaRPr lang="en-US" sz="1400" dirty="0"/>
          </a:p>
        </p:txBody>
      </p:sp>
      <p:sp>
        <p:nvSpPr>
          <p:cNvPr id="27" name="Text 24"/>
          <p:cNvSpPr txBox="1"/>
          <p:nvPr/>
        </p:nvSpPr>
        <p:spPr>
          <a:xfrm>
            <a:off x="6172200" y="4846320"/>
            <a:ext cx="2468880" cy="237744"/>
          </a:xfrm>
          <a:prstGeom prst="rect">
            <a:avLst/>
          </a:prstGeom>
          <a:noFill/>
          <a:ln/>
        </p:spPr>
        <p:txBody>
          <a:bodyPr wrap="square" lIns="0" tIns="0" rIns="0" bIns="0" rtlCol="0" anchor="ctr"/>
          <a:lstStyle/>
          <a:p>
            <a:pPr indent="0" marL="0">
              <a:buNone/>
            </a:pPr>
            <a:r>
              <a:rPr lang="en-US" sz="1150" dirty="0">
                <a:solidFill>
                  <a:srgbClr val="4F8EF7"/>
                </a:solidFill>
                <a:latin typeface="Courier New" pitchFamily="34" charset="0"/>
                <a:ea typeface="Courier New" pitchFamily="34" charset="-122"/>
                <a:cs typeface="Courier New" pitchFamily="34" charset="-120"/>
              </a:rPr>
              <a:t>24BCE0570</a:t>
            </a:r>
            <a:endParaRPr lang="en-US" sz="1150" dirty="0"/>
          </a:p>
        </p:txBody>
      </p:sp>
      <p:sp>
        <p:nvSpPr>
          <p:cNvPr id="28" name="Text 25"/>
          <p:cNvSpPr txBox="1"/>
          <p:nvPr/>
        </p:nvSpPr>
        <p:spPr>
          <a:xfrm>
            <a:off x="777240" y="5806440"/>
            <a:ext cx="10607040" cy="274320"/>
          </a:xfrm>
          <a:prstGeom prst="rect">
            <a:avLst/>
          </a:prstGeom>
          <a:noFill/>
          <a:ln/>
        </p:spPr>
        <p:txBody>
          <a:bodyPr wrap="square" lIns="0" tIns="0" rIns="0" bIns="0" rtlCol="0" anchor="ctr"/>
          <a:lstStyle/>
          <a:p>
            <a:pPr indent="0" marL="0">
              <a:buNone/>
            </a:pPr>
            <a:r>
              <a:rPr lang="en-US" sz="1100" dirty="0">
                <a:solidFill>
                  <a:srgbClr val="6E86AE"/>
                </a:solidFill>
                <a:latin typeface="Calibri" pitchFamily="34" charset="0"/>
                <a:ea typeface="Calibri" pitchFamily="34" charset="-122"/>
                <a:cs typeface="Calibri" pitchFamily="34" charset="-120"/>
              </a:rPr>
              <a:t>Mini-Project Review 2  /  Lab Assessment 6      •      Proposed Methodology + Coding (60%)      •      Maximum Marks: 10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1A30"/>
        </a:solidFill>
      </p:bgPr>
    </p:bg>
    <p:spTree>
      <p:nvGrpSpPr>
        <p:cNvPr id="1" name=""/>
        <p:cNvGrpSpPr/>
        <p:nvPr/>
      </p:nvGrpSpPr>
      <p:grpSpPr>
        <a:xfrm>
          <a:off x="0" y="0"/>
          <a:ext cx="0" cy="0"/>
          <a:chOff x="0" y="0"/>
          <a:chExt cx="0" cy="0"/>
        </a:xfrm>
      </p:grpSpPr>
      <p:sp>
        <p:nvSpPr>
          <p:cNvPr id="3" name="Text 0"/>
          <p:cNvSpPr txBox="1"/>
          <p:nvPr/>
        </p:nvSpPr>
        <p:spPr>
          <a:xfrm>
            <a:off x="502920" y="292608"/>
            <a:ext cx="10058400" cy="237744"/>
          </a:xfrm>
          <a:prstGeom prst="rect">
            <a:avLst/>
          </a:prstGeom>
          <a:noFill/>
          <a:ln/>
        </p:spPr>
        <p:txBody>
          <a:bodyPr wrap="square" lIns="0" tIns="0" rIns="0" bIns="0" rtlCol="0" anchor="ctr"/>
          <a:lstStyle/>
          <a:p>
            <a:pPr indent="0" marL="0">
              <a:buNone/>
            </a:pPr>
            <a:r>
              <a:rPr lang="en-US" sz="1100" b="1" spc="200" kern="0" dirty="0">
                <a:solidFill>
                  <a:srgbClr val="4F8EF7"/>
                </a:solidFill>
                <a:latin typeface="Calibri" pitchFamily="34" charset="0"/>
                <a:ea typeface="Calibri" pitchFamily="34" charset="-122"/>
                <a:cs typeface="Calibri" pitchFamily="34" charset="-120"/>
              </a:rPr>
              <a:t>SLIDE 2</a:t>
            </a:r>
            <a:endParaRPr lang="en-US" sz="1100" dirty="0"/>
          </a:p>
        </p:txBody>
      </p:sp>
      <p:sp>
        <p:nvSpPr>
          <p:cNvPr id="4"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Problem Statement</a:t>
            </a:r>
            <a:endParaRPr lang="en-US" sz="3000" dirty="0"/>
          </a:p>
        </p:txBody>
      </p:sp>
      <p:sp>
        <p:nvSpPr>
          <p:cNvPr id="5" name="Shape 2"/>
          <p:cNvSpPr/>
          <p:nvPr/>
        </p:nvSpPr>
        <p:spPr>
          <a:xfrm>
            <a:off x="502920" y="1325880"/>
            <a:ext cx="4663440" cy="2788920"/>
          </a:xfrm>
          <a:prstGeom prst="roundRect">
            <a:avLst>
              <a:gd name="adj" fmla="val 2623"/>
            </a:avLst>
          </a:prstGeom>
          <a:solidFill>
            <a:srgbClr val="16294A"/>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6" name="Text 3"/>
          <p:cNvSpPr txBox="1"/>
          <p:nvPr/>
        </p:nvSpPr>
        <p:spPr>
          <a:xfrm>
            <a:off x="731520" y="1508760"/>
            <a:ext cx="4206240" cy="237744"/>
          </a:xfrm>
          <a:prstGeom prst="rect">
            <a:avLst/>
          </a:prstGeom>
          <a:noFill/>
          <a:ln/>
        </p:spPr>
        <p:txBody>
          <a:bodyPr wrap="square" lIns="0" tIns="0" rIns="0" bIns="0" rtlCol="0" anchor="ctr"/>
          <a:lstStyle/>
          <a:p>
            <a:pPr algn="l" indent="0" marL="0">
              <a:buNone/>
            </a:pPr>
            <a:r>
              <a:rPr lang="en-US" sz="1050" b="1" dirty="0">
                <a:solidFill>
                  <a:srgbClr val="6E86AE"/>
                </a:solidFill>
                <a:latin typeface="Calibri" pitchFamily="34" charset="0"/>
                <a:ea typeface="Calibri" pitchFamily="34" charset="-122"/>
                <a:cs typeface="Calibri" pitchFamily="34" charset="-120"/>
              </a:rPr>
              <a:t>WHAT THE USER SEES</a:t>
            </a:r>
            <a:endParaRPr lang="en-US" sz="1050" dirty="0"/>
          </a:p>
        </p:txBody>
      </p:sp>
      <p:sp>
        <p:nvSpPr>
          <p:cNvPr id="7" name="Shape 4"/>
          <p:cNvSpPr/>
          <p:nvPr/>
        </p:nvSpPr>
        <p:spPr>
          <a:xfrm>
            <a:off x="731520" y="1874520"/>
            <a:ext cx="4206240" cy="512064"/>
          </a:xfrm>
          <a:prstGeom prst="roundRect">
            <a:avLst>
              <a:gd name="adj" fmla="val 14286"/>
            </a:avLst>
          </a:prstGeom>
          <a:solidFill>
            <a:srgbClr val="0C1A30"/>
          </a:solidFill>
          <a:ln w="12700">
            <a:solidFill>
              <a:srgbClr val="3A4F7A"/>
            </a:solidFill>
            <a:prstDash val="solid"/>
          </a:ln>
        </p:spPr>
      </p:sp>
      <p:sp>
        <p:nvSpPr>
          <p:cNvPr id="8" name="Shape 5"/>
          <p:cNvSpPr/>
          <p:nvPr/>
        </p:nvSpPr>
        <p:spPr>
          <a:xfrm>
            <a:off x="914400" y="2020824"/>
            <a:ext cx="219456" cy="219456"/>
          </a:xfrm>
          <a:prstGeom prst="ellipse">
            <a:avLst/>
          </a:prstGeom>
          <a:solidFill>
            <a:srgbClr val="C0392B"/>
          </a:solidFill>
          <a:ln w="12700">
            <a:solidFill>
              <a:srgbClr val="333333"/>
            </a:solidFill>
            <a:prstDash val="solid"/>
          </a:ln>
        </p:spPr>
      </p:sp>
      <p:sp>
        <p:nvSpPr>
          <p:cNvPr id="9" name="Text 6"/>
          <p:cNvSpPr txBox="1"/>
          <p:nvPr/>
        </p:nvSpPr>
        <p:spPr>
          <a:xfrm>
            <a:off x="914400" y="2020824"/>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 name="Text 7"/>
          <p:cNvSpPr txBox="1"/>
          <p:nvPr/>
        </p:nvSpPr>
        <p:spPr>
          <a:xfrm>
            <a:off x="1252728" y="1874520"/>
            <a:ext cx="3566160" cy="512064"/>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Access is denied</a:t>
            </a:r>
            <a:endParaRPr lang="en-US" sz="1250" dirty="0"/>
          </a:p>
        </p:txBody>
      </p:sp>
      <p:sp>
        <p:nvSpPr>
          <p:cNvPr id="11" name="Shape 8"/>
          <p:cNvSpPr/>
          <p:nvPr/>
        </p:nvSpPr>
        <p:spPr>
          <a:xfrm>
            <a:off x="731520" y="2532888"/>
            <a:ext cx="4206240" cy="512064"/>
          </a:xfrm>
          <a:prstGeom prst="roundRect">
            <a:avLst>
              <a:gd name="adj" fmla="val 14286"/>
            </a:avLst>
          </a:prstGeom>
          <a:solidFill>
            <a:srgbClr val="0C1A30"/>
          </a:solidFill>
          <a:ln w="12700">
            <a:solidFill>
              <a:srgbClr val="3A4F7A"/>
            </a:solidFill>
            <a:prstDash val="solid"/>
          </a:ln>
        </p:spPr>
      </p:sp>
      <p:sp>
        <p:nvSpPr>
          <p:cNvPr id="12" name="Shape 9"/>
          <p:cNvSpPr/>
          <p:nvPr/>
        </p:nvSpPr>
        <p:spPr>
          <a:xfrm>
            <a:off x="914400" y="2679192"/>
            <a:ext cx="219456" cy="219456"/>
          </a:xfrm>
          <a:prstGeom prst="ellipse">
            <a:avLst/>
          </a:prstGeom>
          <a:solidFill>
            <a:srgbClr val="C0392B"/>
          </a:solidFill>
          <a:ln w="12700">
            <a:solidFill>
              <a:srgbClr val="333333"/>
            </a:solidFill>
            <a:prstDash val="solid"/>
          </a:ln>
        </p:spPr>
      </p:sp>
      <p:sp>
        <p:nvSpPr>
          <p:cNvPr id="13" name="Text 10"/>
          <p:cNvSpPr txBox="1"/>
          <p:nvPr/>
        </p:nvSpPr>
        <p:spPr>
          <a:xfrm>
            <a:off x="914400" y="2679192"/>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4" name="Text 11"/>
          <p:cNvSpPr txBox="1"/>
          <p:nvPr/>
        </p:nvSpPr>
        <p:spPr>
          <a:xfrm>
            <a:off x="1252728" y="2532888"/>
            <a:ext cx="3566160" cy="512064"/>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The file is in use</a:t>
            </a:r>
            <a:endParaRPr lang="en-US" sz="1250" dirty="0"/>
          </a:p>
        </p:txBody>
      </p:sp>
      <p:sp>
        <p:nvSpPr>
          <p:cNvPr id="15" name="Shape 12"/>
          <p:cNvSpPr/>
          <p:nvPr/>
        </p:nvSpPr>
        <p:spPr>
          <a:xfrm>
            <a:off x="731520" y="3191256"/>
            <a:ext cx="4206240" cy="512064"/>
          </a:xfrm>
          <a:prstGeom prst="roundRect">
            <a:avLst>
              <a:gd name="adj" fmla="val 14286"/>
            </a:avLst>
          </a:prstGeom>
          <a:solidFill>
            <a:srgbClr val="0C1A30"/>
          </a:solidFill>
          <a:ln w="12700">
            <a:solidFill>
              <a:srgbClr val="3A4F7A"/>
            </a:solidFill>
            <a:prstDash val="solid"/>
          </a:ln>
        </p:spPr>
      </p:sp>
      <p:sp>
        <p:nvSpPr>
          <p:cNvPr id="16" name="Shape 13"/>
          <p:cNvSpPr/>
          <p:nvPr/>
        </p:nvSpPr>
        <p:spPr>
          <a:xfrm>
            <a:off x="914400" y="3337560"/>
            <a:ext cx="219456" cy="219456"/>
          </a:xfrm>
          <a:prstGeom prst="ellipse">
            <a:avLst/>
          </a:prstGeom>
          <a:solidFill>
            <a:srgbClr val="C0392B"/>
          </a:solidFill>
          <a:ln w="12700">
            <a:solidFill>
              <a:srgbClr val="333333"/>
            </a:solidFill>
            <a:prstDash val="solid"/>
          </a:ln>
        </p:spPr>
      </p:sp>
      <p:sp>
        <p:nvSpPr>
          <p:cNvPr id="17" name="Text 14"/>
          <p:cNvSpPr txBox="1"/>
          <p:nvPr/>
        </p:nvSpPr>
        <p:spPr>
          <a:xfrm>
            <a:off x="914400" y="3337560"/>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5"/>
          <p:cNvSpPr txBox="1"/>
          <p:nvPr/>
        </p:nvSpPr>
        <p:spPr>
          <a:xfrm>
            <a:off x="1252728" y="3191256"/>
            <a:ext cx="3566160" cy="512064"/>
          </a:xfrm>
          <a:prstGeom prst="rect">
            <a:avLst/>
          </a:prstGeom>
          <a:noFill/>
          <a:ln/>
        </p:spPr>
        <p:txBody>
          <a:bodyPr wrap="square" lIns="0" tIns="0" rIns="0" bIns="0" rtlCol="0" anchor="ctr"/>
          <a:lstStyle/>
          <a:p>
            <a:pPr indent="0" marL="0">
              <a:buNone/>
            </a:pPr>
            <a:r>
              <a:rPr lang="en-US" sz="1250" dirty="0">
                <a:solidFill>
                  <a:srgbClr val="FFFFFF"/>
                </a:solidFill>
                <a:latin typeface="Courier New" pitchFamily="34" charset="0"/>
                <a:ea typeface="Courier New" pitchFamily="34" charset="-122"/>
                <a:cs typeface="Courier New" pitchFamily="34" charset="-120"/>
              </a:rPr>
              <a:t>Cannot modify this file</a:t>
            </a:r>
            <a:endParaRPr lang="en-US" sz="1250" dirty="0"/>
          </a:p>
        </p:txBody>
      </p:sp>
      <p:sp>
        <p:nvSpPr>
          <p:cNvPr id="19" name="Text 16"/>
          <p:cNvSpPr txBox="1"/>
          <p:nvPr/>
        </p:nvSpPr>
        <p:spPr>
          <a:xfrm>
            <a:off x="731520" y="3703320"/>
            <a:ext cx="4206240" cy="274320"/>
          </a:xfrm>
          <a:prstGeom prst="rect">
            <a:avLst/>
          </a:prstGeom>
          <a:noFill/>
          <a:ln/>
        </p:spPr>
        <p:txBody>
          <a:bodyPr wrap="square" lIns="0" tIns="0" rIns="0" bIns="0" rtlCol="0" anchor="ctr"/>
          <a:lstStyle/>
          <a:p>
            <a:pPr indent="0" marL="0">
              <a:buNone/>
            </a:pPr>
            <a:r>
              <a:rPr lang="en-US" sz="1100" i="1" dirty="0">
                <a:solidFill>
                  <a:srgbClr val="A9BCDB"/>
                </a:solidFill>
                <a:latin typeface="Calibri" pitchFamily="34" charset="0"/>
                <a:ea typeface="Calibri" pitchFamily="34" charset="-122"/>
                <a:cs typeface="Calibri" pitchFamily="34" charset="-120"/>
              </a:rPr>
              <a:t>The message reports the failure — not the cause.</a:t>
            </a:r>
            <a:endParaRPr lang="en-US" sz="1100" dirty="0"/>
          </a:p>
        </p:txBody>
      </p:sp>
      <p:sp>
        <p:nvSpPr>
          <p:cNvPr id="20" name="Shape 17"/>
          <p:cNvSpPr/>
          <p:nvPr/>
        </p:nvSpPr>
        <p:spPr>
          <a:xfrm>
            <a:off x="5349240" y="2651760"/>
            <a:ext cx="566928" cy="128016"/>
          </a:xfrm>
          <a:prstGeom prst="rightArrow">
            <a:avLst/>
          </a:prstGeom>
          <a:solidFill>
            <a:srgbClr val="4F8EF7"/>
          </a:solidFill>
          <a:ln w="12700">
            <a:solidFill>
              <a:srgbClr val="4F8EF7"/>
            </a:solidFill>
            <a:prstDash val="solid"/>
          </a:ln>
        </p:spPr>
      </p:sp>
      <p:sp>
        <p:nvSpPr>
          <p:cNvPr id="21" name="Shape 18"/>
          <p:cNvSpPr/>
          <p:nvPr/>
        </p:nvSpPr>
        <p:spPr>
          <a:xfrm>
            <a:off x="6053328" y="1325880"/>
            <a:ext cx="5632704" cy="2788920"/>
          </a:xfrm>
          <a:prstGeom prst="roundRect">
            <a:avLst>
              <a:gd name="adj" fmla="val 2623"/>
            </a:avLst>
          </a:prstGeom>
          <a:solidFill>
            <a:srgbClr val="1E3560"/>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22" name="Text 19"/>
          <p:cNvSpPr txBox="1"/>
          <p:nvPr/>
        </p:nvSpPr>
        <p:spPr>
          <a:xfrm>
            <a:off x="6281928" y="1508760"/>
            <a:ext cx="5175504" cy="237744"/>
          </a:xfrm>
          <a:prstGeom prst="rect">
            <a:avLst/>
          </a:prstGeom>
          <a:noFill/>
          <a:ln/>
        </p:spPr>
        <p:txBody>
          <a:bodyPr wrap="square" lIns="0" tIns="0" rIns="0" bIns="0" rtlCol="0" anchor="ctr"/>
          <a:lstStyle/>
          <a:p>
            <a:pPr algn="l" indent="0" marL="0">
              <a:buNone/>
            </a:pPr>
            <a:r>
              <a:rPr lang="en-US" sz="1050" b="1" dirty="0">
                <a:solidFill>
                  <a:srgbClr val="A9BCDB"/>
                </a:solidFill>
                <a:latin typeface="Calibri" pitchFamily="34" charset="0"/>
                <a:ea typeface="Calibri" pitchFamily="34" charset="-122"/>
                <a:cs typeface="Calibri" pitchFamily="34" charset="-120"/>
              </a:rPr>
              <a:t>POSSIBLE UNDERLYING CAUSES</a:t>
            </a:r>
            <a:endParaRPr lang="en-US" sz="1050" dirty="0"/>
          </a:p>
        </p:txBody>
      </p:sp>
      <p:sp>
        <p:nvSpPr>
          <p:cNvPr id="23" name="Shape 20"/>
          <p:cNvSpPr/>
          <p:nvPr/>
        </p:nvSpPr>
        <p:spPr>
          <a:xfrm>
            <a:off x="6309360" y="2020824"/>
            <a:ext cx="137160" cy="137160"/>
          </a:xfrm>
          <a:prstGeom prst="ellipse">
            <a:avLst/>
          </a:prstGeom>
          <a:solidFill>
            <a:srgbClr val="4F8EF7"/>
          </a:solidFill>
          <a:ln w="12700">
            <a:solidFill>
              <a:srgbClr val="333333"/>
            </a:solidFill>
            <a:prstDash val="solid"/>
          </a:ln>
        </p:spPr>
      </p:sp>
      <p:sp>
        <p:nvSpPr>
          <p:cNvPr id="24" name="Text 21"/>
          <p:cNvSpPr txBox="1"/>
          <p:nvPr/>
        </p:nvSpPr>
        <p:spPr>
          <a:xfrm>
            <a:off x="6601968" y="1874520"/>
            <a:ext cx="4846320" cy="42062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Another process is holding the file</a:t>
            </a:r>
            <a:endParaRPr lang="en-US" sz="1350" dirty="0"/>
          </a:p>
        </p:txBody>
      </p:sp>
      <p:sp>
        <p:nvSpPr>
          <p:cNvPr id="25" name="Shape 22"/>
          <p:cNvSpPr/>
          <p:nvPr/>
        </p:nvSpPr>
        <p:spPr>
          <a:xfrm>
            <a:off x="6309360" y="2551176"/>
            <a:ext cx="137160" cy="137160"/>
          </a:xfrm>
          <a:prstGeom prst="ellipse">
            <a:avLst/>
          </a:prstGeom>
          <a:solidFill>
            <a:srgbClr val="4F8EF7"/>
          </a:solidFill>
          <a:ln w="12700">
            <a:solidFill>
              <a:srgbClr val="333333"/>
            </a:solidFill>
            <a:prstDash val="solid"/>
          </a:ln>
        </p:spPr>
      </p:sp>
      <p:sp>
        <p:nvSpPr>
          <p:cNvPr id="26" name="Text 23"/>
          <p:cNvSpPr txBox="1"/>
          <p:nvPr/>
        </p:nvSpPr>
        <p:spPr>
          <a:xfrm>
            <a:off x="6601968" y="2404872"/>
            <a:ext cx="4846320" cy="42062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Permission / ownership restrictions</a:t>
            </a:r>
            <a:endParaRPr lang="en-US" sz="1350" dirty="0"/>
          </a:p>
        </p:txBody>
      </p:sp>
      <p:sp>
        <p:nvSpPr>
          <p:cNvPr id="27" name="Shape 24"/>
          <p:cNvSpPr/>
          <p:nvPr/>
        </p:nvSpPr>
        <p:spPr>
          <a:xfrm>
            <a:off x="6309360" y="3081528"/>
            <a:ext cx="137160" cy="137160"/>
          </a:xfrm>
          <a:prstGeom prst="ellipse">
            <a:avLst/>
          </a:prstGeom>
          <a:solidFill>
            <a:srgbClr val="F5A524"/>
          </a:solidFill>
          <a:ln w="12700">
            <a:solidFill>
              <a:srgbClr val="333333"/>
            </a:solidFill>
            <a:prstDash val="solid"/>
          </a:ln>
        </p:spPr>
      </p:sp>
      <p:sp>
        <p:nvSpPr>
          <p:cNvPr id="28" name="Text 25"/>
          <p:cNvSpPr txBox="1"/>
          <p:nvPr/>
        </p:nvSpPr>
        <p:spPr>
          <a:xfrm>
            <a:off x="6601968" y="2935224"/>
            <a:ext cx="4846320" cy="42062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File attributes affecting the operation</a:t>
            </a:r>
            <a:endParaRPr lang="en-US" sz="1350" dirty="0"/>
          </a:p>
        </p:txBody>
      </p:sp>
      <p:sp>
        <p:nvSpPr>
          <p:cNvPr id="29" name="Shape 26"/>
          <p:cNvSpPr/>
          <p:nvPr/>
        </p:nvSpPr>
        <p:spPr>
          <a:xfrm>
            <a:off x="6309360" y="3611880"/>
            <a:ext cx="137160" cy="137160"/>
          </a:xfrm>
          <a:prstGeom prst="ellipse">
            <a:avLst/>
          </a:prstGeom>
          <a:solidFill>
            <a:srgbClr val="F5A524"/>
          </a:solidFill>
          <a:ln w="12700">
            <a:solidFill>
              <a:srgbClr val="333333"/>
            </a:solidFill>
            <a:prstDash val="solid"/>
          </a:ln>
        </p:spPr>
      </p:sp>
      <p:sp>
        <p:nvSpPr>
          <p:cNvPr id="30" name="Text 27"/>
          <p:cNvSpPr txBox="1"/>
          <p:nvPr/>
        </p:nvSpPr>
        <p:spPr>
          <a:xfrm>
            <a:off x="6601968" y="3465576"/>
            <a:ext cx="4846320" cy="420624"/>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Cloud synchronisation activity</a:t>
            </a:r>
            <a:endParaRPr lang="en-US" sz="1350" dirty="0"/>
          </a:p>
        </p:txBody>
      </p:sp>
      <p:sp>
        <p:nvSpPr>
          <p:cNvPr id="31" name="Shape 28"/>
          <p:cNvSpPr/>
          <p:nvPr/>
        </p:nvSpPr>
        <p:spPr>
          <a:xfrm>
            <a:off x="502920" y="4389120"/>
            <a:ext cx="11185855" cy="1417320"/>
          </a:xfrm>
          <a:prstGeom prst="roundRect">
            <a:avLst>
              <a:gd name="adj" fmla="val 5161"/>
            </a:avLst>
          </a:prstGeom>
          <a:solidFill>
            <a:srgbClr val="16294A"/>
          </a:solidFill>
          <a:ln w="12700">
            <a:solidFill>
              <a:srgbClr val="4F8EF7"/>
            </a:solidFill>
            <a:prstDash val="solid"/>
          </a:ln>
        </p:spPr>
      </p:sp>
      <p:sp>
        <p:nvSpPr>
          <p:cNvPr id="32" name="Text 29"/>
          <p:cNvSpPr txBox="1"/>
          <p:nvPr/>
        </p:nvSpPr>
        <p:spPr>
          <a:xfrm>
            <a:off x="822960" y="4590288"/>
            <a:ext cx="2743200" cy="237744"/>
          </a:xfrm>
          <a:prstGeom prst="rect">
            <a:avLst/>
          </a:prstGeom>
          <a:noFill/>
          <a:ln/>
        </p:spPr>
        <p:txBody>
          <a:bodyPr wrap="square" lIns="0" tIns="0" rIns="0" bIns="0" rtlCol="0" anchor="ctr"/>
          <a:lstStyle/>
          <a:p>
            <a:pPr algn="l" indent="0" marL="0">
              <a:buNone/>
            </a:pPr>
            <a:r>
              <a:rPr lang="en-US" sz="1050" b="1" dirty="0">
                <a:solidFill>
                  <a:srgbClr val="4F8EF7"/>
                </a:solidFill>
                <a:latin typeface="Calibri" pitchFamily="34" charset="0"/>
                <a:ea typeface="Calibri" pitchFamily="34" charset="-122"/>
                <a:cs typeface="Calibri" pitchFamily="34" charset="-120"/>
              </a:rPr>
              <a:t>MOTIVATION</a:t>
            </a:r>
            <a:endParaRPr lang="en-US" sz="1050" dirty="0"/>
          </a:p>
        </p:txBody>
      </p:sp>
      <p:sp>
        <p:nvSpPr>
          <p:cNvPr id="33" name="Text 30"/>
          <p:cNvSpPr txBox="1"/>
          <p:nvPr/>
        </p:nvSpPr>
        <p:spPr>
          <a:xfrm>
            <a:off x="822960" y="4882896"/>
            <a:ext cx="10515600" cy="777240"/>
          </a:xfrm>
          <a:prstGeom prst="rect">
            <a:avLst/>
          </a:prstGeom>
          <a:noFill/>
          <a:ln/>
        </p:spPr>
        <p:txBody>
          <a:bodyPr wrap="square" lIns="0" tIns="0" rIns="0" bIns="0" rtlCol="0" anchor="ctr"/>
          <a:lstStyle/>
          <a:p>
            <a:pPr indent="0" marL="0">
              <a:lnSpc>
                <a:spcPts val="2500"/>
              </a:lnSpc>
              <a:buNone/>
            </a:pPr>
            <a:r>
              <a:rPr lang="en-US" sz="1500" dirty="0">
                <a:solidFill>
                  <a:srgbClr val="FFFFFF"/>
                </a:solidFill>
                <a:latin typeface="Calibri" pitchFamily="34" charset="0"/>
                <a:ea typeface="Calibri" pitchFamily="34" charset="-122"/>
                <a:cs typeface="Calibri" pitchFamily="34" charset="-120"/>
              </a:rPr>
              <a:t>Turn a generic file-operation failure into an understandable diagnosis supported by OS-level evidence —</a:t>
            </a:r>
            <a:endParaRPr lang="en-US" sz="1500" dirty="0"/>
          </a:p>
          <a:p>
            <a:pPr indent="0" marL="0">
              <a:lnSpc>
                <a:spcPts val="2500"/>
              </a:lnSpc>
              <a:buNone/>
            </a:pPr>
            <a:r>
              <a:rPr lang="en-US" sz="1500" dirty="0">
                <a:solidFill>
                  <a:srgbClr val="FFFFFF"/>
                </a:solidFill>
                <a:latin typeface="Calibri" pitchFamily="34" charset="0"/>
                <a:ea typeface="Calibri" pitchFamily="34" charset="-122"/>
                <a:cs typeface="Calibri" pitchFamily="34" charset="-120"/>
              </a:rPr>
              <a:t>and give the user a safe next action instead of a trial-and-error guess.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1A30"/>
        </a:solidFill>
      </p:bgPr>
    </p:bg>
    <p:spTree>
      <p:nvGrpSpPr>
        <p:cNvPr id="1" name=""/>
        <p:cNvGrpSpPr/>
        <p:nvPr/>
      </p:nvGrpSpPr>
      <p:grpSpPr>
        <a:xfrm>
          <a:off x="0" y="0"/>
          <a:ext cx="0" cy="0"/>
          <a:chOff x="0" y="0"/>
          <a:chExt cx="0" cy="0"/>
        </a:xfrm>
      </p:grpSpPr>
      <p:sp>
        <p:nvSpPr>
          <p:cNvPr id="3" name="Text 0"/>
          <p:cNvSpPr txBox="1"/>
          <p:nvPr/>
        </p:nvSpPr>
        <p:spPr>
          <a:xfrm>
            <a:off x="502920" y="292608"/>
            <a:ext cx="10058400" cy="237744"/>
          </a:xfrm>
          <a:prstGeom prst="rect">
            <a:avLst/>
          </a:prstGeom>
          <a:noFill/>
          <a:ln/>
        </p:spPr>
        <p:txBody>
          <a:bodyPr wrap="square" lIns="0" tIns="0" rIns="0" bIns="0" rtlCol="0" anchor="ctr"/>
          <a:lstStyle/>
          <a:p>
            <a:pPr indent="0" marL="0">
              <a:buNone/>
            </a:pPr>
            <a:r>
              <a:rPr lang="en-US" sz="1100" b="1" spc="200" kern="0" dirty="0">
                <a:solidFill>
                  <a:srgbClr val="4F8EF7"/>
                </a:solidFill>
                <a:latin typeface="Calibri" pitchFamily="34" charset="0"/>
                <a:ea typeface="Calibri" pitchFamily="34" charset="-122"/>
                <a:cs typeface="Calibri" pitchFamily="34" charset="-120"/>
              </a:rPr>
              <a:t>SLIDE 3</a:t>
            </a:r>
            <a:endParaRPr lang="en-US" sz="1100" dirty="0"/>
          </a:p>
        </p:txBody>
      </p:sp>
      <p:sp>
        <p:nvSpPr>
          <p:cNvPr id="4"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Project Objectives</a:t>
            </a:r>
            <a:endParaRPr lang="en-US" sz="3000" dirty="0"/>
          </a:p>
        </p:txBody>
      </p:sp>
      <p:sp>
        <p:nvSpPr>
          <p:cNvPr id="5" name="Shape 2"/>
          <p:cNvSpPr/>
          <p:nvPr/>
        </p:nvSpPr>
        <p:spPr>
          <a:xfrm>
            <a:off x="502920" y="1371600"/>
            <a:ext cx="3611880" cy="2148840"/>
          </a:xfrm>
          <a:prstGeom prst="roundRect">
            <a:avLst>
              <a:gd name="adj" fmla="val 3404"/>
            </a:avLst>
          </a:prstGeom>
          <a:solidFill>
            <a:srgbClr val="16294A"/>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6" name="Shape 3"/>
          <p:cNvSpPr/>
          <p:nvPr/>
        </p:nvSpPr>
        <p:spPr>
          <a:xfrm>
            <a:off x="758952" y="1609344"/>
            <a:ext cx="420624" cy="420624"/>
          </a:xfrm>
          <a:prstGeom prst="ellipse">
            <a:avLst/>
          </a:prstGeom>
          <a:solidFill>
            <a:srgbClr val="2B5FC4"/>
          </a:solidFill>
          <a:ln w="12700">
            <a:solidFill>
              <a:srgbClr val="333333"/>
            </a:solidFill>
            <a:prstDash val="solid"/>
          </a:ln>
        </p:spPr>
      </p:sp>
      <p:sp>
        <p:nvSpPr>
          <p:cNvPr id="7" name="Text 4"/>
          <p:cNvSpPr txBox="1"/>
          <p:nvPr/>
        </p:nvSpPr>
        <p:spPr>
          <a:xfrm>
            <a:off x="758952" y="16093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01</a:t>
            </a:r>
            <a:endParaRPr lang="en-US" sz="1200" dirty="0"/>
          </a:p>
        </p:txBody>
      </p:sp>
      <p:sp>
        <p:nvSpPr>
          <p:cNvPr id="8" name="Text 5"/>
          <p:cNvSpPr txBox="1"/>
          <p:nvPr/>
        </p:nvSpPr>
        <p:spPr>
          <a:xfrm>
            <a:off x="1325880" y="1572768"/>
            <a:ext cx="2560320" cy="566928"/>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Detect processes</a:t>
            </a:r>
            <a:endParaRPr lang="en-US" sz="1500" dirty="0"/>
          </a:p>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locking files</a:t>
            </a:r>
            <a:endParaRPr lang="en-US" sz="1500" dirty="0"/>
          </a:p>
        </p:txBody>
      </p:sp>
      <p:sp>
        <p:nvSpPr>
          <p:cNvPr id="9" name="Text 6"/>
          <p:cNvSpPr txBox="1"/>
          <p:nvPr/>
        </p:nvSpPr>
        <p:spPr>
          <a:xfrm>
            <a:off x="758952" y="2304288"/>
            <a:ext cx="3099816" cy="777240"/>
          </a:xfrm>
          <a:prstGeom prst="rect">
            <a:avLst/>
          </a:prstGeom>
          <a:noFill/>
          <a:ln/>
        </p:spPr>
        <p:txBody>
          <a:bodyPr wrap="square" lIns="0" tIns="0" rIns="0" bIns="0" rtlCol="0" anchor="ctr"/>
          <a:lstStyle/>
          <a:p>
            <a:pPr indent="0" marL="0">
              <a:lnSpc>
                <a:spcPts val="1600"/>
              </a:lnSpc>
              <a:buNone/>
            </a:pPr>
            <a:r>
              <a:rPr lang="en-US" sz="1150" dirty="0">
                <a:solidFill>
                  <a:srgbClr val="A9BCDB"/>
                </a:solidFill>
                <a:latin typeface="Calibri" pitchFamily="34" charset="0"/>
                <a:ea typeface="Calibri" pitchFamily="34" charset="-122"/>
                <a:cs typeface="Calibri" pitchFamily="34" charset="-120"/>
              </a:rPr>
              <a:t>Identify which process holds the file, with PID and executable path.</a:t>
            </a:r>
            <a:endParaRPr lang="en-US" sz="1150" dirty="0"/>
          </a:p>
        </p:txBody>
      </p:sp>
      <p:sp>
        <p:nvSpPr>
          <p:cNvPr id="10" name="Shape 7"/>
          <p:cNvSpPr/>
          <p:nvPr/>
        </p:nvSpPr>
        <p:spPr>
          <a:xfrm>
            <a:off x="758952" y="3044952"/>
            <a:ext cx="1188720" cy="219456"/>
          </a:xfrm>
          <a:prstGeom prst="roundRect">
            <a:avLst>
              <a:gd name="adj" fmla="val 50000"/>
            </a:avLst>
          </a:prstGeom>
          <a:solidFill>
            <a:srgbClr val="0C1A30"/>
          </a:solidFill>
          <a:ln w="12700">
            <a:solidFill>
              <a:srgbClr val="2DD4A7"/>
            </a:solidFill>
            <a:prstDash val="solid"/>
          </a:ln>
        </p:spPr>
      </p:sp>
      <p:sp>
        <p:nvSpPr>
          <p:cNvPr id="11" name="Text 8"/>
          <p:cNvSpPr txBox="1"/>
          <p:nvPr/>
        </p:nvSpPr>
        <p:spPr>
          <a:xfrm>
            <a:off x="758952" y="3044952"/>
            <a:ext cx="1188720" cy="219456"/>
          </a:xfrm>
          <a:prstGeom prst="rect">
            <a:avLst/>
          </a:prstGeom>
          <a:noFill/>
          <a:ln/>
        </p:spPr>
        <p:txBody>
          <a:bodyPr wrap="square" lIns="0" tIns="0" rIns="0" bIns="0" rtlCol="0" anchor="ctr"/>
          <a:lstStyle/>
          <a:p>
            <a:pPr algn="ctr" indent="0" marL="0">
              <a:buNone/>
            </a:pPr>
            <a:r>
              <a:rPr lang="en-US" sz="850" b="1" dirty="0">
                <a:solidFill>
                  <a:srgbClr val="2DD4A7"/>
                </a:solidFill>
                <a:latin typeface="Calibri" pitchFamily="34" charset="0"/>
                <a:ea typeface="Calibri" pitchFamily="34" charset="-122"/>
                <a:cs typeface="Calibri" pitchFamily="34" charset="-120"/>
              </a:rPr>
              <a:t>IMPLEMENTED</a:t>
            </a:r>
            <a:endParaRPr lang="en-US" sz="850" dirty="0"/>
          </a:p>
        </p:txBody>
      </p:sp>
      <p:sp>
        <p:nvSpPr>
          <p:cNvPr id="12" name="Shape 9"/>
          <p:cNvSpPr/>
          <p:nvPr/>
        </p:nvSpPr>
        <p:spPr>
          <a:xfrm>
            <a:off x="4334256" y="1371600"/>
            <a:ext cx="3611880" cy="2148840"/>
          </a:xfrm>
          <a:prstGeom prst="roundRect">
            <a:avLst>
              <a:gd name="adj" fmla="val 3404"/>
            </a:avLst>
          </a:prstGeom>
          <a:solidFill>
            <a:srgbClr val="16294A"/>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13" name="Shape 10"/>
          <p:cNvSpPr/>
          <p:nvPr/>
        </p:nvSpPr>
        <p:spPr>
          <a:xfrm>
            <a:off x="4590288" y="1609344"/>
            <a:ext cx="420624" cy="420624"/>
          </a:xfrm>
          <a:prstGeom prst="ellipse">
            <a:avLst/>
          </a:prstGeom>
          <a:solidFill>
            <a:srgbClr val="2B5FC4"/>
          </a:solidFill>
          <a:ln w="12700">
            <a:solidFill>
              <a:srgbClr val="333333"/>
            </a:solidFill>
            <a:prstDash val="solid"/>
          </a:ln>
        </p:spPr>
      </p:sp>
      <p:sp>
        <p:nvSpPr>
          <p:cNvPr id="14" name="Text 11"/>
          <p:cNvSpPr txBox="1"/>
          <p:nvPr/>
        </p:nvSpPr>
        <p:spPr>
          <a:xfrm>
            <a:off x="4590288" y="16093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02</a:t>
            </a:r>
            <a:endParaRPr lang="en-US" sz="1200" dirty="0"/>
          </a:p>
        </p:txBody>
      </p:sp>
      <p:sp>
        <p:nvSpPr>
          <p:cNvPr id="15" name="Text 12"/>
          <p:cNvSpPr txBox="1"/>
          <p:nvPr/>
        </p:nvSpPr>
        <p:spPr>
          <a:xfrm>
            <a:off x="5157216" y="1572768"/>
            <a:ext cx="2560320" cy="566928"/>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Analyse permissions</a:t>
            </a:r>
            <a:endParaRPr lang="en-US" sz="1500" dirty="0"/>
          </a:p>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and ownership</a:t>
            </a:r>
            <a:endParaRPr lang="en-US" sz="1500" dirty="0"/>
          </a:p>
        </p:txBody>
      </p:sp>
      <p:sp>
        <p:nvSpPr>
          <p:cNvPr id="16" name="Text 13"/>
          <p:cNvSpPr txBox="1"/>
          <p:nvPr/>
        </p:nvSpPr>
        <p:spPr>
          <a:xfrm>
            <a:off x="4590288" y="2304288"/>
            <a:ext cx="3099816" cy="777240"/>
          </a:xfrm>
          <a:prstGeom prst="rect">
            <a:avLst/>
          </a:prstGeom>
          <a:noFill/>
          <a:ln/>
        </p:spPr>
        <p:txBody>
          <a:bodyPr wrap="square" lIns="0" tIns="0" rIns="0" bIns="0" rtlCol="0" anchor="ctr"/>
          <a:lstStyle/>
          <a:p>
            <a:pPr indent="0" marL="0">
              <a:lnSpc>
                <a:spcPts val="1600"/>
              </a:lnSpc>
              <a:buNone/>
            </a:pPr>
            <a:r>
              <a:rPr lang="en-US" sz="1150" dirty="0">
                <a:solidFill>
                  <a:srgbClr val="A9BCDB"/>
                </a:solidFill>
                <a:latin typeface="Calibri" pitchFamily="34" charset="0"/>
                <a:ea typeface="Calibri" pitchFamily="34" charset="-122"/>
                <a:cs typeface="Calibri" pitchFamily="34" charset="-120"/>
              </a:rPr>
              <a:t>Owner, current user and READ / WRITE / EXECUTE / DELETE rights.</a:t>
            </a:r>
            <a:endParaRPr lang="en-US" sz="1150" dirty="0"/>
          </a:p>
        </p:txBody>
      </p:sp>
      <p:sp>
        <p:nvSpPr>
          <p:cNvPr id="17" name="Shape 14"/>
          <p:cNvSpPr/>
          <p:nvPr/>
        </p:nvSpPr>
        <p:spPr>
          <a:xfrm>
            <a:off x="4590288" y="3044952"/>
            <a:ext cx="1188720" cy="219456"/>
          </a:xfrm>
          <a:prstGeom prst="roundRect">
            <a:avLst>
              <a:gd name="adj" fmla="val 50000"/>
            </a:avLst>
          </a:prstGeom>
          <a:solidFill>
            <a:srgbClr val="0C1A30"/>
          </a:solidFill>
          <a:ln w="12700">
            <a:solidFill>
              <a:srgbClr val="2DD4A7"/>
            </a:solidFill>
            <a:prstDash val="solid"/>
          </a:ln>
        </p:spPr>
      </p:sp>
      <p:sp>
        <p:nvSpPr>
          <p:cNvPr id="18" name="Text 15"/>
          <p:cNvSpPr txBox="1"/>
          <p:nvPr/>
        </p:nvSpPr>
        <p:spPr>
          <a:xfrm>
            <a:off x="4590288" y="3044952"/>
            <a:ext cx="1188720" cy="219456"/>
          </a:xfrm>
          <a:prstGeom prst="rect">
            <a:avLst/>
          </a:prstGeom>
          <a:noFill/>
          <a:ln/>
        </p:spPr>
        <p:txBody>
          <a:bodyPr wrap="square" lIns="0" tIns="0" rIns="0" bIns="0" rtlCol="0" anchor="ctr"/>
          <a:lstStyle/>
          <a:p>
            <a:pPr algn="ctr" indent="0" marL="0">
              <a:buNone/>
            </a:pPr>
            <a:r>
              <a:rPr lang="en-US" sz="850" b="1" dirty="0">
                <a:solidFill>
                  <a:srgbClr val="2DD4A7"/>
                </a:solidFill>
                <a:latin typeface="Calibri" pitchFamily="34" charset="0"/>
                <a:ea typeface="Calibri" pitchFamily="34" charset="-122"/>
                <a:cs typeface="Calibri" pitchFamily="34" charset="-120"/>
              </a:rPr>
              <a:t>IMPLEMENTED</a:t>
            </a:r>
            <a:endParaRPr lang="en-US" sz="850" dirty="0"/>
          </a:p>
        </p:txBody>
      </p:sp>
      <p:sp>
        <p:nvSpPr>
          <p:cNvPr id="19" name="Shape 16"/>
          <p:cNvSpPr/>
          <p:nvPr/>
        </p:nvSpPr>
        <p:spPr>
          <a:xfrm>
            <a:off x="8165592" y="1371600"/>
            <a:ext cx="3611880" cy="2148840"/>
          </a:xfrm>
          <a:prstGeom prst="roundRect">
            <a:avLst>
              <a:gd name="adj" fmla="val 3404"/>
            </a:avLst>
          </a:prstGeom>
          <a:solidFill>
            <a:srgbClr val="16294A"/>
          </a:solidFill>
          <a:ln w="12700">
            <a:solidFill>
              <a:srgbClr val="4A4326"/>
            </a:solidFill>
            <a:prstDash val="dash"/>
          </a:ln>
          <a:effectLst>
            <a:outerShdw sx="100000" sy="100000" kx="0" ky="0" algn="bl" rotWithShape="0" blurRad="101600" dist="25400" dir="5400000">
              <a:srgbClr val="000000">
                <a:alpha val="35000"/>
              </a:srgbClr>
            </a:outerShdw>
          </a:effectLst>
        </p:spPr>
      </p:sp>
      <p:sp>
        <p:nvSpPr>
          <p:cNvPr id="20" name="Shape 17"/>
          <p:cNvSpPr/>
          <p:nvPr/>
        </p:nvSpPr>
        <p:spPr>
          <a:xfrm>
            <a:off x="8421624" y="1609344"/>
            <a:ext cx="420624" cy="420624"/>
          </a:xfrm>
          <a:prstGeom prst="ellipse">
            <a:avLst/>
          </a:prstGeom>
          <a:solidFill>
            <a:srgbClr val="5A4A1E"/>
          </a:solidFill>
          <a:ln w="12700">
            <a:solidFill>
              <a:srgbClr val="333333"/>
            </a:solidFill>
            <a:prstDash val="solid"/>
          </a:ln>
        </p:spPr>
      </p:sp>
      <p:sp>
        <p:nvSpPr>
          <p:cNvPr id="21" name="Text 18"/>
          <p:cNvSpPr txBox="1"/>
          <p:nvPr/>
        </p:nvSpPr>
        <p:spPr>
          <a:xfrm>
            <a:off x="8421624" y="16093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03</a:t>
            </a:r>
            <a:endParaRPr lang="en-US" sz="1200" dirty="0"/>
          </a:p>
        </p:txBody>
      </p:sp>
      <p:sp>
        <p:nvSpPr>
          <p:cNvPr id="22" name="Text 19"/>
          <p:cNvSpPr txBox="1"/>
          <p:nvPr/>
        </p:nvSpPr>
        <p:spPr>
          <a:xfrm>
            <a:off x="8988552" y="1572768"/>
            <a:ext cx="2560320" cy="566928"/>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Analyse file</a:t>
            </a:r>
            <a:endParaRPr lang="en-US" sz="1500" dirty="0"/>
          </a:p>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attributes</a:t>
            </a:r>
            <a:endParaRPr lang="en-US" sz="1500" dirty="0"/>
          </a:p>
        </p:txBody>
      </p:sp>
      <p:sp>
        <p:nvSpPr>
          <p:cNvPr id="23" name="Text 20"/>
          <p:cNvSpPr txBox="1"/>
          <p:nvPr/>
        </p:nvSpPr>
        <p:spPr>
          <a:xfrm>
            <a:off x="8421624" y="2304288"/>
            <a:ext cx="3099816" cy="777240"/>
          </a:xfrm>
          <a:prstGeom prst="rect">
            <a:avLst/>
          </a:prstGeom>
          <a:noFill/>
          <a:ln/>
        </p:spPr>
        <p:txBody>
          <a:bodyPr wrap="square" lIns="0" tIns="0" rIns="0" bIns="0" rtlCol="0" anchor="ctr"/>
          <a:lstStyle/>
          <a:p>
            <a:pPr indent="0" marL="0">
              <a:lnSpc>
                <a:spcPts val="1600"/>
              </a:lnSpc>
              <a:buNone/>
            </a:pPr>
            <a:r>
              <a:rPr lang="en-US" sz="1150" dirty="0">
                <a:solidFill>
                  <a:srgbClr val="A9BCDB"/>
                </a:solidFill>
                <a:latin typeface="Calibri" pitchFamily="34" charset="0"/>
                <a:ea typeface="Calibri" pitchFamily="34" charset="-122"/>
                <a:cs typeface="Calibri" pitchFamily="34" charset="-120"/>
              </a:rPr>
              <a:t>Read-only, Hidden, System, Archive and related file metadata.</a:t>
            </a:r>
            <a:endParaRPr lang="en-US" sz="1150" dirty="0"/>
          </a:p>
        </p:txBody>
      </p:sp>
      <p:sp>
        <p:nvSpPr>
          <p:cNvPr id="24" name="Shape 21"/>
          <p:cNvSpPr/>
          <p:nvPr/>
        </p:nvSpPr>
        <p:spPr>
          <a:xfrm>
            <a:off x="8421624" y="3044952"/>
            <a:ext cx="1188720" cy="219456"/>
          </a:xfrm>
          <a:prstGeom prst="roundRect">
            <a:avLst>
              <a:gd name="adj" fmla="val 50000"/>
            </a:avLst>
          </a:prstGeom>
          <a:solidFill>
            <a:srgbClr val="0C1A30"/>
          </a:solidFill>
          <a:ln w="12700">
            <a:solidFill>
              <a:srgbClr val="F5A524"/>
            </a:solidFill>
            <a:prstDash val="solid"/>
          </a:ln>
        </p:spPr>
      </p:sp>
      <p:sp>
        <p:nvSpPr>
          <p:cNvPr id="25" name="Text 22"/>
          <p:cNvSpPr txBox="1"/>
          <p:nvPr/>
        </p:nvSpPr>
        <p:spPr>
          <a:xfrm>
            <a:off x="8421624" y="3044952"/>
            <a:ext cx="1188720" cy="219456"/>
          </a:xfrm>
          <a:prstGeom prst="rect">
            <a:avLst/>
          </a:prstGeom>
          <a:noFill/>
          <a:ln/>
        </p:spPr>
        <p:txBody>
          <a:bodyPr wrap="square" lIns="0" tIns="0" rIns="0" bIns="0" rtlCol="0" anchor="ctr"/>
          <a:lstStyle/>
          <a:p>
            <a:pPr algn="ctr" indent="0" marL="0">
              <a:buNone/>
            </a:pPr>
            <a:r>
              <a:rPr lang="en-US" sz="850" b="1" dirty="0">
                <a:solidFill>
                  <a:srgbClr val="F5A524"/>
                </a:solidFill>
                <a:latin typeface="Calibri" pitchFamily="34" charset="0"/>
                <a:ea typeface="Calibri" pitchFamily="34" charset="-122"/>
                <a:cs typeface="Calibri" pitchFamily="34" charset="-120"/>
              </a:rPr>
              <a:t>PROPOSED</a:t>
            </a:r>
            <a:endParaRPr lang="en-US" sz="850" dirty="0"/>
          </a:p>
        </p:txBody>
      </p:sp>
      <p:sp>
        <p:nvSpPr>
          <p:cNvPr id="26" name="Shape 23"/>
          <p:cNvSpPr/>
          <p:nvPr/>
        </p:nvSpPr>
        <p:spPr>
          <a:xfrm>
            <a:off x="502920" y="3794760"/>
            <a:ext cx="3611880" cy="2148840"/>
          </a:xfrm>
          <a:prstGeom prst="roundRect">
            <a:avLst>
              <a:gd name="adj" fmla="val 3404"/>
            </a:avLst>
          </a:prstGeom>
          <a:solidFill>
            <a:srgbClr val="16294A"/>
          </a:solidFill>
          <a:ln w="12700">
            <a:solidFill>
              <a:srgbClr val="4A4326"/>
            </a:solidFill>
            <a:prstDash val="dash"/>
          </a:ln>
          <a:effectLst>
            <a:outerShdw sx="100000" sy="100000" kx="0" ky="0" algn="bl" rotWithShape="0" blurRad="101600" dist="25400" dir="5400000">
              <a:srgbClr val="000000">
                <a:alpha val="35000"/>
              </a:srgbClr>
            </a:outerShdw>
          </a:effectLst>
        </p:spPr>
      </p:sp>
      <p:sp>
        <p:nvSpPr>
          <p:cNvPr id="27" name="Shape 24"/>
          <p:cNvSpPr/>
          <p:nvPr/>
        </p:nvSpPr>
        <p:spPr>
          <a:xfrm>
            <a:off x="758952" y="4032504"/>
            <a:ext cx="420624" cy="420624"/>
          </a:xfrm>
          <a:prstGeom prst="ellipse">
            <a:avLst/>
          </a:prstGeom>
          <a:solidFill>
            <a:srgbClr val="5A4A1E"/>
          </a:solidFill>
          <a:ln w="12700">
            <a:solidFill>
              <a:srgbClr val="333333"/>
            </a:solidFill>
            <a:prstDash val="solid"/>
          </a:ln>
        </p:spPr>
      </p:sp>
      <p:sp>
        <p:nvSpPr>
          <p:cNvPr id="28" name="Text 25"/>
          <p:cNvSpPr txBox="1"/>
          <p:nvPr/>
        </p:nvSpPr>
        <p:spPr>
          <a:xfrm>
            <a:off x="758952" y="403250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04</a:t>
            </a:r>
            <a:endParaRPr lang="en-US" sz="1200" dirty="0"/>
          </a:p>
        </p:txBody>
      </p:sp>
      <p:sp>
        <p:nvSpPr>
          <p:cNvPr id="29" name="Text 26"/>
          <p:cNvSpPr txBox="1"/>
          <p:nvPr/>
        </p:nvSpPr>
        <p:spPr>
          <a:xfrm>
            <a:off x="1325880" y="3995928"/>
            <a:ext cx="2560320" cy="566928"/>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Detect synchronisation</a:t>
            </a:r>
            <a:endParaRPr lang="en-US" sz="1500" dirty="0"/>
          </a:p>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activity</a:t>
            </a:r>
            <a:endParaRPr lang="en-US" sz="1500" dirty="0"/>
          </a:p>
        </p:txBody>
      </p:sp>
      <p:sp>
        <p:nvSpPr>
          <p:cNvPr id="30" name="Text 27"/>
          <p:cNvSpPr txBox="1"/>
          <p:nvPr/>
        </p:nvSpPr>
        <p:spPr>
          <a:xfrm>
            <a:off x="758952" y="4727448"/>
            <a:ext cx="3099816" cy="777240"/>
          </a:xfrm>
          <a:prstGeom prst="rect">
            <a:avLst/>
          </a:prstGeom>
          <a:noFill/>
          <a:ln/>
        </p:spPr>
        <p:txBody>
          <a:bodyPr wrap="square" lIns="0" tIns="0" rIns="0" bIns="0" rtlCol="0" anchor="ctr"/>
          <a:lstStyle/>
          <a:p>
            <a:pPr indent="0" marL="0">
              <a:lnSpc>
                <a:spcPts val="1600"/>
              </a:lnSpc>
              <a:buNone/>
            </a:pPr>
            <a:r>
              <a:rPr lang="en-US" sz="1150" dirty="0">
                <a:solidFill>
                  <a:srgbClr val="A9BCDB"/>
                </a:solidFill>
                <a:latin typeface="Calibri" pitchFamily="34" charset="0"/>
                <a:ea typeface="Calibri" pitchFamily="34" charset="-122"/>
                <a:cs typeface="Calibri" pitchFamily="34" charset="-120"/>
              </a:rPr>
              <a:t>OneDrive and Google Drive activity interacting with the file.</a:t>
            </a:r>
            <a:endParaRPr lang="en-US" sz="1150" dirty="0"/>
          </a:p>
        </p:txBody>
      </p:sp>
      <p:sp>
        <p:nvSpPr>
          <p:cNvPr id="31" name="Shape 28"/>
          <p:cNvSpPr/>
          <p:nvPr/>
        </p:nvSpPr>
        <p:spPr>
          <a:xfrm>
            <a:off x="758952" y="5468112"/>
            <a:ext cx="1188720" cy="219456"/>
          </a:xfrm>
          <a:prstGeom prst="roundRect">
            <a:avLst>
              <a:gd name="adj" fmla="val 50000"/>
            </a:avLst>
          </a:prstGeom>
          <a:solidFill>
            <a:srgbClr val="0C1A30"/>
          </a:solidFill>
          <a:ln w="12700">
            <a:solidFill>
              <a:srgbClr val="F5A524"/>
            </a:solidFill>
            <a:prstDash val="solid"/>
          </a:ln>
        </p:spPr>
      </p:sp>
      <p:sp>
        <p:nvSpPr>
          <p:cNvPr id="32" name="Text 29"/>
          <p:cNvSpPr txBox="1"/>
          <p:nvPr/>
        </p:nvSpPr>
        <p:spPr>
          <a:xfrm>
            <a:off x="758952" y="5468112"/>
            <a:ext cx="1188720" cy="219456"/>
          </a:xfrm>
          <a:prstGeom prst="rect">
            <a:avLst/>
          </a:prstGeom>
          <a:noFill/>
          <a:ln/>
        </p:spPr>
        <p:txBody>
          <a:bodyPr wrap="square" lIns="0" tIns="0" rIns="0" bIns="0" rtlCol="0" anchor="ctr"/>
          <a:lstStyle/>
          <a:p>
            <a:pPr algn="ctr" indent="0" marL="0">
              <a:buNone/>
            </a:pPr>
            <a:r>
              <a:rPr lang="en-US" sz="850" b="1" dirty="0">
                <a:solidFill>
                  <a:srgbClr val="F5A524"/>
                </a:solidFill>
                <a:latin typeface="Calibri" pitchFamily="34" charset="0"/>
                <a:ea typeface="Calibri" pitchFamily="34" charset="-122"/>
                <a:cs typeface="Calibri" pitchFamily="34" charset="-120"/>
              </a:rPr>
              <a:t>PROPOSED</a:t>
            </a:r>
            <a:endParaRPr lang="en-US" sz="850" dirty="0"/>
          </a:p>
        </p:txBody>
      </p:sp>
      <p:sp>
        <p:nvSpPr>
          <p:cNvPr id="33" name="Shape 30"/>
          <p:cNvSpPr/>
          <p:nvPr/>
        </p:nvSpPr>
        <p:spPr>
          <a:xfrm>
            <a:off x="4334256" y="3794760"/>
            <a:ext cx="3611880" cy="2148840"/>
          </a:xfrm>
          <a:prstGeom prst="roundRect">
            <a:avLst>
              <a:gd name="adj" fmla="val 3404"/>
            </a:avLst>
          </a:prstGeom>
          <a:solidFill>
            <a:srgbClr val="16294A"/>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34" name="Shape 31"/>
          <p:cNvSpPr/>
          <p:nvPr/>
        </p:nvSpPr>
        <p:spPr>
          <a:xfrm>
            <a:off x="4590288" y="4032504"/>
            <a:ext cx="420624" cy="420624"/>
          </a:xfrm>
          <a:prstGeom prst="ellipse">
            <a:avLst/>
          </a:prstGeom>
          <a:solidFill>
            <a:srgbClr val="2B5FC4"/>
          </a:solidFill>
          <a:ln w="12700">
            <a:solidFill>
              <a:srgbClr val="333333"/>
            </a:solidFill>
            <a:prstDash val="solid"/>
          </a:ln>
        </p:spPr>
      </p:sp>
      <p:sp>
        <p:nvSpPr>
          <p:cNvPr id="35" name="Text 32"/>
          <p:cNvSpPr txBox="1"/>
          <p:nvPr/>
        </p:nvSpPr>
        <p:spPr>
          <a:xfrm>
            <a:off x="4590288" y="403250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05</a:t>
            </a:r>
            <a:endParaRPr lang="en-US" sz="1200" dirty="0"/>
          </a:p>
        </p:txBody>
      </p:sp>
      <p:sp>
        <p:nvSpPr>
          <p:cNvPr id="36" name="Text 33"/>
          <p:cNvSpPr txBox="1"/>
          <p:nvPr/>
        </p:nvSpPr>
        <p:spPr>
          <a:xfrm>
            <a:off x="5157216" y="3995928"/>
            <a:ext cx="2560320" cy="566928"/>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Provide safe</a:t>
            </a:r>
            <a:endParaRPr lang="en-US" sz="1500" dirty="0"/>
          </a:p>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recommendations</a:t>
            </a:r>
            <a:endParaRPr lang="en-US" sz="1500" dirty="0"/>
          </a:p>
        </p:txBody>
      </p:sp>
      <p:sp>
        <p:nvSpPr>
          <p:cNvPr id="37" name="Text 34"/>
          <p:cNvSpPr txBox="1"/>
          <p:nvPr/>
        </p:nvSpPr>
        <p:spPr>
          <a:xfrm>
            <a:off x="4590288" y="4727448"/>
            <a:ext cx="3099816" cy="777240"/>
          </a:xfrm>
          <a:prstGeom prst="rect">
            <a:avLst/>
          </a:prstGeom>
          <a:noFill/>
          <a:ln/>
        </p:spPr>
        <p:txBody>
          <a:bodyPr wrap="square" lIns="0" tIns="0" rIns="0" bIns="0" rtlCol="0" anchor="ctr"/>
          <a:lstStyle/>
          <a:p>
            <a:pPr indent="0" marL="0">
              <a:lnSpc>
                <a:spcPts val="1600"/>
              </a:lnSpc>
              <a:buNone/>
            </a:pPr>
            <a:r>
              <a:rPr lang="en-US" sz="1150" dirty="0">
                <a:solidFill>
                  <a:srgbClr val="A9BCDB"/>
                </a:solidFill>
                <a:latin typeface="Calibri" pitchFamily="34" charset="0"/>
                <a:ea typeface="Calibri" pitchFamily="34" charset="-122"/>
                <a:cs typeface="Calibri" pitchFamily="34" charset="-120"/>
              </a:rPr>
              <a:t>Convert technical findings into a safe, understandable next action.</a:t>
            </a:r>
            <a:endParaRPr lang="en-US" sz="1150" dirty="0"/>
          </a:p>
        </p:txBody>
      </p:sp>
      <p:sp>
        <p:nvSpPr>
          <p:cNvPr id="38" name="Shape 35"/>
          <p:cNvSpPr/>
          <p:nvPr/>
        </p:nvSpPr>
        <p:spPr>
          <a:xfrm>
            <a:off x="4590288" y="5468112"/>
            <a:ext cx="1188720" cy="219456"/>
          </a:xfrm>
          <a:prstGeom prst="roundRect">
            <a:avLst>
              <a:gd name="adj" fmla="val 50000"/>
            </a:avLst>
          </a:prstGeom>
          <a:solidFill>
            <a:srgbClr val="0C1A30"/>
          </a:solidFill>
          <a:ln w="12700">
            <a:solidFill>
              <a:srgbClr val="2DD4A7"/>
            </a:solidFill>
            <a:prstDash val="solid"/>
          </a:ln>
        </p:spPr>
      </p:sp>
      <p:sp>
        <p:nvSpPr>
          <p:cNvPr id="39" name="Text 36"/>
          <p:cNvSpPr txBox="1"/>
          <p:nvPr/>
        </p:nvSpPr>
        <p:spPr>
          <a:xfrm>
            <a:off x="4590288" y="5468112"/>
            <a:ext cx="1188720" cy="219456"/>
          </a:xfrm>
          <a:prstGeom prst="rect">
            <a:avLst/>
          </a:prstGeom>
          <a:noFill/>
          <a:ln/>
        </p:spPr>
        <p:txBody>
          <a:bodyPr wrap="square" lIns="0" tIns="0" rIns="0" bIns="0" rtlCol="0" anchor="ctr"/>
          <a:lstStyle/>
          <a:p>
            <a:pPr algn="ctr" indent="0" marL="0">
              <a:buNone/>
            </a:pPr>
            <a:r>
              <a:rPr lang="en-US" sz="850" b="1" dirty="0">
                <a:solidFill>
                  <a:srgbClr val="2DD4A7"/>
                </a:solidFill>
                <a:latin typeface="Calibri" pitchFamily="34" charset="0"/>
                <a:ea typeface="Calibri" pitchFamily="34" charset="-122"/>
                <a:cs typeface="Calibri" pitchFamily="34" charset="-120"/>
              </a:rPr>
              <a:t>IMPLEMENTED</a:t>
            </a:r>
            <a:endParaRPr lang="en-US" sz="850" dirty="0"/>
          </a:p>
        </p:txBody>
      </p:sp>
      <p:sp>
        <p:nvSpPr>
          <p:cNvPr id="40" name="Shape 37"/>
          <p:cNvSpPr/>
          <p:nvPr/>
        </p:nvSpPr>
        <p:spPr>
          <a:xfrm>
            <a:off x="8165592" y="3794760"/>
            <a:ext cx="3611880" cy="2148840"/>
          </a:xfrm>
          <a:prstGeom prst="roundRect">
            <a:avLst>
              <a:gd name="adj" fmla="val 3404"/>
            </a:avLst>
          </a:prstGeom>
          <a:solidFill>
            <a:srgbClr val="16294A"/>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41" name="Shape 38"/>
          <p:cNvSpPr/>
          <p:nvPr/>
        </p:nvSpPr>
        <p:spPr>
          <a:xfrm>
            <a:off x="8421624" y="4032504"/>
            <a:ext cx="420624" cy="420624"/>
          </a:xfrm>
          <a:prstGeom prst="ellipse">
            <a:avLst/>
          </a:prstGeom>
          <a:solidFill>
            <a:srgbClr val="2B5FC4"/>
          </a:solidFill>
          <a:ln w="12700">
            <a:solidFill>
              <a:srgbClr val="333333"/>
            </a:solidFill>
            <a:prstDash val="solid"/>
          </a:ln>
        </p:spPr>
      </p:sp>
      <p:sp>
        <p:nvSpPr>
          <p:cNvPr id="42" name="Text 39"/>
          <p:cNvSpPr txBox="1"/>
          <p:nvPr/>
        </p:nvSpPr>
        <p:spPr>
          <a:xfrm>
            <a:off x="8421624" y="403250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06</a:t>
            </a:r>
            <a:endParaRPr lang="en-US" sz="1200" dirty="0"/>
          </a:p>
        </p:txBody>
      </p:sp>
      <p:sp>
        <p:nvSpPr>
          <p:cNvPr id="43" name="Text 40"/>
          <p:cNvSpPr txBox="1"/>
          <p:nvPr/>
        </p:nvSpPr>
        <p:spPr>
          <a:xfrm>
            <a:off x="8988552" y="3995928"/>
            <a:ext cx="2560320" cy="566928"/>
          </a:xfrm>
          <a:prstGeom prst="rect">
            <a:avLst/>
          </a:prstGeom>
          <a:noFill/>
          <a:ln/>
        </p:spPr>
        <p:txBody>
          <a:bodyPr wrap="square" lIns="0" tIns="0" rIns="0" bIns="0" rtlCol="0" anchor="ctr"/>
          <a:lstStyle/>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Provide a desktop</a:t>
            </a:r>
            <a:endParaRPr lang="en-US" sz="1500" dirty="0"/>
          </a:p>
          <a:p>
            <a:pPr indent="0" marL="0">
              <a:lnSpc>
                <a:spcPts val="1900"/>
              </a:lnSpc>
              <a:buNone/>
            </a:pPr>
            <a:r>
              <a:rPr lang="en-US" sz="1500" b="1" dirty="0">
                <a:solidFill>
                  <a:srgbClr val="FFFFFF"/>
                </a:solidFill>
                <a:latin typeface="Calibri" pitchFamily="34" charset="0"/>
                <a:ea typeface="Calibri" pitchFamily="34" charset="-122"/>
                <a:cs typeface="Calibri" pitchFamily="34" charset="-120"/>
              </a:rPr>
              <a:t>diagnostic application</a:t>
            </a:r>
            <a:endParaRPr lang="en-US" sz="1500" dirty="0"/>
          </a:p>
        </p:txBody>
      </p:sp>
      <p:sp>
        <p:nvSpPr>
          <p:cNvPr id="44" name="Text 41"/>
          <p:cNvSpPr txBox="1"/>
          <p:nvPr/>
        </p:nvSpPr>
        <p:spPr>
          <a:xfrm>
            <a:off x="8421624" y="4727448"/>
            <a:ext cx="3099816" cy="777240"/>
          </a:xfrm>
          <a:prstGeom prst="rect">
            <a:avLst/>
          </a:prstGeom>
          <a:noFill/>
          <a:ln/>
        </p:spPr>
        <p:txBody>
          <a:bodyPr wrap="square" lIns="0" tIns="0" rIns="0" bIns="0" rtlCol="0" anchor="ctr"/>
          <a:lstStyle/>
          <a:p>
            <a:pPr indent="0" marL="0">
              <a:lnSpc>
                <a:spcPts val="1600"/>
              </a:lnSpc>
              <a:buNone/>
            </a:pPr>
            <a:r>
              <a:rPr lang="en-US" sz="1150" dirty="0">
                <a:solidFill>
                  <a:srgbClr val="A9BCDB"/>
                </a:solidFill>
                <a:latin typeface="Calibri" pitchFamily="34" charset="0"/>
                <a:ea typeface="Calibri" pitchFamily="34" charset="-122"/>
                <a:cs typeface="Calibri" pitchFamily="34" charset="-120"/>
              </a:rPr>
              <a:t>A simple Tkinter desktop front end over the Diagnosis Engine.</a:t>
            </a:r>
            <a:endParaRPr lang="en-US" sz="1150" dirty="0"/>
          </a:p>
        </p:txBody>
      </p:sp>
      <p:sp>
        <p:nvSpPr>
          <p:cNvPr id="45" name="Shape 42"/>
          <p:cNvSpPr/>
          <p:nvPr/>
        </p:nvSpPr>
        <p:spPr>
          <a:xfrm>
            <a:off x="8421624" y="5468112"/>
            <a:ext cx="1188720" cy="219456"/>
          </a:xfrm>
          <a:prstGeom prst="roundRect">
            <a:avLst>
              <a:gd name="adj" fmla="val 50000"/>
            </a:avLst>
          </a:prstGeom>
          <a:solidFill>
            <a:srgbClr val="0C1A30"/>
          </a:solidFill>
          <a:ln w="12700">
            <a:solidFill>
              <a:srgbClr val="2DD4A7"/>
            </a:solidFill>
            <a:prstDash val="solid"/>
          </a:ln>
        </p:spPr>
      </p:sp>
      <p:sp>
        <p:nvSpPr>
          <p:cNvPr id="46" name="Text 43"/>
          <p:cNvSpPr txBox="1"/>
          <p:nvPr/>
        </p:nvSpPr>
        <p:spPr>
          <a:xfrm>
            <a:off x="8421624" y="5468112"/>
            <a:ext cx="1188720" cy="219456"/>
          </a:xfrm>
          <a:prstGeom prst="rect">
            <a:avLst/>
          </a:prstGeom>
          <a:noFill/>
          <a:ln/>
        </p:spPr>
        <p:txBody>
          <a:bodyPr wrap="square" lIns="0" tIns="0" rIns="0" bIns="0" rtlCol="0" anchor="ctr"/>
          <a:lstStyle/>
          <a:p>
            <a:pPr algn="ctr" indent="0" marL="0">
              <a:buNone/>
            </a:pPr>
            <a:r>
              <a:rPr lang="en-US" sz="850" b="1" dirty="0">
                <a:solidFill>
                  <a:srgbClr val="2DD4A7"/>
                </a:solidFill>
                <a:latin typeface="Calibri" pitchFamily="34" charset="0"/>
                <a:ea typeface="Calibri" pitchFamily="34" charset="-122"/>
                <a:cs typeface="Calibri" pitchFamily="34" charset="-120"/>
              </a:rPr>
              <a:t>IMPLEMENTED</a:t>
            </a:r>
            <a:endParaRPr lang="en-US" sz="850" dirty="0"/>
          </a:p>
        </p:txBody>
      </p:sp>
      <p:sp>
        <p:nvSpPr>
          <p:cNvPr id="47" name="Text 44"/>
          <p:cNvSpPr txBox="1"/>
          <p:nvPr/>
        </p:nvSpPr>
        <p:spPr>
          <a:xfrm>
            <a:off x="502920" y="6236208"/>
            <a:ext cx="11185855" cy="274320"/>
          </a:xfrm>
          <a:prstGeom prst="rect">
            <a:avLst/>
          </a:prstGeom>
          <a:noFill/>
          <a:ln/>
        </p:spPr>
        <p:txBody>
          <a:bodyPr wrap="square" lIns="0" tIns="0" rIns="0" bIns="0" rtlCol="0" anchor="ctr"/>
          <a:lstStyle/>
          <a:p>
            <a:pPr indent="0" marL="0">
              <a:buNone/>
            </a:pPr>
            <a:r>
              <a:rPr lang="en-US" sz="1050" dirty="0">
                <a:solidFill>
                  <a:srgbClr val="6E86AE"/>
                </a:solidFill>
                <a:latin typeface="Calibri" pitchFamily="34" charset="0"/>
                <a:ea typeface="Calibri" pitchFamily="34" charset="-122"/>
                <a:cs typeface="Calibri" pitchFamily="34" charset="-120"/>
              </a:rPr>
              <a:t>Solid card = implemented in the current prototype        Dashed card = part of the complete proposed system</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1A30"/>
        </a:solidFill>
      </p:bgPr>
    </p:bg>
    <p:spTree>
      <p:nvGrpSpPr>
        <p:cNvPr id="1" name=""/>
        <p:cNvGrpSpPr/>
        <p:nvPr/>
      </p:nvGrpSpPr>
      <p:grpSpPr>
        <a:xfrm>
          <a:off x="0" y="0"/>
          <a:ext cx="0" cy="0"/>
          <a:chOff x="0" y="0"/>
          <a:chExt cx="0" cy="0"/>
        </a:xfrm>
      </p:grpSpPr>
      <p:sp>
        <p:nvSpPr>
          <p:cNvPr id="3" name="Text 0"/>
          <p:cNvSpPr txBox="1"/>
          <p:nvPr/>
        </p:nvSpPr>
        <p:spPr>
          <a:xfrm>
            <a:off x="502920" y="292608"/>
            <a:ext cx="10058400" cy="237744"/>
          </a:xfrm>
          <a:prstGeom prst="rect">
            <a:avLst/>
          </a:prstGeom>
          <a:noFill/>
          <a:ln/>
        </p:spPr>
        <p:txBody>
          <a:bodyPr wrap="square" lIns="0" tIns="0" rIns="0" bIns="0" rtlCol="0" anchor="ctr"/>
          <a:lstStyle/>
          <a:p>
            <a:pPr indent="0" marL="0">
              <a:buNone/>
            </a:pPr>
            <a:r>
              <a:rPr lang="en-US" sz="1100" b="1" spc="200" kern="0" dirty="0">
                <a:solidFill>
                  <a:srgbClr val="4F8EF7"/>
                </a:solidFill>
                <a:latin typeface="Calibri" pitchFamily="34" charset="0"/>
                <a:ea typeface="Calibri" pitchFamily="34" charset="-122"/>
                <a:cs typeface="Calibri" pitchFamily="34" charset="-120"/>
              </a:rPr>
              <a:t>SLIDE 4 — MAIN ARCHITECTURE</a:t>
            </a:r>
            <a:endParaRPr lang="en-US" sz="1100" dirty="0"/>
          </a:p>
        </p:txBody>
      </p:sp>
      <p:sp>
        <p:nvSpPr>
          <p:cNvPr id="4"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Complete Proposed System Architecture</a:t>
            </a:r>
            <a:endParaRPr lang="en-US" sz="3000" dirty="0"/>
          </a:p>
        </p:txBody>
      </p:sp>
      <p:sp>
        <p:nvSpPr>
          <p:cNvPr id="5" name="Shape 2"/>
          <p:cNvSpPr/>
          <p:nvPr/>
        </p:nvSpPr>
        <p:spPr>
          <a:xfrm>
            <a:off x="5135728" y="1225296"/>
            <a:ext cx="1920240" cy="347472"/>
          </a:xfrm>
          <a:prstGeom prst="roundRect">
            <a:avLst>
              <a:gd name="adj" fmla="val 21053"/>
            </a:avLst>
          </a:prstGeom>
          <a:solidFill>
            <a:srgbClr val="1E3560"/>
          </a:solidFill>
          <a:ln w="12700">
            <a:solidFill>
              <a:srgbClr val="2A4374"/>
            </a:solidFill>
            <a:prstDash val="solid"/>
          </a:ln>
        </p:spPr>
      </p:sp>
      <p:sp>
        <p:nvSpPr>
          <p:cNvPr id="6" name="Text 3"/>
          <p:cNvSpPr txBox="1"/>
          <p:nvPr/>
        </p:nvSpPr>
        <p:spPr>
          <a:xfrm>
            <a:off x="5190592" y="1225296"/>
            <a:ext cx="1810512" cy="34747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USER</a:t>
            </a:r>
            <a:endParaRPr lang="en-US" sz="1150" dirty="0"/>
          </a:p>
        </p:txBody>
      </p:sp>
      <p:sp>
        <p:nvSpPr>
          <p:cNvPr id="7" name="Shape 4"/>
          <p:cNvSpPr/>
          <p:nvPr/>
        </p:nvSpPr>
        <p:spPr>
          <a:xfrm>
            <a:off x="6031840" y="1609344"/>
            <a:ext cx="128016" cy="182880"/>
          </a:xfrm>
          <a:prstGeom prst="downArrow">
            <a:avLst/>
          </a:prstGeom>
          <a:solidFill>
            <a:srgbClr val="2B5FC4"/>
          </a:solidFill>
          <a:ln w="12700">
            <a:solidFill>
              <a:srgbClr val="2B5FC4"/>
            </a:solidFill>
            <a:prstDash val="solid"/>
          </a:ln>
        </p:spPr>
      </p:sp>
      <p:sp>
        <p:nvSpPr>
          <p:cNvPr id="8" name="Shape 5"/>
          <p:cNvSpPr/>
          <p:nvPr/>
        </p:nvSpPr>
        <p:spPr>
          <a:xfrm>
            <a:off x="3947008" y="1828800"/>
            <a:ext cx="4297680" cy="384048"/>
          </a:xfrm>
          <a:prstGeom prst="roundRect">
            <a:avLst>
              <a:gd name="adj" fmla="val 19048"/>
            </a:avLst>
          </a:prstGeom>
          <a:solidFill>
            <a:srgbClr val="16294A"/>
          </a:solidFill>
          <a:ln w="12700">
            <a:solidFill>
              <a:srgbClr val="2A4374"/>
            </a:solidFill>
            <a:prstDash val="solid"/>
          </a:ln>
        </p:spPr>
      </p:sp>
      <p:sp>
        <p:nvSpPr>
          <p:cNvPr id="9" name="Text 6"/>
          <p:cNvSpPr txBox="1"/>
          <p:nvPr/>
        </p:nvSpPr>
        <p:spPr>
          <a:xfrm>
            <a:off x="4001872" y="1828800"/>
            <a:ext cx="4187952"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DESKTOP GUI  (Tkinter)  —  presentation layer</a:t>
            </a:r>
            <a:endParaRPr lang="en-US" sz="1150" dirty="0"/>
          </a:p>
        </p:txBody>
      </p:sp>
      <p:sp>
        <p:nvSpPr>
          <p:cNvPr id="10" name="Shape 7"/>
          <p:cNvSpPr/>
          <p:nvPr/>
        </p:nvSpPr>
        <p:spPr>
          <a:xfrm>
            <a:off x="6031840" y="2249424"/>
            <a:ext cx="128016" cy="182880"/>
          </a:xfrm>
          <a:prstGeom prst="downArrow">
            <a:avLst/>
          </a:prstGeom>
          <a:solidFill>
            <a:srgbClr val="2B5FC4"/>
          </a:solidFill>
          <a:ln w="12700">
            <a:solidFill>
              <a:srgbClr val="2B5FC4"/>
            </a:solidFill>
            <a:prstDash val="solid"/>
          </a:ln>
        </p:spPr>
      </p:sp>
      <p:sp>
        <p:nvSpPr>
          <p:cNvPr id="11" name="Shape 8"/>
          <p:cNvSpPr/>
          <p:nvPr/>
        </p:nvSpPr>
        <p:spPr>
          <a:xfrm>
            <a:off x="2103120" y="2468880"/>
            <a:ext cx="7982712" cy="457200"/>
          </a:xfrm>
          <a:prstGeom prst="roundRect">
            <a:avLst>
              <a:gd name="adj" fmla="val 16000"/>
            </a:avLst>
          </a:prstGeom>
          <a:solidFill>
            <a:srgbClr val="2B5FC4"/>
          </a:solidFill>
          <a:ln w="12700">
            <a:solidFill>
              <a:srgbClr val="4F8EF7"/>
            </a:solidFill>
            <a:prstDash val="solid"/>
          </a:ln>
          <a:effectLst>
            <a:outerShdw sx="100000" sy="100000" kx="0" ky="0" algn="bl" rotWithShape="0" blurRad="101600" dist="25400" dir="5400000">
              <a:srgbClr val="000000">
                <a:alpha val="35000"/>
              </a:srgbClr>
            </a:outerShdw>
          </a:effectLst>
        </p:spPr>
      </p:sp>
      <p:sp>
        <p:nvSpPr>
          <p:cNvPr id="12" name="Text 9"/>
          <p:cNvSpPr txBox="1"/>
          <p:nvPr/>
        </p:nvSpPr>
        <p:spPr>
          <a:xfrm>
            <a:off x="2103120" y="2468880"/>
            <a:ext cx="7982712"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DIAGNOSIS ENGINE   —   validation  ·  analyzer coordination  ·  evidence collection</a:t>
            </a:r>
            <a:endParaRPr lang="en-US" sz="1250" dirty="0"/>
          </a:p>
        </p:txBody>
      </p:sp>
      <p:sp>
        <p:nvSpPr>
          <p:cNvPr id="13" name="Shape 10"/>
          <p:cNvSpPr/>
          <p:nvPr/>
        </p:nvSpPr>
        <p:spPr>
          <a:xfrm>
            <a:off x="6086704" y="2926080"/>
            <a:ext cx="18288" cy="201168"/>
          </a:xfrm>
          <a:prstGeom prst="rect">
            <a:avLst/>
          </a:prstGeom>
          <a:solidFill>
            <a:srgbClr val="2B5FC4"/>
          </a:solidFill>
          <a:ln w="12700">
            <a:solidFill>
              <a:srgbClr val="333333"/>
            </a:solidFill>
            <a:prstDash val="solid"/>
          </a:ln>
        </p:spPr>
      </p:sp>
      <p:sp>
        <p:nvSpPr>
          <p:cNvPr id="14" name="Shape 11"/>
          <p:cNvSpPr/>
          <p:nvPr/>
        </p:nvSpPr>
        <p:spPr>
          <a:xfrm>
            <a:off x="1953616" y="3118104"/>
            <a:ext cx="8284464" cy="18288"/>
          </a:xfrm>
          <a:prstGeom prst="rect">
            <a:avLst/>
          </a:prstGeom>
          <a:solidFill>
            <a:srgbClr val="2B5FC4"/>
          </a:solidFill>
          <a:ln w="12700">
            <a:solidFill>
              <a:srgbClr val="333333"/>
            </a:solidFill>
            <a:prstDash val="solid"/>
          </a:ln>
        </p:spPr>
      </p:sp>
      <p:sp>
        <p:nvSpPr>
          <p:cNvPr id="15" name="Shape 12"/>
          <p:cNvSpPr/>
          <p:nvPr/>
        </p:nvSpPr>
        <p:spPr>
          <a:xfrm>
            <a:off x="1889608" y="3127248"/>
            <a:ext cx="128016" cy="292608"/>
          </a:xfrm>
          <a:prstGeom prst="downArrow">
            <a:avLst/>
          </a:prstGeom>
          <a:solidFill>
            <a:srgbClr val="2B5FC4"/>
          </a:solidFill>
          <a:ln w="12700">
            <a:solidFill>
              <a:srgbClr val="2B5FC4"/>
            </a:solidFill>
            <a:prstDash val="solid"/>
          </a:ln>
        </p:spPr>
      </p:sp>
      <p:sp>
        <p:nvSpPr>
          <p:cNvPr id="16" name="Shape 13"/>
          <p:cNvSpPr/>
          <p:nvPr/>
        </p:nvSpPr>
        <p:spPr>
          <a:xfrm>
            <a:off x="4651096" y="3127248"/>
            <a:ext cx="128016" cy="292608"/>
          </a:xfrm>
          <a:prstGeom prst="downArrow">
            <a:avLst/>
          </a:prstGeom>
          <a:solidFill>
            <a:srgbClr val="2B5FC4"/>
          </a:solidFill>
          <a:ln w="12700">
            <a:solidFill>
              <a:srgbClr val="2B5FC4"/>
            </a:solidFill>
            <a:prstDash val="solid"/>
          </a:ln>
        </p:spPr>
      </p:sp>
      <p:sp>
        <p:nvSpPr>
          <p:cNvPr id="17" name="Shape 14"/>
          <p:cNvSpPr/>
          <p:nvPr/>
        </p:nvSpPr>
        <p:spPr>
          <a:xfrm>
            <a:off x="7412584" y="3127248"/>
            <a:ext cx="128016" cy="292608"/>
          </a:xfrm>
          <a:prstGeom prst="downArrow">
            <a:avLst/>
          </a:prstGeom>
          <a:solidFill>
            <a:srgbClr val="2B5FC4"/>
          </a:solidFill>
          <a:ln w="12700">
            <a:solidFill>
              <a:srgbClr val="2B5FC4"/>
            </a:solidFill>
            <a:prstDash val="solid"/>
          </a:ln>
        </p:spPr>
      </p:sp>
      <p:sp>
        <p:nvSpPr>
          <p:cNvPr id="18" name="Shape 15"/>
          <p:cNvSpPr/>
          <p:nvPr/>
        </p:nvSpPr>
        <p:spPr>
          <a:xfrm>
            <a:off x="10174072" y="3127248"/>
            <a:ext cx="128016" cy="292608"/>
          </a:xfrm>
          <a:prstGeom prst="downArrow">
            <a:avLst/>
          </a:prstGeom>
          <a:solidFill>
            <a:srgbClr val="2B5FC4"/>
          </a:solidFill>
          <a:ln w="12700">
            <a:solidFill>
              <a:srgbClr val="2B5FC4"/>
            </a:solidFill>
            <a:prstDash val="solid"/>
          </a:ln>
        </p:spPr>
      </p:sp>
      <p:sp>
        <p:nvSpPr>
          <p:cNvPr id="19" name="Shape 16"/>
          <p:cNvSpPr/>
          <p:nvPr/>
        </p:nvSpPr>
        <p:spPr>
          <a:xfrm>
            <a:off x="710032" y="3419856"/>
            <a:ext cx="2487168" cy="1316736"/>
          </a:xfrm>
          <a:prstGeom prst="roundRect">
            <a:avLst>
              <a:gd name="adj" fmla="val 5556"/>
            </a:avLst>
          </a:prstGeom>
          <a:solidFill>
            <a:srgbClr val="1E3560"/>
          </a:solidFill>
          <a:ln w="12700">
            <a:solidFill>
              <a:srgbClr val="4F8EF7"/>
            </a:solidFill>
            <a:prstDash val="solid"/>
          </a:ln>
          <a:effectLst>
            <a:outerShdw sx="100000" sy="100000" kx="0" ky="0" algn="bl" rotWithShape="0" blurRad="101600" dist="25400" dir="5400000">
              <a:srgbClr val="000000">
                <a:alpha val="35000"/>
              </a:srgbClr>
            </a:outerShdw>
          </a:effectLst>
        </p:spPr>
      </p:sp>
      <p:sp>
        <p:nvSpPr>
          <p:cNvPr id="20" name="Text 17"/>
          <p:cNvSpPr txBox="1"/>
          <p:nvPr/>
        </p:nvSpPr>
        <p:spPr>
          <a:xfrm>
            <a:off x="801472" y="3511296"/>
            <a:ext cx="2304288" cy="457200"/>
          </a:xfrm>
          <a:prstGeom prst="rect">
            <a:avLst/>
          </a:prstGeom>
          <a:noFill/>
          <a:ln/>
        </p:spPr>
        <p:txBody>
          <a:bodyPr wrap="square" lIns="0" tIns="0" rIns="0" bIns="0" rtlCol="0" anchor="ctr"/>
          <a:lstStyle/>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1.  PROCESS / LOCK</a:t>
            </a:r>
            <a:endParaRPr lang="en-US" sz="1150" dirty="0"/>
          </a:p>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ANALYZER</a:t>
            </a:r>
            <a:endParaRPr lang="en-US" sz="1150" dirty="0"/>
          </a:p>
        </p:txBody>
      </p:sp>
      <p:sp>
        <p:nvSpPr>
          <p:cNvPr id="21" name="Text 18"/>
          <p:cNvSpPr txBox="1"/>
          <p:nvPr/>
        </p:nvSpPr>
        <p:spPr>
          <a:xfrm>
            <a:off x="801472" y="3968496"/>
            <a:ext cx="2304288" cy="365760"/>
          </a:xfrm>
          <a:prstGeom prst="rect">
            <a:avLst/>
          </a:prstGeom>
          <a:noFill/>
          <a:ln/>
        </p:spPr>
        <p:txBody>
          <a:bodyPr wrap="square" lIns="0" tIns="0" rIns="0" bIns="0" rtlCol="0" anchor="ctr"/>
          <a:lstStyle/>
          <a:p>
            <a:pPr algn="ctr" indent="0" marL="0">
              <a:lnSpc>
                <a:spcPts val="1200"/>
              </a:lnSpc>
              <a:buNone/>
            </a:pPr>
            <a:r>
              <a:rPr lang="en-US" sz="900" dirty="0">
                <a:solidFill>
                  <a:srgbClr val="A9BCDB"/>
                </a:solidFill>
                <a:latin typeface="Calibri" pitchFamily="34" charset="0"/>
                <a:ea typeface="Calibri" pitchFamily="34" charset="-122"/>
                <a:cs typeface="Calibri" pitchFamily="34" charset="-120"/>
              </a:rPr>
              <a:t>Restart Manager API</a:t>
            </a:r>
            <a:endParaRPr lang="en-US" sz="900" dirty="0"/>
          </a:p>
          <a:p>
            <a:pPr algn="ctr" indent="0" marL="0">
              <a:lnSpc>
                <a:spcPts val="1200"/>
              </a:lnSpc>
              <a:buNone/>
            </a:pPr>
            <a:r>
              <a:rPr lang="en-US" sz="900" dirty="0">
                <a:solidFill>
                  <a:srgbClr val="A9BCDB"/>
                </a:solidFill>
                <a:latin typeface="Calibri" pitchFamily="34" charset="0"/>
                <a:ea typeface="Calibri" pitchFamily="34" charset="-122"/>
                <a:cs typeface="Calibri" pitchFamily="34" charset="-120"/>
              </a:rPr>
              <a:t>process · PID · path</a:t>
            </a:r>
            <a:endParaRPr lang="en-US" sz="900" dirty="0"/>
          </a:p>
        </p:txBody>
      </p:sp>
      <p:sp>
        <p:nvSpPr>
          <p:cNvPr id="22" name="Shape 19"/>
          <p:cNvSpPr/>
          <p:nvPr/>
        </p:nvSpPr>
        <p:spPr>
          <a:xfrm>
            <a:off x="1386688" y="4389120"/>
            <a:ext cx="1133856" cy="219456"/>
          </a:xfrm>
          <a:prstGeom prst="roundRect">
            <a:avLst>
              <a:gd name="adj" fmla="val 50000"/>
            </a:avLst>
          </a:prstGeom>
          <a:solidFill>
            <a:srgbClr val="0C1A30"/>
          </a:solidFill>
          <a:ln w="12700">
            <a:solidFill>
              <a:srgbClr val="2DD4A7"/>
            </a:solidFill>
            <a:prstDash val="solid"/>
          </a:ln>
        </p:spPr>
      </p:sp>
      <p:sp>
        <p:nvSpPr>
          <p:cNvPr id="23" name="Text 20"/>
          <p:cNvSpPr txBox="1"/>
          <p:nvPr/>
        </p:nvSpPr>
        <p:spPr>
          <a:xfrm>
            <a:off x="1386688" y="4389120"/>
            <a:ext cx="1133856" cy="219456"/>
          </a:xfrm>
          <a:prstGeom prst="rect">
            <a:avLst/>
          </a:prstGeom>
          <a:noFill/>
          <a:ln/>
        </p:spPr>
        <p:txBody>
          <a:bodyPr wrap="square" lIns="0" tIns="0" rIns="0" bIns="0" rtlCol="0" anchor="ctr"/>
          <a:lstStyle/>
          <a:p>
            <a:pPr algn="ctr" indent="0" marL="0">
              <a:buNone/>
            </a:pPr>
            <a:r>
              <a:rPr lang="en-US" sz="850" b="1" dirty="0">
                <a:solidFill>
                  <a:srgbClr val="2DD4A7"/>
                </a:solidFill>
                <a:latin typeface="Calibri" pitchFamily="34" charset="0"/>
                <a:ea typeface="Calibri" pitchFamily="34" charset="-122"/>
                <a:cs typeface="Calibri" pitchFamily="34" charset="-120"/>
              </a:rPr>
              <a:t>IMPLEMENTED</a:t>
            </a:r>
            <a:endParaRPr lang="en-US" sz="850" dirty="0"/>
          </a:p>
        </p:txBody>
      </p:sp>
      <p:sp>
        <p:nvSpPr>
          <p:cNvPr id="24" name="Shape 21"/>
          <p:cNvSpPr/>
          <p:nvPr/>
        </p:nvSpPr>
        <p:spPr>
          <a:xfrm>
            <a:off x="3471520" y="3419856"/>
            <a:ext cx="2487168" cy="1316736"/>
          </a:xfrm>
          <a:prstGeom prst="roundRect">
            <a:avLst>
              <a:gd name="adj" fmla="val 5556"/>
            </a:avLst>
          </a:prstGeom>
          <a:solidFill>
            <a:srgbClr val="1E3560"/>
          </a:solidFill>
          <a:ln w="12700">
            <a:solidFill>
              <a:srgbClr val="4F8EF7"/>
            </a:solidFill>
            <a:prstDash val="solid"/>
          </a:ln>
          <a:effectLst>
            <a:outerShdw sx="100000" sy="100000" kx="0" ky="0" algn="bl" rotWithShape="0" blurRad="101600" dist="25400" dir="5400000">
              <a:srgbClr val="000000">
                <a:alpha val="35000"/>
              </a:srgbClr>
            </a:outerShdw>
          </a:effectLst>
        </p:spPr>
      </p:sp>
      <p:sp>
        <p:nvSpPr>
          <p:cNvPr id="25" name="Text 22"/>
          <p:cNvSpPr txBox="1"/>
          <p:nvPr/>
        </p:nvSpPr>
        <p:spPr>
          <a:xfrm>
            <a:off x="3562960" y="3511296"/>
            <a:ext cx="2304288" cy="457200"/>
          </a:xfrm>
          <a:prstGeom prst="rect">
            <a:avLst/>
          </a:prstGeom>
          <a:noFill/>
          <a:ln/>
        </p:spPr>
        <p:txBody>
          <a:bodyPr wrap="square" lIns="0" tIns="0" rIns="0" bIns="0" rtlCol="0" anchor="ctr"/>
          <a:lstStyle/>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2.  PERMISSION</a:t>
            </a:r>
            <a:endParaRPr lang="en-US" sz="1150" dirty="0"/>
          </a:p>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ANALYZER</a:t>
            </a:r>
            <a:endParaRPr lang="en-US" sz="1150" dirty="0"/>
          </a:p>
        </p:txBody>
      </p:sp>
      <p:sp>
        <p:nvSpPr>
          <p:cNvPr id="26" name="Text 23"/>
          <p:cNvSpPr txBox="1"/>
          <p:nvPr/>
        </p:nvSpPr>
        <p:spPr>
          <a:xfrm>
            <a:off x="3562960" y="3968496"/>
            <a:ext cx="2304288" cy="365760"/>
          </a:xfrm>
          <a:prstGeom prst="rect">
            <a:avLst/>
          </a:prstGeom>
          <a:noFill/>
          <a:ln/>
        </p:spPr>
        <p:txBody>
          <a:bodyPr wrap="square" lIns="0" tIns="0" rIns="0" bIns="0" rtlCol="0" anchor="ctr"/>
          <a:lstStyle/>
          <a:p>
            <a:pPr algn="ctr" indent="0" marL="0">
              <a:lnSpc>
                <a:spcPts val="1200"/>
              </a:lnSpc>
              <a:buNone/>
            </a:pPr>
            <a:r>
              <a:rPr lang="en-US" sz="900" dirty="0">
                <a:solidFill>
                  <a:srgbClr val="A9BCDB"/>
                </a:solidFill>
                <a:latin typeface="Calibri" pitchFamily="34" charset="0"/>
                <a:ea typeface="Calibri" pitchFamily="34" charset="-122"/>
                <a:cs typeface="Calibri" pitchFamily="34" charset="-120"/>
              </a:rPr>
              <a:t>owner · current user</a:t>
            </a:r>
            <a:endParaRPr lang="en-US" sz="900" dirty="0"/>
          </a:p>
          <a:p>
            <a:pPr algn="ctr" indent="0" marL="0">
              <a:lnSpc>
                <a:spcPts val="1200"/>
              </a:lnSpc>
              <a:buNone/>
            </a:pPr>
            <a:r>
              <a:rPr lang="en-US" sz="900" dirty="0">
                <a:solidFill>
                  <a:srgbClr val="A9BCDB"/>
                </a:solidFill>
                <a:latin typeface="Calibri" pitchFamily="34" charset="0"/>
                <a:ea typeface="Calibri" pitchFamily="34" charset="-122"/>
                <a:cs typeface="Calibri" pitchFamily="34" charset="-120"/>
              </a:rPr>
              <a:t>R / W / X / D · ACL</a:t>
            </a:r>
            <a:endParaRPr lang="en-US" sz="900" dirty="0"/>
          </a:p>
        </p:txBody>
      </p:sp>
      <p:sp>
        <p:nvSpPr>
          <p:cNvPr id="27" name="Shape 24"/>
          <p:cNvSpPr/>
          <p:nvPr/>
        </p:nvSpPr>
        <p:spPr>
          <a:xfrm>
            <a:off x="4148176" y="4389120"/>
            <a:ext cx="1133856" cy="219456"/>
          </a:xfrm>
          <a:prstGeom prst="roundRect">
            <a:avLst>
              <a:gd name="adj" fmla="val 50000"/>
            </a:avLst>
          </a:prstGeom>
          <a:solidFill>
            <a:srgbClr val="0C1A30"/>
          </a:solidFill>
          <a:ln w="12700">
            <a:solidFill>
              <a:srgbClr val="2DD4A7"/>
            </a:solidFill>
            <a:prstDash val="solid"/>
          </a:ln>
        </p:spPr>
      </p:sp>
      <p:sp>
        <p:nvSpPr>
          <p:cNvPr id="28" name="Text 25"/>
          <p:cNvSpPr txBox="1"/>
          <p:nvPr/>
        </p:nvSpPr>
        <p:spPr>
          <a:xfrm>
            <a:off x="4148176" y="4389120"/>
            <a:ext cx="1133856" cy="219456"/>
          </a:xfrm>
          <a:prstGeom prst="rect">
            <a:avLst/>
          </a:prstGeom>
          <a:noFill/>
          <a:ln/>
        </p:spPr>
        <p:txBody>
          <a:bodyPr wrap="square" lIns="0" tIns="0" rIns="0" bIns="0" rtlCol="0" anchor="ctr"/>
          <a:lstStyle/>
          <a:p>
            <a:pPr algn="ctr" indent="0" marL="0">
              <a:buNone/>
            </a:pPr>
            <a:r>
              <a:rPr lang="en-US" sz="850" b="1" dirty="0">
                <a:solidFill>
                  <a:srgbClr val="2DD4A7"/>
                </a:solidFill>
                <a:latin typeface="Calibri" pitchFamily="34" charset="0"/>
                <a:ea typeface="Calibri" pitchFamily="34" charset="-122"/>
                <a:cs typeface="Calibri" pitchFamily="34" charset="-120"/>
              </a:rPr>
              <a:t>IMPLEMENTED</a:t>
            </a:r>
            <a:endParaRPr lang="en-US" sz="850" dirty="0"/>
          </a:p>
        </p:txBody>
      </p:sp>
      <p:sp>
        <p:nvSpPr>
          <p:cNvPr id="29" name="Shape 26"/>
          <p:cNvSpPr/>
          <p:nvPr/>
        </p:nvSpPr>
        <p:spPr>
          <a:xfrm>
            <a:off x="6233008" y="3419856"/>
            <a:ext cx="2487168" cy="1316736"/>
          </a:xfrm>
          <a:prstGeom prst="roundRect">
            <a:avLst>
              <a:gd name="adj" fmla="val 5556"/>
            </a:avLst>
          </a:prstGeom>
          <a:solidFill>
            <a:srgbClr val="0C1A30"/>
          </a:solidFill>
          <a:ln w="12700">
            <a:solidFill>
              <a:srgbClr val="F5A524"/>
            </a:solidFill>
            <a:prstDash val="dash"/>
          </a:ln>
        </p:spPr>
      </p:sp>
      <p:sp>
        <p:nvSpPr>
          <p:cNvPr id="30" name="Text 27"/>
          <p:cNvSpPr txBox="1"/>
          <p:nvPr/>
        </p:nvSpPr>
        <p:spPr>
          <a:xfrm>
            <a:off x="6324448" y="3511296"/>
            <a:ext cx="2304288" cy="457200"/>
          </a:xfrm>
          <a:prstGeom prst="rect">
            <a:avLst/>
          </a:prstGeom>
          <a:noFill/>
          <a:ln/>
        </p:spPr>
        <p:txBody>
          <a:bodyPr wrap="square" lIns="0" tIns="0" rIns="0" bIns="0" rtlCol="0" anchor="ctr"/>
          <a:lstStyle/>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3.  FILE ATTRIBUTE</a:t>
            </a:r>
            <a:endParaRPr lang="en-US" sz="1150" dirty="0"/>
          </a:p>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ANALYZER</a:t>
            </a:r>
            <a:endParaRPr lang="en-US" sz="1150" dirty="0"/>
          </a:p>
        </p:txBody>
      </p:sp>
      <p:sp>
        <p:nvSpPr>
          <p:cNvPr id="31" name="Text 28"/>
          <p:cNvSpPr txBox="1"/>
          <p:nvPr/>
        </p:nvSpPr>
        <p:spPr>
          <a:xfrm>
            <a:off x="6324448" y="3968496"/>
            <a:ext cx="2304288" cy="365760"/>
          </a:xfrm>
          <a:prstGeom prst="rect">
            <a:avLst/>
          </a:prstGeom>
          <a:noFill/>
          <a:ln/>
        </p:spPr>
        <p:txBody>
          <a:bodyPr wrap="square" lIns="0" tIns="0" rIns="0" bIns="0" rtlCol="0" anchor="ctr"/>
          <a:lstStyle/>
          <a:p>
            <a:pPr algn="ctr" indent="0" marL="0">
              <a:lnSpc>
                <a:spcPts val="1200"/>
              </a:lnSpc>
              <a:buNone/>
            </a:pPr>
            <a:r>
              <a:rPr lang="en-US" sz="900" dirty="0">
                <a:solidFill>
                  <a:srgbClr val="A9BCDB"/>
                </a:solidFill>
                <a:latin typeface="Calibri" pitchFamily="34" charset="0"/>
                <a:ea typeface="Calibri" pitchFamily="34" charset="-122"/>
                <a:cs typeface="Calibri" pitchFamily="34" charset="-120"/>
              </a:rPr>
              <a:t>read-only · hidden</a:t>
            </a:r>
            <a:endParaRPr lang="en-US" sz="900" dirty="0"/>
          </a:p>
          <a:p>
            <a:pPr algn="ctr" indent="0" marL="0">
              <a:lnSpc>
                <a:spcPts val="1200"/>
              </a:lnSpc>
              <a:buNone/>
            </a:pPr>
            <a:r>
              <a:rPr lang="en-US" sz="900" dirty="0">
                <a:solidFill>
                  <a:srgbClr val="A9BCDB"/>
                </a:solidFill>
                <a:latin typeface="Calibri" pitchFamily="34" charset="0"/>
                <a:ea typeface="Calibri" pitchFamily="34" charset="-122"/>
                <a:cs typeface="Calibri" pitchFamily="34" charset="-120"/>
              </a:rPr>
              <a:t>system · archive</a:t>
            </a:r>
            <a:endParaRPr lang="en-US" sz="900" dirty="0"/>
          </a:p>
        </p:txBody>
      </p:sp>
      <p:sp>
        <p:nvSpPr>
          <p:cNvPr id="32" name="Shape 29"/>
          <p:cNvSpPr/>
          <p:nvPr/>
        </p:nvSpPr>
        <p:spPr>
          <a:xfrm>
            <a:off x="6909664" y="4389120"/>
            <a:ext cx="1133856" cy="219456"/>
          </a:xfrm>
          <a:prstGeom prst="roundRect">
            <a:avLst>
              <a:gd name="adj" fmla="val 50000"/>
            </a:avLst>
          </a:prstGeom>
          <a:solidFill>
            <a:srgbClr val="0C1A30"/>
          </a:solidFill>
          <a:ln w="12700">
            <a:solidFill>
              <a:srgbClr val="F5A524"/>
            </a:solidFill>
            <a:prstDash val="solid"/>
          </a:ln>
        </p:spPr>
      </p:sp>
      <p:sp>
        <p:nvSpPr>
          <p:cNvPr id="33" name="Text 30"/>
          <p:cNvSpPr txBox="1"/>
          <p:nvPr/>
        </p:nvSpPr>
        <p:spPr>
          <a:xfrm>
            <a:off x="6909664" y="4389120"/>
            <a:ext cx="1133856" cy="219456"/>
          </a:xfrm>
          <a:prstGeom prst="rect">
            <a:avLst/>
          </a:prstGeom>
          <a:noFill/>
          <a:ln/>
        </p:spPr>
        <p:txBody>
          <a:bodyPr wrap="square" lIns="0" tIns="0" rIns="0" bIns="0" rtlCol="0" anchor="ctr"/>
          <a:lstStyle/>
          <a:p>
            <a:pPr algn="ctr" indent="0" marL="0">
              <a:buNone/>
            </a:pPr>
            <a:r>
              <a:rPr lang="en-US" sz="850" b="1" dirty="0">
                <a:solidFill>
                  <a:srgbClr val="F5A524"/>
                </a:solidFill>
                <a:latin typeface="Calibri" pitchFamily="34" charset="0"/>
                <a:ea typeface="Calibri" pitchFamily="34" charset="-122"/>
                <a:cs typeface="Calibri" pitchFamily="34" charset="-120"/>
              </a:rPr>
              <a:t>COMING SOON</a:t>
            </a:r>
            <a:endParaRPr lang="en-US" sz="850" dirty="0"/>
          </a:p>
        </p:txBody>
      </p:sp>
      <p:sp>
        <p:nvSpPr>
          <p:cNvPr id="34" name="Shape 31"/>
          <p:cNvSpPr/>
          <p:nvPr/>
        </p:nvSpPr>
        <p:spPr>
          <a:xfrm>
            <a:off x="8994496" y="3419856"/>
            <a:ext cx="2487168" cy="1316736"/>
          </a:xfrm>
          <a:prstGeom prst="roundRect">
            <a:avLst>
              <a:gd name="adj" fmla="val 5556"/>
            </a:avLst>
          </a:prstGeom>
          <a:solidFill>
            <a:srgbClr val="0C1A30"/>
          </a:solidFill>
          <a:ln w="12700">
            <a:solidFill>
              <a:srgbClr val="F5A524"/>
            </a:solidFill>
            <a:prstDash val="dash"/>
          </a:ln>
        </p:spPr>
      </p:sp>
      <p:sp>
        <p:nvSpPr>
          <p:cNvPr id="35" name="Text 32"/>
          <p:cNvSpPr txBox="1"/>
          <p:nvPr/>
        </p:nvSpPr>
        <p:spPr>
          <a:xfrm>
            <a:off x="9085936" y="3511296"/>
            <a:ext cx="2304288" cy="457200"/>
          </a:xfrm>
          <a:prstGeom prst="rect">
            <a:avLst/>
          </a:prstGeom>
          <a:noFill/>
          <a:ln/>
        </p:spPr>
        <p:txBody>
          <a:bodyPr wrap="square" lIns="0" tIns="0" rIns="0" bIns="0" rtlCol="0" anchor="ctr"/>
          <a:lstStyle/>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4.  CLOUD-SYNC</a:t>
            </a:r>
            <a:endParaRPr lang="en-US" sz="1150" dirty="0"/>
          </a:p>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ANALYZER</a:t>
            </a:r>
            <a:endParaRPr lang="en-US" sz="1150" dirty="0"/>
          </a:p>
        </p:txBody>
      </p:sp>
      <p:sp>
        <p:nvSpPr>
          <p:cNvPr id="36" name="Text 33"/>
          <p:cNvSpPr txBox="1"/>
          <p:nvPr/>
        </p:nvSpPr>
        <p:spPr>
          <a:xfrm>
            <a:off x="9085936" y="3968496"/>
            <a:ext cx="2304288" cy="365760"/>
          </a:xfrm>
          <a:prstGeom prst="rect">
            <a:avLst/>
          </a:prstGeom>
          <a:noFill/>
          <a:ln/>
        </p:spPr>
        <p:txBody>
          <a:bodyPr wrap="square" lIns="0" tIns="0" rIns="0" bIns="0" rtlCol="0" anchor="ctr"/>
          <a:lstStyle/>
          <a:p>
            <a:pPr algn="ctr" indent="0" marL="0">
              <a:lnSpc>
                <a:spcPts val="1200"/>
              </a:lnSpc>
              <a:buNone/>
            </a:pPr>
            <a:r>
              <a:rPr lang="en-US" sz="900" dirty="0">
                <a:solidFill>
                  <a:srgbClr val="A9BCDB"/>
                </a:solidFill>
                <a:latin typeface="Calibri" pitchFamily="34" charset="0"/>
                <a:ea typeface="Calibri" pitchFamily="34" charset="-122"/>
                <a:cs typeface="Calibri" pitchFamily="34" charset="-120"/>
              </a:rPr>
              <a:t>OneDrive · Google Drive</a:t>
            </a:r>
            <a:endParaRPr lang="en-US" sz="900" dirty="0"/>
          </a:p>
          <a:p>
            <a:pPr algn="ctr" indent="0" marL="0">
              <a:lnSpc>
                <a:spcPts val="1200"/>
              </a:lnSpc>
              <a:buNone/>
            </a:pPr>
            <a:r>
              <a:rPr lang="en-US" sz="900" dirty="0">
                <a:solidFill>
                  <a:srgbClr val="A9BCDB"/>
                </a:solidFill>
                <a:latin typeface="Calibri" pitchFamily="34" charset="0"/>
                <a:ea typeface="Calibri" pitchFamily="34" charset="-122"/>
                <a:cs typeface="Calibri" pitchFamily="34" charset="-120"/>
              </a:rPr>
              <a:t>sync activity</a:t>
            </a:r>
            <a:endParaRPr lang="en-US" sz="900" dirty="0"/>
          </a:p>
        </p:txBody>
      </p:sp>
      <p:sp>
        <p:nvSpPr>
          <p:cNvPr id="37" name="Shape 34"/>
          <p:cNvSpPr/>
          <p:nvPr/>
        </p:nvSpPr>
        <p:spPr>
          <a:xfrm>
            <a:off x="9671152" y="4389120"/>
            <a:ext cx="1133856" cy="219456"/>
          </a:xfrm>
          <a:prstGeom prst="roundRect">
            <a:avLst>
              <a:gd name="adj" fmla="val 50000"/>
            </a:avLst>
          </a:prstGeom>
          <a:solidFill>
            <a:srgbClr val="0C1A30"/>
          </a:solidFill>
          <a:ln w="12700">
            <a:solidFill>
              <a:srgbClr val="F5A524"/>
            </a:solidFill>
            <a:prstDash val="solid"/>
          </a:ln>
        </p:spPr>
      </p:sp>
      <p:sp>
        <p:nvSpPr>
          <p:cNvPr id="38" name="Text 35"/>
          <p:cNvSpPr txBox="1"/>
          <p:nvPr/>
        </p:nvSpPr>
        <p:spPr>
          <a:xfrm>
            <a:off x="9671152" y="4389120"/>
            <a:ext cx="1133856" cy="219456"/>
          </a:xfrm>
          <a:prstGeom prst="rect">
            <a:avLst/>
          </a:prstGeom>
          <a:noFill/>
          <a:ln/>
        </p:spPr>
        <p:txBody>
          <a:bodyPr wrap="square" lIns="0" tIns="0" rIns="0" bIns="0" rtlCol="0" anchor="ctr"/>
          <a:lstStyle/>
          <a:p>
            <a:pPr algn="ctr" indent="0" marL="0">
              <a:buNone/>
            </a:pPr>
            <a:r>
              <a:rPr lang="en-US" sz="850" b="1" dirty="0">
                <a:solidFill>
                  <a:srgbClr val="F5A524"/>
                </a:solidFill>
                <a:latin typeface="Calibri" pitchFamily="34" charset="0"/>
                <a:ea typeface="Calibri" pitchFamily="34" charset="-122"/>
                <a:cs typeface="Calibri" pitchFamily="34" charset="-120"/>
              </a:rPr>
              <a:t>COMING SOON</a:t>
            </a:r>
            <a:endParaRPr lang="en-US" sz="850" dirty="0"/>
          </a:p>
        </p:txBody>
      </p:sp>
      <p:sp>
        <p:nvSpPr>
          <p:cNvPr id="39" name="Shape 36"/>
          <p:cNvSpPr/>
          <p:nvPr/>
        </p:nvSpPr>
        <p:spPr>
          <a:xfrm>
            <a:off x="1944472" y="4736592"/>
            <a:ext cx="18288" cy="182880"/>
          </a:xfrm>
          <a:prstGeom prst="rect">
            <a:avLst/>
          </a:prstGeom>
          <a:solidFill>
            <a:srgbClr val="2B5FC4"/>
          </a:solidFill>
          <a:ln w="12700">
            <a:solidFill>
              <a:srgbClr val="333333"/>
            </a:solidFill>
            <a:prstDash val="solid"/>
          </a:ln>
        </p:spPr>
      </p:sp>
      <p:sp>
        <p:nvSpPr>
          <p:cNvPr id="40" name="Shape 37"/>
          <p:cNvSpPr/>
          <p:nvPr/>
        </p:nvSpPr>
        <p:spPr>
          <a:xfrm>
            <a:off x="4705960" y="4736592"/>
            <a:ext cx="18288" cy="182880"/>
          </a:xfrm>
          <a:prstGeom prst="rect">
            <a:avLst/>
          </a:prstGeom>
          <a:solidFill>
            <a:srgbClr val="2B5FC4"/>
          </a:solidFill>
          <a:ln w="12700">
            <a:solidFill>
              <a:srgbClr val="333333"/>
            </a:solidFill>
            <a:prstDash val="solid"/>
          </a:ln>
        </p:spPr>
      </p:sp>
      <p:sp>
        <p:nvSpPr>
          <p:cNvPr id="41" name="Shape 38"/>
          <p:cNvSpPr/>
          <p:nvPr/>
        </p:nvSpPr>
        <p:spPr>
          <a:xfrm>
            <a:off x="7467448" y="4736592"/>
            <a:ext cx="18288" cy="182880"/>
          </a:xfrm>
          <a:prstGeom prst="rect">
            <a:avLst/>
          </a:prstGeom>
          <a:solidFill>
            <a:srgbClr val="2B5FC4"/>
          </a:solidFill>
          <a:ln w="12700">
            <a:solidFill>
              <a:srgbClr val="333333"/>
            </a:solidFill>
            <a:prstDash val="solid"/>
          </a:ln>
        </p:spPr>
      </p:sp>
      <p:sp>
        <p:nvSpPr>
          <p:cNvPr id="42" name="Shape 39"/>
          <p:cNvSpPr/>
          <p:nvPr/>
        </p:nvSpPr>
        <p:spPr>
          <a:xfrm>
            <a:off x="10228936" y="4736592"/>
            <a:ext cx="18288" cy="182880"/>
          </a:xfrm>
          <a:prstGeom prst="rect">
            <a:avLst/>
          </a:prstGeom>
          <a:solidFill>
            <a:srgbClr val="2B5FC4"/>
          </a:solidFill>
          <a:ln w="12700">
            <a:solidFill>
              <a:srgbClr val="333333"/>
            </a:solidFill>
            <a:prstDash val="solid"/>
          </a:ln>
        </p:spPr>
      </p:sp>
      <p:sp>
        <p:nvSpPr>
          <p:cNvPr id="43" name="Shape 40"/>
          <p:cNvSpPr/>
          <p:nvPr/>
        </p:nvSpPr>
        <p:spPr>
          <a:xfrm>
            <a:off x="1953616" y="4910328"/>
            <a:ext cx="8284464" cy="18288"/>
          </a:xfrm>
          <a:prstGeom prst="rect">
            <a:avLst/>
          </a:prstGeom>
          <a:solidFill>
            <a:srgbClr val="2B5FC4"/>
          </a:solidFill>
          <a:ln w="12700">
            <a:solidFill>
              <a:srgbClr val="333333"/>
            </a:solidFill>
            <a:prstDash val="solid"/>
          </a:ln>
        </p:spPr>
      </p:sp>
      <p:sp>
        <p:nvSpPr>
          <p:cNvPr id="44" name="Shape 41"/>
          <p:cNvSpPr/>
          <p:nvPr/>
        </p:nvSpPr>
        <p:spPr>
          <a:xfrm>
            <a:off x="6031840" y="4919472"/>
            <a:ext cx="128016" cy="274320"/>
          </a:xfrm>
          <a:prstGeom prst="downArrow">
            <a:avLst/>
          </a:prstGeom>
          <a:solidFill>
            <a:srgbClr val="2B5FC4"/>
          </a:solidFill>
          <a:ln w="12700">
            <a:solidFill>
              <a:srgbClr val="2B5FC4"/>
            </a:solidFill>
            <a:prstDash val="solid"/>
          </a:ln>
        </p:spPr>
      </p:sp>
      <p:sp>
        <p:nvSpPr>
          <p:cNvPr id="45" name="Shape 42"/>
          <p:cNvSpPr/>
          <p:nvPr/>
        </p:nvSpPr>
        <p:spPr>
          <a:xfrm>
            <a:off x="545440" y="5230368"/>
            <a:ext cx="2487168" cy="658368"/>
          </a:xfrm>
          <a:prstGeom prst="roundRect">
            <a:avLst>
              <a:gd name="adj" fmla="val 11111"/>
            </a:avLst>
          </a:prstGeom>
          <a:solidFill>
            <a:srgbClr val="16294A"/>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46" name="Text 43"/>
          <p:cNvSpPr txBox="1"/>
          <p:nvPr/>
        </p:nvSpPr>
        <p:spPr>
          <a:xfrm>
            <a:off x="618592" y="5230368"/>
            <a:ext cx="2340864" cy="658368"/>
          </a:xfrm>
          <a:prstGeom prst="rect">
            <a:avLst/>
          </a:prstGeom>
          <a:noFill/>
          <a:ln/>
        </p:spPr>
        <p:txBody>
          <a:bodyPr wrap="square" lIns="0" tIns="0" rIns="0" bIns="0" rtlCol="0" anchor="ctr"/>
          <a:lstStyle/>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RESULT</a:t>
            </a:r>
            <a:endParaRPr lang="en-US" sz="1150" dirty="0"/>
          </a:p>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CORRELATION</a:t>
            </a:r>
            <a:endParaRPr lang="en-US" sz="1150" dirty="0"/>
          </a:p>
        </p:txBody>
      </p:sp>
      <p:sp>
        <p:nvSpPr>
          <p:cNvPr id="47" name="Shape 44"/>
          <p:cNvSpPr/>
          <p:nvPr/>
        </p:nvSpPr>
        <p:spPr>
          <a:xfrm>
            <a:off x="3105760" y="5495544"/>
            <a:ext cx="237744" cy="128016"/>
          </a:xfrm>
          <a:prstGeom prst="rightArrow">
            <a:avLst/>
          </a:prstGeom>
          <a:solidFill>
            <a:srgbClr val="4F8EF7"/>
          </a:solidFill>
          <a:ln w="12700">
            <a:solidFill>
              <a:srgbClr val="4F8EF7"/>
            </a:solidFill>
            <a:prstDash val="solid"/>
          </a:ln>
        </p:spPr>
      </p:sp>
      <p:sp>
        <p:nvSpPr>
          <p:cNvPr id="48" name="Shape 45"/>
          <p:cNvSpPr/>
          <p:nvPr/>
        </p:nvSpPr>
        <p:spPr>
          <a:xfrm>
            <a:off x="3416656" y="5230368"/>
            <a:ext cx="2487168" cy="658368"/>
          </a:xfrm>
          <a:prstGeom prst="roundRect">
            <a:avLst>
              <a:gd name="adj" fmla="val 11111"/>
            </a:avLst>
          </a:prstGeom>
          <a:solidFill>
            <a:srgbClr val="16294A"/>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49" name="Text 46"/>
          <p:cNvSpPr txBox="1"/>
          <p:nvPr/>
        </p:nvSpPr>
        <p:spPr>
          <a:xfrm>
            <a:off x="3489808" y="5230368"/>
            <a:ext cx="2340864" cy="658368"/>
          </a:xfrm>
          <a:prstGeom prst="rect">
            <a:avLst/>
          </a:prstGeom>
          <a:noFill/>
          <a:ln/>
        </p:spPr>
        <p:txBody>
          <a:bodyPr wrap="square" lIns="0" tIns="0" rIns="0" bIns="0" rtlCol="0" anchor="ctr"/>
          <a:lstStyle/>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ROOT-CAUSE /</a:t>
            </a:r>
            <a:endParaRPr lang="en-US" sz="1150" dirty="0"/>
          </a:p>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DIAGNOSIS</a:t>
            </a:r>
            <a:endParaRPr lang="en-US" sz="1150" dirty="0"/>
          </a:p>
        </p:txBody>
      </p:sp>
      <p:sp>
        <p:nvSpPr>
          <p:cNvPr id="50" name="Shape 47"/>
          <p:cNvSpPr/>
          <p:nvPr/>
        </p:nvSpPr>
        <p:spPr>
          <a:xfrm>
            <a:off x="5976976" y="5495544"/>
            <a:ext cx="237744" cy="128016"/>
          </a:xfrm>
          <a:prstGeom prst="rightArrow">
            <a:avLst/>
          </a:prstGeom>
          <a:solidFill>
            <a:srgbClr val="4F8EF7"/>
          </a:solidFill>
          <a:ln w="12700">
            <a:solidFill>
              <a:srgbClr val="4F8EF7"/>
            </a:solidFill>
            <a:prstDash val="solid"/>
          </a:ln>
        </p:spPr>
      </p:sp>
      <p:sp>
        <p:nvSpPr>
          <p:cNvPr id="51" name="Shape 48"/>
          <p:cNvSpPr/>
          <p:nvPr/>
        </p:nvSpPr>
        <p:spPr>
          <a:xfrm>
            <a:off x="6287872" y="5230368"/>
            <a:ext cx="2487168" cy="658368"/>
          </a:xfrm>
          <a:prstGeom prst="roundRect">
            <a:avLst>
              <a:gd name="adj" fmla="val 11111"/>
            </a:avLst>
          </a:prstGeom>
          <a:solidFill>
            <a:srgbClr val="16294A"/>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52" name="Text 49"/>
          <p:cNvSpPr txBox="1"/>
          <p:nvPr/>
        </p:nvSpPr>
        <p:spPr>
          <a:xfrm>
            <a:off x="6361024" y="5230368"/>
            <a:ext cx="2340864" cy="658368"/>
          </a:xfrm>
          <a:prstGeom prst="rect">
            <a:avLst/>
          </a:prstGeom>
          <a:noFill/>
          <a:ln/>
        </p:spPr>
        <p:txBody>
          <a:bodyPr wrap="square" lIns="0" tIns="0" rIns="0" bIns="0" rtlCol="0" anchor="ctr"/>
          <a:lstStyle/>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RECOMMENDATION</a:t>
            </a:r>
            <a:endParaRPr lang="en-US" sz="1150" dirty="0"/>
          </a:p>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ENGINE</a:t>
            </a:r>
            <a:endParaRPr lang="en-US" sz="1150" dirty="0"/>
          </a:p>
        </p:txBody>
      </p:sp>
      <p:sp>
        <p:nvSpPr>
          <p:cNvPr id="53" name="Shape 50"/>
          <p:cNvSpPr/>
          <p:nvPr/>
        </p:nvSpPr>
        <p:spPr>
          <a:xfrm>
            <a:off x="8848192" y="5495544"/>
            <a:ext cx="237744" cy="128016"/>
          </a:xfrm>
          <a:prstGeom prst="rightArrow">
            <a:avLst/>
          </a:prstGeom>
          <a:solidFill>
            <a:srgbClr val="4F8EF7"/>
          </a:solidFill>
          <a:ln w="12700">
            <a:solidFill>
              <a:srgbClr val="4F8EF7"/>
            </a:solidFill>
            <a:prstDash val="solid"/>
          </a:ln>
        </p:spPr>
      </p:sp>
      <p:sp>
        <p:nvSpPr>
          <p:cNvPr id="54" name="Shape 51"/>
          <p:cNvSpPr/>
          <p:nvPr/>
        </p:nvSpPr>
        <p:spPr>
          <a:xfrm>
            <a:off x="9159088" y="5230368"/>
            <a:ext cx="2487168" cy="658368"/>
          </a:xfrm>
          <a:prstGeom prst="roundRect">
            <a:avLst>
              <a:gd name="adj" fmla="val 11111"/>
            </a:avLst>
          </a:prstGeom>
          <a:solidFill>
            <a:srgbClr val="2B5FC4"/>
          </a:solidFill>
          <a:ln w="12700">
            <a:solidFill>
              <a:srgbClr val="4F8EF7"/>
            </a:solidFill>
            <a:prstDash val="solid"/>
          </a:ln>
          <a:effectLst>
            <a:outerShdw sx="100000" sy="100000" kx="0" ky="0" algn="bl" rotWithShape="0" blurRad="101600" dist="25400" dir="5400000">
              <a:srgbClr val="000000">
                <a:alpha val="35000"/>
              </a:srgbClr>
            </a:outerShdw>
          </a:effectLst>
        </p:spPr>
      </p:sp>
      <p:sp>
        <p:nvSpPr>
          <p:cNvPr id="55" name="Text 52"/>
          <p:cNvSpPr txBox="1"/>
          <p:nvPr/>
        </p:nvSpPr>
        <p:spPr>
          <a:xfrm>
            <a:off x="9232240" y="5230368"/>
            <a:ext cx="2340864" cy="658368"/>
          </a:xfrm>
          <a:prstGeom prst="rect">
            <a:avLst/>
          </a:prstGeom>
          <a:noFill/>
          <a:ln/>
        </p:spPr>
        <p:txBody>
          <a:bodyPr wrap="square" lIns="0" tIns="0" rIns="0" bIns="0" rtlCol="0" anchor="ctr"/>
          <a:lstStyle/>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FINAL GUI</a:t>
            </a:r>
            <a:endParaRPr lang="en-US" sz="1150" dirty="0"/>
          </a:p>
          <a:p>
            <a:pPr algn="ctr" indent="0" marL="0">
              <a:lnSpc>
                <a:spcPts val="1500"/>
              </a:lnSpc>
              <a:buNone/>
            </a:pPr>
            <a:r>
              <a:rPr lang="en-US" sz="1150" b="1" dirty="0">
                <a:solidFill>
                  <a:srgbClr val="FFFFFF"/>
                </a:solidFill>
                <a:latin typeface="Calibri" pitchFamily="34" charset="0"/>
                <a:ea typeface="Calibri" pitchFamily="34" charset="-122"/>
                <a:cs typeface="Calibri" pitchFamily="34" charset="-120"/>
              </a:rPr>
              <a:t>OUTPUT</a:t>
            </a:r>
            <a:endParaRPr lang="en-US" sz="1150" dirty="0"/>
          </a:p>
        </p:txBody>
      </p:sp>
      <p:sp>
        <p:nvSpPr>
          <p:cNvPr id="56" name="Text 53"/>
          <p:cNvSpPr txBox="1"/>
          <p:nvPr/>
        </p:nvSpPr>
        <p:spPr>
          <a:xfrm>
            <a:off x="502920" y="6181344"/>
            <a:ext cx="11185855" cy="274320"/>
          </a:xfrm>
          <a:prstGeom prst="rect">
            <a:avLst/>
          </a:prstGeom>
          <a:noFill/>
          <a:ln/>
        </p:spPr>
        <p:txBody>
          <a:bodyPr wrap="square" lIns="0" tIns="0" rIns="0" bIns="0" rtlCol="0" anchor="ctr"/>
          <a:lstStyle/>
          <a:p>
            <a:pPr algn="ctr" indent="0" marL="0">
              <a:buNone/>
            </a:pPr>
            <a:r>
              <a:rPr lang="en-US" sz="1050" i="1" dirty="0">
                <a:solidFill>
                  <a:srgbClr val="A9BCDB"/>
                </a:solidFill>
                <a:latin typeface="Calibri" pitchFamily="34" charset="0"/>
                <a:ea typeface="Calibri" pitchFamily="34" charset="-122"/>
                <a:cs typeface="Calibri" pitchFamily="34" charset="-120"/>
              </a:rPr>
              <a:t>All four analyzers are equal peers coordinated by the Diagnosis Engine — no analyzer is a child of, or dependent on, another.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1A30"/>
        </a:solidFill>
      </p:bgPr>
    </p:bg>
    <p:spTree>
      <p:nvGrpSpPr>
        <p:cNvPr id="1" name=""/>
        <p:cNvGrpSpPr/>
        <p:nvPr/>
      </p:nvGrpSpPr>
      <p:grpSpPr>
        <a:xfrm>
          <a:off x="0" y="0"/>
          <a:ext cx="0" cy="0"/>
          <a:chOff x="0" y="0"/>
          <a:chExt cx="0" cy="0"/>
        </a:xfrm>
      </p:grpSpPr>
      <p:sp>
        <p:nvSpPr>
          <p:cNvPr id="3" name="Text 0"/>
          <p:cNvSpPr txBox="1"/>
          <p:nvPr/>
        </p:nvSpPr>
        <p:spPr>
          <a:xfrm>
            <a:off x="502920" y="292608"/>
            <a:ext cx="10058400" cy="237744"/>
          </a:xfrm>
          <a:prstGeom prst="rect">
            <a:avLst/>
          </a:prstGeom>
          <a:noFill/>
          <a:ln/>
        </p:spPr>
        <p:txBody>
          <a:bodyPr wrap="square" lIns="0" tIns="0" rIns="0" bIns="0" rtlCol="0" anchor="ctr"/>
          <a:lstStyle/>
          <a:p>
            <a:pPr indent="0" marL="0">
              <a:buNone/>
            </a:pPr>
            <a:r>
              <a:rPr lang="en-US" sz="1100" b="1" spc="200" kern="0" dirty="0">
                <a:solidFill>
                  <a:srgbClr val="4F8EF7"/>
                </a:solidFill>
                <a:latin typeface="Calibri" pitchFamily="34" charset="0"/>
                <a:ea typeface="Calibri" pitchFamily="34" charset="-122"/>
                <a:cs typeface="Calibri" pitchFamily="34" charset="-120"/>
              </a:rPr>
              <a:t>SLIDE 5</a:t>
            </a:r>
            <a:endParaRPr lang="en-US" sz="1100" dirty="0"/>
          </a:p>
        </p:txBody>
      </p:sp>
      <p:sp>
        <p:nvSpPr>
          <p:cNvPr id="4"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Proposed Methodology — Detailed Workflow</a:t>
            </a:r>
            <a:endParaRPr lang="en-US" sz="3000" dirty="0"/>
          </a:p>
        </p:txBody>
      </p:sp>
      <p:sp>
        <p:nvSpPr>
          <p:cNvPr id="5" name="Shape 2"/>
          <p:cNvSpPr/>
          <p:nvPr/>
        </p:nvSpPr>
        <p:spPr>
          <a:xfrm>
            <a:off x="502920" y="1325880"/>
            <a:ext cx="3611880" cy="4626864"/>
          </a:xfrm>
          <a:prstGeom prst="roundRect">
            <a:avLst>
              <a:gd name="adj" fmla="val 2025"/>
            </a:avLst>
          </a:prstGeom>
          <a:solidFill>
            <a:srgbClr val="16294A"/>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6" name="Shape 3"/>
          <p:cNvSpPr/>
          <p:nvPr/>
        </p:nvSpPr>
        <p:spPr>
          <a:xfrm>
            <a:off x="740664" y="1572768"/>
            <a:ext cx="146304" cy="146304"/>
          </a:xfrm>
          <a:prstGeom prst="ellipse">
            <a:avLst/>
          </a:prstGeom>
          <a:solidFill>
            <a:srgbClr val="4F8EF7"/>
          </a:solidFill>
          <a:ln w="12700">
            <a:solidFill>
              <a:srgbClr val="333333"/>
            </a:solidFill>
            <a:prstDash val="solid"/>
          </a:ln>
        </p:spPr>
      </p:sp>
      <p:sp>
        <p:nvSpPr>
          <p:cNvPr id="7" name="Text 4"/>
          <p:cNvSpPr txBox="1"/>
          <p:nvPr/>
        </p:nvSpPr>
        <p:spPr>
          <a:xfrm>
            <a:off x="978408" y="1490472"/>
            <a:ext cx="2926080" cy="274320"/>
          </a:xfrm>
          <a:prstGeom prst="rect">
            <a:avLst/>
          </a:prstGeom>
          <a:noFill/>
          <a:ln/>
        </p:spPr>
        <p:txBody>
          <a:bodyPr wrap="square" lIns="0" tIns="0" rIns="0" bIns="0" rtlCol="0" anchor="ctr"/>
          <a:lstStyle/>
          <a:p>
            <a:pPr indent="0" marL="0">
              <a:buNone/>
            </a:pPr>
            <a:r>
              <a:rPr lang="en-US" sz="1100" b="1" spc="100" kern="0" dirty="0">
                <a:solidFill>
                  <a:srgbClr val="4F8EF7"/>
                </a:solidFill>
                <a:latin typeface="Calibri" pitchFamily="34" charset="0"/>
                <a:ea typeface="Calibri" pitchFamily="34" charset="-122"/>
                <a:cs typeface="Calibri" pitchFamily="34" charset="-120"/>
              </a:rPr>
              <a:t>PHASE 1 — INPUT &amp; VALIDATION</a:t>
            </a:r>
            <a:endParaRPr lang="en-US" sz="1100" dirty="0"/>
          </a:p>
        </p:txBody>
      </p:sp>
      <p:sp>
        <p:nvSpPr>
          <p:cNvPr id="8" name="Shape 5"/>
          <p:cNvSpPr/>
          <p:nvPr/>
        </p:nvSpPr>
        <p:spPr>
          <a:xfrm>
            <a:off x="740664" y="1865376"/>
            <a:ext cx="3136392" cy="18288"/>
          </a:xfrm>
          <a:prstGeom prst="rect">
            <a:avLst/>
          </a:prstGeom>
          <a:solidFill>
            <a:srgbClr val="2A4374"/>
          </a:solidFill>
          <a:ln w="12700">
            <a:solidFill>
              <a:srgbClr val="333333"/>
            </a:solidFill>
            <a:prstDash val="solid"/>
          </a:ln>
        </p:spPr>
      </p:sp>
      <p:sp>
        <p:nvSpPr>
          <p:cNvPr id="9" name="Shape 6"/>
          <p:cNvSpPr/>
          <p:nvPr/>
        </p:nvSpPr>
        <p:spPr>
          <a:xfrm>
            <a:off x="740664" y="2066544"/>
            <a:ext cx="384048" cy="384048"/>
          </a:xfrm>
          <a:prstGeom prst="roundRect">
            <a:avLst>
              <a:gd name="adj" fmla="val 19048"/>
            </a:avLst>
          </a:prstGeom>
          <a:solidFill>
            <a:srgbClr val="0C1A30"/>
          </a:solidFill>
          <a:ln w="12700">
            <a:solidFill>
              <a:srgbClr val="4F8EF7"/>
            </a:solidFill>
            <a:prstDash val="solid"/>
          </a:ln>
        </p:spPr>
      </p:sp>
      <p:sp>
        <p:nvSpPr>
          <p:cNvPr id="10" name="Text 7"/>
          <p:cNvSpPr txBox="1"/>
          <p:nvPr/>
        </p:nvSpPr>
        <p:spPr>
          <a:xfrm>
            <a:off x="740664" y="2066544"/>
            <a:ext cx="384048" cy="384048"/>
          </a:xfrm>
          <a:prstGeom prst="rect">
            <a:avLst/>
          </a:prstGeom>
          <a:noFill/>
          <a:ln/>
        </p:spPr>
        <p:txBody>
          <a:bodyPr wrap="square" lIns="0" tIns="0" rIns="0" bIns="0" rtlCol="0" anchor="ctr"/>
          <a:lstStyle/>
          <a:p>
            <a:pPr algn="ctr" indent="0" marL="0">
              <a:buNone/>
            </a:pPr>
            <a:r>
              <a:rPr lang="en-US" sz="1100" b="1" dirty="0">
                <a:solidFill>
                  <a:srgbClr val="4F8EF7"/>
                </a:solidFill>
                <a:latin typeface="Courier New" pitchFamily="34" charset="0"/>
                <a:ea typeface="Courier New" pitchFamily="34" charset="-122"/>
                <a:cs typeface="Courier New" pitchFamily="34" charset="-120"/>
              </a:rPr>
              <a:t>1</a:t>
            </a:r>
            <a:endParaRPr lang="en-US" sz="1100" dirty="0"/>
          </a:p>
        </p:txBody>
      </p:sp>
      <p:sp>
        <p:nvSpPr>
          <p:cNvPr id="11" name="Text 8"/>
          <p:cNvSpPr txBox="1"/>
          <p:nvPr/>
        </p:nvSpPr>
        <p:spPr>
          <a:xfrm>
            <a:off x="1252728" y="2029968"/>
            <a:ext cx="2624328" cy="566928"/>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User selects file</a:t>
            </a:r>
            <a:endParaRPr lang="en-US" sz="1200" dirty="0"/>
          </a:p>
        </p:txBody>
      </p:sp>
      <p:sp>
        <p:nvSpPr>
          <p:cNvPr id="12" name="Shape 9"/>
          <p:cNvSpPr/>
          <p:nvPr/>
        </p:nvSpPr>
        <p:spPr>
          <a:xfrm>
            <a:off x="923544" y="2487168"/>
            <a:ext cx="18288" cy="292608"/>
          </a:xfrm>
          <a:prstGeom prst="rect">
            <a:avLst/>
          </a:prstGeom>
          <a:solidFill>
            <a:srgbClr val="2A4374"/>
          </a:solidFill>
          <a:ln w="12700">
            <a:solidFill>
              <a:srgbClr val="333333"/>
            </a:solidFill>
            <a:prstDash val="solid"/>
          </a:ln>
        </p:spPr>
      </p:sp>
      <p:sp>
        <p:nvSpPr>
          <p:cNvPr id="13" name="Shape 10"/>
          <p:cNvSpPr/>
          <p:nvPr/>
        </p:nvSpPr>
        <p:spPr>
          <a:xfrm>
            <a:off x="740664" y="2834640"/>
            <a:ext cx="384048" cy="384048"/>
          </a:xfrm>
          <a:prstGeom prst="roundRect">
            <a:avLst>
              <a:gd name="adj" fmla="val 19048"/>
            </a:avLst>
          </a:prstGeom>
          <a:solidFill>
            <a:srgbClr val="0C1A30"/>
          </a:solidFill>
          <a:ln w="12700">
            <a:solidFill>
              <a:srgbClr val="4F8EF7"/>
            </a:solidFill>
            <a:prstDash val="solid"/>
          </a:ln>
        </p:spPr>
      </p:sp>
      <p:sp>
        <p:nvSpPr>
          <p:cNvPr id="14" name="Text 11"/>
          <p:cNvSpPr txBox="1"/>
          <p:nvPr/>
        </p:nvSpPr>
        <p:spPr>
          <a:xfrm>
            <a:off x="740664" y="2834640"/>
            <a:ext cx="384048" cy="384048"/>
          </a:xfrm>
          <a:prstGeom prst="rect">
            <a:avLst/>
          </a:prstGeom>
          <a:noFill/>
          <a:ln/>
        </p:spPr>
        <p:txBody>
          <a:bodyPr wrap="square" lIns="0" tIns="0" rIns="0" bIns="0" rtlCol="0" anchor="ctr"/>
          <a:lstStyle/>
          <a:p>
            <a:pPr algn="ctr" indent="0" marL="0">
              <a:buNone/>
            </a:pPr>
            <a:r>
              <a:rPr lang="en-US" sz="1100" b="1" dirty="0">
                <a:solidFill>
                  <a:srgbClr val="4F8EF7"/>
                </a:solidFill>
                <a:latin typeface="Courier New" pitchFamily="34" charset="0"/>
                <a:ea typeface="Courier New" pitchFamily="34" charset="-122"/>
                <a:cs typeface="Courier New" pitchFamily="34" charset="-120"/>
              </a:rPr>
              <a:t>2</a:t>
            </a:r>
            <a:endParaRPr lang="en-US" sz="1100" dirty="0"/>
          </a:p>
        </p:txBody>
      </p:sp>
      <p:sp>
        <p:nvSpPr>
          <p:cNvPr id="15" name="Text 12"/>
          <p:cNvSpPr txBox="1"/>
          <p:nvPr/>
        </p:nvSpPr>
        <p:spPr>
          <a:xfrm>
            <a:off x="1252728" y="2798064"/>
            <a:ext cx="2624328" cy="566928"/>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User selects operation (READ / WRITE / EXECUTE / DELETE)</a:t>
            </a:r>
            <a:endParaRPr lang="en-US" sz="1200" dirty="0"/>
          </a:p>
        </p:txBody>
      </p:sp>
      <p:sp>
        <p:nvSpPr>
          <p:cNvPr id="16" name="Shape 13"/>
          <p:cNvSpPr/>
          <p:nvPr/>
        </p:nvSpPr>
        <p:spPr>
          <a:xfrm>
            <a:off x="923544" y="3255264"/>
            <a:ext cx="18288" cy="292608"/>
          </a:xfrm>
          <a:prstGeom prst="rect">
            <a:avLst/>
          </a:prstGeom>
          <a:solidFill>
            <a:srgbClr val="2A4374"/>
          </a:solidFill>
          <a:ln w="12700">
            <a:solidFill>
              <a:srgbClr val="333333"/>
            </a:solidFill>
            <a:prstDash val="solid"/>
          </a:ln>
        </p:spPr>
      </p:sp>
      <p:sp>
        <p:nvSpPr>
          <p:cNvPr id="17" name="Shape 14"/>
          <p:cNvSpPr/>
          <p:nvPr/>
        </p:nvSpPr>
        <p:spPr>
          <a:xfrm>
            <a:off x="740664" y="3602736"/>
            <a:ext cx="384048" cy="384048"/>
          </a:xfrm>
          <a:prstGeom prst="roundRect">
            <a:avLst>
              <a:gd name="adj" fmla="val 19048"/>
            </a:avLst>
          </a:prstGeom>
          <a:solidFill>
            <a:srgbClr val="0C1A30"/>
          </a:solidFill>
          <a:ln w="12700">
            <a:solidFill>
              <a:srgbClr val="4F8EF7"/>
            </a:solidFill>
            <a:prstDash val="solid"/>
          </a:ln>
        </p:spPr>
      </p:sp>
      <p:sp>
        <p:nvSpPr>
          <p:cNvPr id="18" name="Text 15"/>
          <p:cNvSpPr txBox="1"/>
          <p:nvPr/>
        </p:nvSpPr>
        <p:spPr>
          <a:xfrm>
            <a:off x="740664" y="3602736"/>
            <a:ext cx="384048" cy="384048"/>
          </a:xfrm>
          <a:prstGeom prst="rect">
            <a:avLst/>
          </a:prstGeom>
          <a:noFill/>
          <a:ln/>
        </p:spPr>
        <p:txBody>
          <a:bodyPr wrap="square" lIns="0" tIns="0" rIns="0" bIns="0" rtlCol="0" anchor="ctr"/>
          <a:lstStyle/>
          <a:p>
            <a:pPr algn="ctr" indent="0" marL="0">
              <a:buNone/>
            </a:pPr>
            <a:r>
              <a:rPr lang="en-US" sz="1100" b="1" dirty="0">
                <a:solidFill>
                  <a:srgbClr val="4F8EF7"/>
                </a:solidFill>
                <a:latin typeface="Courier New" pitchFamily="34" charset="0"/>
                <a:ea typeface="Courier New" pitchFamily="34" charset="-122"/>
                <a:cs typeface="Courier New" pitchFamily="34" charset="-120"/>
              </a:rPr>
              <a:t>3</a:t>
            </a:r>
            <a:endParaRPr lang="en-US" sz="1100" dirty="0"/>
          </a:p>
        </p:txBody>
      </p:sp>
      <p:sp>
        <p:nvSpPr>
          <p:cNvPr id="19" name="Text 16"/>
          <p:cNvSpPr txBox="1"/>
          <p:nvPr/>
        </p:nvSpPr>
        <p:spPr>
          <a:xfrm>
            <a:off x="1252728" y="3566160"/>
            <a:ext cx="2624328" cy="566928"/>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GUI sends file + operation to Diagnosis Engine</a:t>
            </a:r>
            <a:endParaRPr lang="en-US" sz="1200" dirty="0"/>
          </a:p>
        </p:txBody>
      </p:sp>
      <p:sp>
        <p:nvSpPr>
          <p:cNvPr id="20" name="Shape 17"/>
          <p:cNvSpPr/>
          <p:nvPr/>
        </p:nvSpPr>
        <p:spPr>
          <a:xfrm>
            <a:off x="923544" y="4023360"/>
            <a:ext cx="18288" cy="292608"/>
          </a:xfrm>
          <a:prstGeom prst="rect">
            <a:avLst/>
          </a:prstGeom>
          <a:solidFill>
            <a:srgbClr val="2A4374"/>
          </a:solidFill>
          <a:ln w="12700">
            <a:solidFill>
              <a:srgbClr val="333333"/>
            </a:solidFill>
            <a:prstDash val="solid"/>
          </a:ln>
        </p:spPr>
      </p:sp>
      <p:sp>
        <p:nvSpPr>
          <p:cNvPr id="21" name="Shape 18"/>
          <p:cNvSpPr/>
          <p:nvPr/>
        </p:nvSpPr>
        <p:spPr>
          <a:xfrm>
            <a:off x="740664" y="4370832"/>
            <a:ext cx="384048" cy="384048"/>
          </a:xfrm>
          <a:prstGeom prst="roundRect">
            <a:avLst>
              <a:gd name="adj" fmla="val 19048"/>
            </a:avLst>
          </a:prstGeom>
          <a:solidFill>
            <a:srgbClr val="0C1A30"/>
          </a:solidFill>
          <a:ln w="12700">
            <a:solidFill>
              <a:srgbClr val="4F8EF7"/>
            </a:solidFill>
            <a:prstDash val="solid"/>
          </a:ln>
        </p:spPr>
      </p:sp>
      <p:sp>
        <p:nvSpPr>
          <p:cNvPr id="22" name="Text 19"/>
          <p:cNvSpPr txBox="1"/>
          <p:nvPr/>
        </p:nvSpPr>
        <p:spPr>
          <a:xfrm>
            <a:off x="740664" y="4370832"/>
            <a:ext cx="384048" cy="384048"/>
          </a:xfrm>
          <a:prstGeom prst="rect">
            <a:avLst/>
          </a:prstGeom>
          <a:noFill/>
          <a:ln/>
        </p:spPr>
        <p:txBody>
          <a:bodyPr wrap="square" lIns="0" tIns="0" rIns="0" bIns="0" rtlCol="0" anchor="ctr"/>
          <a:lstStyle/>
          <a:p>
            <a:pPr algn="ctr" indent="0" marL="0">
              <a:buNone/>
            </a:pPr>
            <a:r>
              <a:rPr lang="en-US" sz="1100" b="1" dirty="0">
                <a:solidFill>
                  <a:srgbClr val="4F8EF7"/>
                </a:solidFill>
                <a:latin typeface="Courier New" pitchFamily="34" charset="0"/>
                <a:ea typeface="Courier New" pitchFamily="34" charset="-122"/>
                <a:cs typeface="Courier New" pitchFamily="34" charset="-120"/>
              </a:rPr>
              <a:t>4</a:t>
            </a:r>
            <a:endParaRPr lang="en-US" sz="1100" dirty="0"/>
          </a:p>
        </p:txBody>
      </p:sp>
      <p:sp>
        <p:nvSpPr>
          <p:cNvPr id="23" name="Text 20"/>
          <p:cNvSpPr txBox="1"/>
          <p:nvPr/>
        </p:nvSpPr>
        <p:spPr>
          <a:xfrm>
            <a:off x="1252728" y="4334256"/>
            <a:ext cx="2624328" cy="566928"/>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Input / path validation</a:t>
            </a:r>
            <a:endParaRPr lang="en-US" sz="1200" dirty="0"/>
          </a:p>
        </p:txBody>
      </p:sp>
      <p:sp>
        <p:nvSpPr>
          <p:cNvPr id="24" name="Text 21"/>
          <p:cNvSpPr txBox="1"/>
          <p:nvPr/>
        </p:nvSpPr>
        <p:spPr>
          <a:xfrm>
            <a:off x="740664" y="5102352"/>
            <a:ext cx="3136392" cy="640080"/>
          </a:xfrm>
          <a:prstGeom prst="rect">
            <a:avLst/>
          </a:prstGeom>
          <a:noFill/>
          <a:ln/>
        </p:spPr>
        <p:txBody>
          <a:bodyPr wrap="square" lIns="0" tIns="0" rIns="0" bIns="0" rtlCol="0" anchor="ctr"/>
          <a:lstStyle/>
          <a:p>
            <a:pPr indent="0" marL="0">
              <a:lnSpc>
                <a:spcPts val="1400"/>
              </a:lnSpc>
              <a:buNone/>
            </a:pPr>
            <a:r>
              <a:rPr lang="en-US" sz="1000" i="1" dirty="0">
                <a:solidFill>
                  <a:srgbClr val="6E86AE"/>
                </a:solidFill>
                <a:latin typeface="Calibri" pitchFamily="34" charset="0"/>
                <a:ea typeface="Calibri" pitchFamily="34" charset="-122"/>
                <a:cs typeface="Calibri" pitchFamily="34" charset="-120"/>
              </a:rPr>
              <a:t>Validation stops the flow early when the path is invalid or the file does not exist.</a:t>
            </a:r>
            <a:endParaRPr lang="en-US" sz="1000" dirty="0"/>
          </a:p>
        </p:txBody>
      </p:sp>
      <p:sp>
        <p:nvSpPr>
          <p:cNvPr id="25" name="Shape 22"/>
          <p:cNvSpPr/>
          <p:nvPr/>
        </p:nvSpPr>
        <p:spPr>
          <a:xfrm>
            <a:off x="4334256" y="1325880"/>
            <a:ext cx="3611880" cy="4626864"/>
          </a:xfrm>
          <a:prstGeom prst="roundRect">
            <a:avLst>
              <a:gd name="adj" fmla="val 2025"/>
            </a:avLst>
          </a:prstGeom>
          <a:solidFill>
            <a:srgbClr val="16294A"/>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26" name="Shape 23"/>
          <p:cNvSpPr/>
          <p:nvPr/>
        </p:nvSpPr>
        <p:spPr>
          <a:xfrm>
            <a:off x="4572000" y="1572768"/>
            <a:ext cx="146304" cy="146304"/>
          </a:xfrm>
          <a:prstGeom prst="ellipse">
            <a:avLst/>
          </a:prstGeom>
          <a:solidFill>
            <a:srgbClr val="2DD4A7"/>
          </a:solidFill>
          <a:ln w="12700">
            <a:solidFill>
              <a:srgbClr val="333333"/>
            </a:solidFill>
            <a:prstDash val="solid"/>
          </a:ln>
        </p:spPr>
      </p:sp>
      <p:sp>
        <p:nvSpPr>
          <p:cNvPr id="27" name="Text 24"/>
          <p:cNvSpPr txBox="1"/>
          <p:nvPr/>
        </p:nvSpPr>
        <p:spPr>
          <a:xfrm>
            <a:off x="4809744" y="1490472"/>
            <a:ext cx="2926080" cy="274320"/>
          </a:xfrm>
          <a:prstGeom prst="rect">
            <a:avLst/>
          </a:prstGeom>
          <a:noFill/>
          <a:ln/>
        </p:spPr>
        <p:txBody>
          <a:bodyPr wrap="square" lIns="0" tIns="0" rIns="0" bIns="0" rtlCol="0" anchor="ctr"/>
          <a:lstStyle/>
          <a:p>
            <a:pPr indent="0" marL="0">
              <a:buNone/>
            </a:pPr>
            <a:r>
              <a:rPr lang="en-US" sz="1100" b="1" spc="100" kern="0" dirty="0">
                <a:solidFill>
                  <a:srgbClr val="2DD4A7"/>
                </a:solidFill>
                <a:latin typeface="Calibri" pitchFamily="34" charset="0"/>
                <a:ea typeface="Calibri" pitchFamily="34" charset="-122"/>
                <a:cs typeface="Calibri" pitchFamily="34" charset="-120"/>
              </a:rPr>
              <a:t>PHASE 2 — PEER ANALYSIS</a:t>
            </a:r>
            <a:endParaRPr lang="en-US" sz="1100" dirty="0"/>
          </a:p>
        </p:txBody>
      </p:sp>
      <p:sp>
        <p:nvSpPr>
          <p:cNvPr id="28" name="Shape 25"/>
          <p:cNvSpPr/>
          <p:nvPr/>
        </p:nvSpPr>
        <p:spPr>
          <a:xfrm>
            <a:off x="4572000" y="1865376"/>
            <a:ext cx="3136392" cy="18288"/>
          </a:xfrm>
          <a:prstGeom prst="rect">
            <a:avLst/>
          </a:prstGeom>
          <a:solidFill>
            <a:srgbClr val="2A4374"/>
          </a:solidFill>
          <a:ln w="12700">
            <a:solidFill>
              <a:srgbClr val="333333"/>
            </a:solidFill>
            <a:prstDash val="solid"/>
          </a:ln>
        </p:spPr>
      </p:sp>
      <p:sp>
        <p:nvSpPr>
          <p:cNvPr id="29" name="Shape 26"/>
          <p:cNvSpPr/>
          <p:nvPr/>
        </p:nvSpPr>
        <p:spPr>
          <a:xfrm>
            <a:off x="4572000" y="2066544"/>
            <a:ext cx="384048" cy="384048"/>
          </a:xfrm>
          <a:prstGeom prst="roundRect">
            <a:avLst>
              <a:gd name="adj" fmla="val 19048"/>
            </a:avLst>
          </a:prstGeom>
          <a:solidFill>
            <a:srgbClr val="0C1A30"/>
          </a:solidFill>
          <a:ln w="12700">
            <a:solidFill>
              <a:srgbClr val="2DD4A7"/>
            </a:solidFill>
            <a:prstDash val="solid"/>
          </a:ln>
        </p:spPr>
      </p:sp>
      <p:sp>
        <p:nvSpPr>
          <p:cNvPr id="30" name="Text 27"/>
          <p:cNvSpPr txBox="1"/>
          <p:nvPr/>
        </p:nvSpPr>
        <p:spPr>
          <a:xfrm>
            <a:off x="4572000" y="2066544"/>
            <a:ext cx="384048" cy="384048"/>
          </a:xfrm>
          <a:prstGeom prst="rect">
            <a:avLst/>
          </a:prstGeom>
          <a:noFill/>
          <a:ln/>
        </p:spPr>
        <p:txBody>
          <a:bodyPr wrap="square" lIns="0" tIns="0" rIns="0" bIns="0" rtlCol="0" anchor="ctr"/>
          <a:lstStyle/>
          <a:p>
            <a:pPr algn="ctr" indent="0" marL="0">
              <a:buNone/>
            </a:pPr>
            <a:r>
              <a:rPr lang="en-US" sz="1100" b="1" dirty="0">
                <a:solidFill>
                  <a:srgbClr val="2DD4A7"/>
                </a:solidFill>
                <a:latin typeface="Courier New" pitchFamily="34" charset="0"/>
                <a:ea typeface="Courier New" pitchFamily="34" charset="-122"/>
                <a:cs typeface="Courier New" pitchFamily="34" charset="-120"/>
              </a:rPr>
              <a:t>5</a:t>
            </a:r>
            <a:endParaRPr lang="en-US" sz="1100" dirty="0"/>
          </a:p>
        </p:txBody>
      </p:sp>
      <p:sp>
        <p:nvSpPr>
          <p:cNvPr id="31" name="Text 28"/>
          <p:cNvSpPr txBox="1"/>
          <p:nvPr/>
        </p:nvSpPr>
        <p:spPr>
          <a:xfrm>
            <a:off x="5084064" y="2029968"/>
            <a:ext cx="2624328" cy="566928"/>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Process / Lock analysis</a:t>
            </a:r>
            <a:endParaRPr lang="en-US" sz="1200" dirty="0"/>
          </a:p>
        </p:txBody>
      </p:sp>
      <p:sp>
        <p:nvSpPr>
          <p:cNvPr id="32" name="Shape 29"/>
          <p:cNvSpPr/>
          <p:nvPr/>
        </p:nvSpPr>
        <p:spPr>
          <a:xfrm>
            <a:off x="4754880" y="2487168"/>
            <a:ext cx="18288" cy="292608"/>
          </a:xfrm>
          <a:prstGeom prst="rect">
            <a:avLst/>
          </a:prstGeom>
          <a:solidFill>
            <a:srgbClr val="2A4374"/>
          </a:solidFill>
          <a:ln w="12700">
            <a:solidFill>
              <a:srgbClr val="333333"/>
            </a:solidFill>
            <a:prstDash val="solid"/>
          </a:ln>
        </p:spPr>
      </p:sp>
      <p:sp>
        <p:nvSpPr>
          <p:cNvPr id="33" name="Shape 30"/>
          <p:cNvSpPr/>
          <p:nvPr/>
        </p:nvSpPr>
        <p:spPr>
          <a:xfrm>
            <a:off x="4572000" y="2834640"/>
            <a:ext cx="384048" cy="384048"/>
          </a:xfrm>
          <a:prstGeom prst="roundRect">
            <a:avLst>
              <a:gd name="adj" fmla="val 19048"/>
            </a:avLst>
          </a:prstGeom>
          <a:solidFill>
            <a:srgbClr val="0C1A30"/>
          </a:solidFill>
          <a:ln w="12700">
            <a:solidFill>
              <a:srgbClr val="2DD4A7"/>
            </a:solidFill>
            <a:prstDash val="solid"/>
          </a:ln>
        </p:spPr>
      </p:sp>
      <p:sp>
        <p:nvSpPr>
          <p:cNvPr id="34" name="Text 31"/>
          <p:cNvSpPr txBox="1"/>
          <p:nvPr/>
        </p:nvSpPr>
        <p:spPr>
          <a:xfrm>
            <a:off x="4572000" y="2834640"/>
            <a:ext cx="384048" cy="384048"/>
          </a:xfrm>
          <a:prstGeom prst="rect">
            <a:avLst/>
          </a:prstGeom>
          <a:noFill/>
          <a:ln/>
        </p:spPr>
        <p:txBody>
          <a:bodyPr wrap="square" lIns="0" tIns="0" rIns="0" bIns="0" rtlCol="0" anchor="ctr"/>
          <a:lstStyle/>
          <a:p>
            <a:pPr algn="ctr" indent="0" marL="0">
              <a:buNone/>
            </a:pPr>
            <a:r>
              <a:rPr lang="en-US" sz="1100" b="1" dirty="0">
                <a:solidFill>
                  <a:srgbClr val="2DD4A7"/>
                </a:solidFill>
                <a:latin typeface="Courier New" pitchFamily="34" charset="0"/>
                <a:ea typeface="Courier New" pitchFamily="34" charset="-122"/>
                <a:cs typeface="Courier New" pitchFamily="34" charset="-120"/>
              </a:rPr>
              <a:t>6</a:t>
            </a:r>
            <a:endParaRPr lang="en-US" sz="1100" dirty="0"/>
          </a:p>
        </p:txBody>
      </p:sp>
      <p:sp>
        <p:nvSpPr>
          <p:cNvPr id="35" name="Text 32"/>
          <p:cNvSpPr txBox="1"/>
          <p:nvPr/>
        </p:nvSpPr>
        <p:spPr>
          <a:xfrm>
            <a:off x="5084064" y="2798064"/>
            <a:ext cx="2624328" cy="566928"/>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Permission analysis</a:t>
            </a:r>
            <a:endParaRPr lang="en-US" sz="1200" dirty="0"/>
          </a:p>
        </p:txBody>
      </p:sp>
      <p:sp>
        <p:nvSpPr>
          <p:cNvPr id="36" name="Shape 33"/>
          <p:cNvSpPr/>
          <p:nvPr/>
        </p:nvSpPr>
        <p:spPr>
          <a:xfrm>
            <a:off x="4754880" y="3255264"/>
            <a:ext cx="18288" cy="292608"/>
          </a:xfrm>
          <a:prstGeom prst="rect">
            <a:avLst/>
          </a:prstGeom>
          <a:solidFill>
            <a:srgbClr val="2A4374"/>
          </a:solidFill>
          <a:ln w="12700">
            <a:solidFill>
              <a:srgbClr val="333333"/>
            </a:solidFill>
            <a:prstDash val="solid"/>
          </a:ln>
        </p:spPr>
      </p:sp>
      <p:sp>
        <p:nvSpPr>
          <p:cNvPr id="37" name="Shape 34"/>
          <p:cNvSpPr/>
          <p:nvPr/>
        </p:nvSpPr>
        <p:spPr>
          <a:xfrm>
            <a:off x="4572000" y="3602736"/>
            <a:ext cx="384048" cy="384048"/>
          </a:xfrm>
          <a:prstGeom prst="roundRect">
            <a:avLst>
              <a:gd name="adj" fmla="val 19048"/>
            </a:avLst>
          </a:prstGeom>
          <a:solidFill>
            <a:srgbClr val="0C1A30"/>
          </a:solidFill>
          <a:ln w="12700">
            <a:solidFill>
              <a:srgbClr val="2DD4A7"/>
            </a:solidFill>
            <a:prstDash val="solid"/>
          </a:ln>
        </p:spPr>
      </p:sp>
      <p:sp>
        <p:nvSpPr>
          <p:cNvPr id="38" name="Text 35"/>
          <p:cNvSpPr txBox="1"/>
          <p:nvPr/>
        </p:nvSpPr>
        <p:spPr>
          <a:xfrm>
            <a:off x="4572000" y="3602736"/>
            <a:ext cx="384048" cy="384048"/>
          </a:xfrm>
          <a:prstGeom prst="rect">
            <a:avLst/>
          </a:prstGeom>
          <a:noFill/>
          <a:ln/>
        </p:spPr>
        <p:txBody>
          <a:bodyPr wrap="square" lIns="0" tIns="0" rIns="0" bIns="0" rtlCol="0" anchor="ctr"/>
          <a:lstStyle/>
          <a:p>
            <a:pPr algn="ctr" indent="0" marL="0">
              <a:buNone/>
            </a:pPr>
            <a:r>
              <a:rPr lang="en-US" sz="1100" b="1" dirty="0">
                <a:solidFill>
                  <a:srgbClr val="2DD4A7"/>
                </a:solidFill>
                <a:latin typeface="Courier New" pitchFamily="34" charset="0"/>
                <a:ea typeface="Courier New" pitchFamily="34" charset="-122"/>
                <a:cs typeface="Courier New" pitchFamily="34" charset="-120"/>
              </a:rPr>
              <a:t>7</a:t>
            </a:r>
            <a:endParaRPr lang="en-US" sz="1100" dirty="0"/>
          </a:p>
        </p:txBody>
      </p:sp>
      <p:sp>
        <p:nvSpPr>
          <p:cNvPr id="39" name="Text 36"/>
          <p:cNvSpPr txBox="1"/>
          <p:nvPr/>
        </p:nvSpPr>
        <p:spPr>
          <a:xfrm>
            <a:off x="5084064" y="3566160"/>
            <a:ext cx="2624328" cy="566928"/>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File Attribute analysis</a:t>
            </a:r>
            <a:endParaRPr lang="en-US" sz="1200" dirty="0"/>
          </a:p>
        </p:txBody>
      </p:sp>
      <p:sp>
        <p:nvSpPr>
          <p:cNvPr id="40" name="Shape 37"/>
          <p:cNvSpPr/>
          <p:nvPr/>
        </p:nvSpPr>
        <p:spPr>
          <a:xfrm>
            <a:off x="4754880" y="4023360"/>
            <a:ext cx="18288" cy="292608"/>
          </a:xfrm>
          <a:prstGeom prst="rect">
            <a:avLst/>
          </a:prstGeom>
          <a:solidFill>
            <a:srgbClr val="2A4374"/>
          </a:solidFill>
          <a:ln w="12700">
            <a:solidFill>
              <a:srgbClr val="333333"/>
            </a:solidFill>
            <a:prstDash val="solid"/>
          </a:ln>
        </p:spPr>
      </p:sp>
      <p:sp>
        <p:nvSpPr>
          <p:cNvPr id="41" name="Shape 38"/>
          <p:cNvSpPr/>
          <p:nvPr/>
        </p:nvSpPr>
        <p:spPr>
          <a:xfrm>
            <a:off x="4572000" y="4370832"/>
            <a:ext cx="384048" cy="384048"/>
          </a:xfrm>
          <a:prstGeom prst="roundRect">
            <a:avLst>
              <a:gd name="adj" fmla="val 19048"/>
            </a:avLst>
          </a:prstGeom>
          <a:solidFill>
            <a:srgbClr val="0C1A30"/>
          </a:solidFill>
          <a:ln w="12700">
            <a:solidFill>
              <a:srgbClr val="2DD4A7"/>
            </a:solidFill>
            <a:prstDash val="solid"/>
          </a:ln>
        </p:spPr>
      </p:sp>
      <p:sp>
        <p:nvSpPr>
          <p:cNvPr id="42" name="Text 39"/>
          <p:cNvSpPr txBox="1"/>
          <p:nvPr/>
        </p:nvSpPr>
        <p:spPr>
          <a:xfrm>
            <a:off x="4572000" y="4370832"/>
            <a:ext cx="384048" cy="384048"/>
          </a:xfrm>
          <a:prstGeom prst="rect">
            <a:avLst/>
          </a:prstGeom>
          <a:noFill/>
          <a:ln/>
        </p:spPr>
        <p:txBody>
          <a:bodyPr wrap="square" lIns="0" tIns="0" rIns="0" bIns="0" rtlCol="0" anchor="ctr"/>
          <a:lstStyle/>
          <a:p>
            <a:pPr algn="ctr" indent="0" marL="0">
              <a:buNone/>
            </a:pPr>
            <a:r>
              <a:rPr lang="en-US" sz="1100" b="1" dirty="0">
                <a:solidFill>
                  <a:srgbClr val="2DD4A7"/>
                </a:solidFill>
                <a:latin typeface="Courier New" pitchFamily="34" charset="0"/>
                <a:ea typeface="Courier New" pitchFamily="34" charset="-122"/>
                <a:cs typeface="Courier New" pitchFamily="34" charset="-120"/>
              </a:rPr>
              <a:t>8</a:t>
            </a:r>
            <a:endParaRPr lang="en-US" sz="1100" dirty="0"/>
          </a:p>
        </p:txBody>
      </p:sp>
      <p:sp>
        <p:nvSpPr>
          <p:cNvPr id="43" name="Text 40"/>
          <p:cNvSpPr txBox="1"/>
          <p:nvPr/>
        </p:nvSpPr>
        <p:spPr>
          <a:xfrm>
            <a:off x="5084064" y="4334256"/>
            <a:ext cx="2624328" cy="566928"/>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Cloud-Sync analysis</a:t>
            </a:r>
            <a:endParaRPr lang="en-US" sz="1200" dirty="0"/>
          </a:p>
        </p:txBody>
      </p:sp>
      <p:sp>
        <p:nvSpPr>
          <p:cNvPr id="44" name="Text 41"/>
          <p:cNvSpPr txBox="1"/>
          <p:nvPr/>
        </p:nvSpPr>
        <p:spPr>
          <a:xfrm>
            <a:off x="4572000" y="5102352"/>
            <a:ext cx="3136392" cy="640080"/>
          </a:xfrm>
          <a:prstGeom prst="rect">
            <a:avLst/>
          </a:prstGeom>
          <a:noFill/>
          <a:ln/>
        </p:spPr>
        <p:txBody>
          <a:bodyPr wrap="square" lIns="0" tIns="0" rIns="0" bIns="0" rtlCol="0" anchor="ctr"/>
          <a:lstStyle/>
          <a:p>
            <a:pPr indent="0" marL="0">
              <a:lnSpc>
                <a:spcPts val="1400"/>
              </a:lnSpc>
              <a:buNone/>
            </a:pPr>
            <a:r>
              <a:rPr lang="en-US" sz="1000" i="1" dirty="0">
                <a:solidFill>
                  <a:srgbClr val="6E86AE"/>
                </a:solidFill>
                <a:latin typeface="Calibri" pitchFamily="34" charset="0"/>
                <a:ea typeface="Calibri" pitchFamily="34" charset="-122"/>
                <a:cs typeface="Calibri" pitchFamily="34" charset="-120"/>
              </a:rPr>
              <a:t>Steps 5–8 are independent peer analyses coordinated by the Diagnosis Engine; steps 7 and 8 are planned.</a:t>
            </a:r>
            <a:endParaRPr lang="en-US" sz="1000" dirty="0"/>
          </a:p>
        </p:txBody>
      </p:sp>
      <p:sp>
        <p:nvSpPr>
          <p:cNvPr id="45" name="Shape 42"/>
          <p:cNvSpPr/>
          <p:nvPr/>
        </p:nvSpPr>
        <p:spPr>
          <a:xfrm>
            <a:off x="8165592" y="1325880"/>
            <a:ext cx="3611880" cy="4626864"/>
          </a:xfrm>
          <a:prstGeom prst="roundRect">
            <a:avLst>
              <a:gd name="adj" fmla="val 2025"/>
            </a:avLst>
          </a:prstGeom>
          <a:solidFill>
            <a:srgbClr val="16294A"/>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46" name="Shape 43"/>
          <p:cNvSpPr/>
          <p:nvPr/>
        </p:nvSpPr>
        <p:spPr>
          <a:xfrm>
            <a:off x="8403336" y="1572768"/>
            <a:ext cx="146304" cy="146304"/>
          </a:xfrm>
          <a:prstGeom prst="ellipse">
            <a:avLst/>
          </a:prstGeom>
          <a:solidFill>
            <a:srgbClr val="F5A524"/>
          </a:solidFill>
          <a:ln w="12700">
            <a:solidFill>
              <a:srgbClr val="333333"/>
            </a:solidFill>
            <a:prstDash val="solid"/>
          </a:ln>
        </p:spPr>
      </p:sp>
      <p:sp>
        <p:nvSpPr>
          <p:cNvPr id="47" name="Text 44"/>
          <p:cNvSpPr txBox="1"/>
          <p:nvPr/>
        </p:nvSpPr>
        <p:spPr>
          <a:xfrm>
            <a:off x="8641080" y="1490472"/>
            <a:ext cx="2926080" cy="274320"/>
          </a:xfrm>
          <a:prstGeom prst="rect">
            <a:avLst/>
          </a:prstGeom>
          <a:noFill/>
          <a:ln/>
        </p:spPr>
        <p:txBody>
          <a:bodyPr wrap="square" lIns="0" tIns="0" rIns="0" bIns="0" rtlCol="0" anchor="ctr"/>
          <a:lstStyle/>
          <a:p>
            <a:pPr indent="0" marL="0">
              <a:buNone/>
            </a:pPr>
            <a:r>
              <a:rPr lang="en-US" sz="1100" b="1" spc="100" kern="0" dirty="0">
                <a:solidFill>
                  <a:srgbClr val="F5A524"/>
                </a:solidFill>
                <a:latin typeface="Calibri" pitchFamily="34" charset="0"/>
                <a:ea typeface="Calibri" pitchFamily="34" charset="-122"/>
                <a:cs typeface="Calibri" pitchFamily="34" charset="-120"/>
              </a:rPr>
              <a:t>PHASE 3 — DECISION &amp; OUTPUT</a:t>
            </a:r>
            <a:endParaRPr lang="en-US" sz="1100" dirty="0"/>
          </a:p>
        </p:txBody>
      </p:sp>
      <p:sp>
        <p:nvSpPr>
          <p:cNvPr id="48" name="Shape 45"/>
          <p:cNvSpPr/>
          <p:nvPr/>
        </p:nvSpPr>
        <p:spPr>
          <a:xfrm>
            <a:off x="8403336" y="1865376"/>
            <a:ext cx="3136392" cy="18288"/>
          </a:xfrm>
          <a:prstGeom prst="rect">
            <a:avLst/>
          </a:prstGeom>
          <a:solidFill>
            <a:srgbClr val="2A4374"/>
          </a:solidFill>
          <a:ln w="12700">
            <a:solidFill>
              <a:srgbClr val="333333"/>
            </a:solidFill>
            <a:prstDash val="solid"/>
          </a:ln>
        </p:spPr>
      </p:sp>
      <p:sp>
        <p:nvSpPr>
          <p:cNvPr id="49" name="Shape 46"/>
          <p:cNvSpPr/>
          <p:nvPr/>
        </p:nvSpPr>
        <p:spPr>
          <a:xfrm>
            <a:off x="8403336" y="2066544"/>
            <a:ext cx="384048" cy="384048"/>
          </a:xfrm>
          <a:prstGeom prst="roundRect">
            <a:avLst>
              <a:gd name="adj" fmla="val 19048"/>
            </a:avLst>
          </a:prstGeom>
          <a:solidFill>
            <a:srgbClr val="0C1A30"/>
          </a:solidFill>
          <a:ln w="12700">
            <a:solidFill>
              <a:srgbClr val="F5A524"/>
            </a:solidFill>
            <a:prstDash val="solid"/>
          </a:ln>
        </p:spPr>
      </p:sp>
      <p:sp>
        <p:nvSpPr>
          <p:cNvPr id="50" name="Text 47"/>
          <p:cNvSpPr txBox="1"/>
          <p:nvPr/>
        </p:nvSpPr>
        <p:spPr>
          <a:xfrm>
            <a:off x="8403336" y="2066544"/>
            <a:ext cx="384048" cy="384048"/>
          </a:xfrm>
          <a:prstGeom prst="rect">
            <a:avLst/>
          </a:prstGeom>
          <a:noFill/>
          <a:ln/>
        </p:spPr>
        <p:txBody>
          <a:bodyPr wrap="square" lIns="0" tIns="0" rIns="0" bIns="0" rtlCol="0" anchor="ctr"/>
          <a:lstStyle/>
          <a:p>
            <a:pPr algn="ctr" indent="0" marL="0">
              <a:buNone/>
            </a:pPr>
            <a:r>
              <a:rPr lang="en-US" sz="1100" b="1" dirty="0">
                <a:solidFill>
                  <a:srgbClr val="F5A524"/>
                </a:solidFill>
                <a:latin typeface="Courier New" pitchFamily="34" charset="0"/>
                <a:ea typeface="Courier New" pitchFamily="34" charset="-122"/>
                <a:cs typeface="Courier New" pitchFamily="34" charset="-120"/>
              </a:rPr>
              <a:t>9</a:t>
            </a:r>
            <a:endParaRPr lang="en-US" sz="1100" dirty="0"/>
          </a:p>
        </p:txBody>
      </p:sp>
      <p:sp>
        <p:nvSpPr>
          <p:cNvPr id="51" name="Text 48"/>
          <p:cNvSpPr txBox="1"/>
          <p:nvPr/>
        </p:nvSpPr>
        <p:spPr>
          <a:xfrm>
            <a:off x="8915400" y="2029968"/>
            <a:ext cx="2624328" cy="566928"/>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Collect analyzer results</a:t>
            </a:r>
            <a:endParaRPr lang="en-US" sz="1200" dirty="0"/>
          </a:p>
        </p:txBody>
      </p:sp>
      <p:sp>
        <p:nvSpPr>
          <p:cNvPr id="52" name="Shape 49"/>
          <p:cNvSpPr/>
          <p:nvPr/>
        </p:nvSpPr>
        <p:spPr>
          <a:xfrm>
            <a:off x="8586216" y="2487168"/>
            <a:ext cx="18288" cy="292608"/>
          </a:xfrm>
          <a:prstGeom prst="rect">
            <a:avLst/>
          </a:prstGeom>
          <a:solidFill>
            <a:srgbClr val="2A4374"/>
          </a:solidFill>
          <a:ln w="12700">
            <a:solidFill>
              <a:srgbClr val="333333"/>
            </a:solidFill>
            <a:prstDash val="solid"/>
          </a:ln>
        </p:spPr>
      </p:sp>
      <p:sp>
        <p:nvSpPr>
          <p:cNvPr id="53" name="Shape 50"/>
          <p:cNvSpPr/>
          <p:nvPr/>
        </p:nvSpPr>
        <p:spPr>
          <a:xfrm>
            <a:off x="8403336" y="2834640"/>
            <a:ext cx="384048" cy="384048"/>
          </a:xfrm>
          <a:prstGeom prst="roundRect">
            <a:avLst>
              <a:gd name="adj" fmla="val 19048"/>
            </a:avLst>
          </a:prstGeom>
          <a:solidFill>
            <a:srgbClr val="0C1A30"/>
          </a:solidFill>
          <a:ln w="12700">
            <a:solidFill>
              <a:srgbClr val="F5A524"/>
            </a:solidFill>
            <a:prstDash val="solid"/>
          </a:ln>
        </p:spPr>
      </p:sp>
      <p:sp>
        <p:nvSpPr>
          <p:cNvPr id="54" name="Text 51"/>
          <p:cNvSpPr txBox="1"/>
          <p:nvPr/>
        </p:nvSpPr>
        <p:spPr>
          <a:xfrm>
            <a:off x="8403336" y="2834640"/>
            <a:ext cx="384048" cy="384048"/>
          </a:xfrm>
          <a:prstGeom prst="rect">
            <a:avLst/>
          </a:prstGeom>
          <a:noFill/>
          <a:ln/>
        </p:spPr>
        <p:txBody>
          <a:bodyPr wrap="square" lIns="0" tIns="0" rIns="0" bIns="0" rtlCol="0" anchor="ctr"/>
          <a:lstStyle/>
          <a:p>
            <a:pPr algn="ctr" indent="0" marL="0">
              <a:buNone/>
            </a:pPr>
            <a:r>
              <a:rPr lang="en-US" sz="1100" b="1" dirty="0">
                <a:solidFill>
                  <a:srgbClr val="F5A524"/>
                </a:solidFill>
                <a:latin typeface="Courier New" pitchFamily="34" charset="0"/>
                <a:ea typeface="Courier New" pitchFamily="34" charset="-122"/>
                <a:cs typeface="Courier New" pitchFamily="34" charset="-120"/>
              </a:rPr>
              <a:t>10</a:t>
            </a:r>
            <a:endParaRPr lang="en-US" sz="1100" dirty="0"/>
          </a:p>
        </p:txBody>
      </p:sp>
      <p:sp>
        <p:nvSpPr>
          <p:cNvPr id="55" name="Text 52"/>
          <p:cNvSpPr txBox="1"/>
          <p:nvPr/>
        </p:nvSpPr>
        <p:spPr>
          <a:xfrm>
            <a:off x="8915400" y="2798064"/>
            <a:ext cx="2624328" cy="566928"/>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Correlate evidence</a:t>
            </a:r>
            <a:endParaRPr lang="en-US" sz="1200" dirty="0"/>
          </a:p>
        </p:txBody>
      </p:sp>
      <p:sp>
        <p:nvSpPr>
          <p:cNvPr id="56" name="Shape 53"/>
          <p:cNvSpPr/>
          <p:nvPr/>
        </p:nvSpPr>
        <p:spPr>
          <a:xfrm>
            <a:off x="8586216" y="3255264"/>
            <a:ext cx="18288" cy="292608"/>
          </a:xfrm>
          <a:prstGeom prst="rect">
            <a:avLst/>
          </a:prstGeom>
          <a:solidFill>
            <a:srgbClr val="2A4374"/>
          </a:solidFill>
          <a:ln w="12700">
            <a:solidFill>
              <a:srgbClr val="333333"/>
            </a:solidFill>
            <a:prstDash val="solid"/>
          </a:ln>
        </p:spPr>
      </p:sp>
      <p:sp>
        <p:nvSpPr>
          <p:cNvPr id="57" name="Shape 54"/>
          <p:cNvSpPr/>
          <p:nvPr/>
        </p:nvSpPr>
        <p:spPr>
          <a:xfrm>
            <a:off x="8403336" y="3602736"/>
            <a:ext cx="384048" cy="384048"/>
          </a:xfrm>
          <a:prstGeom prst="roundRect">
            <a:avLst>
              <a:gd name="adj" fmla="val 19048"/>
            </a:avLst>
          </a:prstGeom>
          <a:solidFill>
            <a:srgbClr val="0C1A30"/>
          </a:solidFill>
          <a:ln w="12700">
            <a:solidFill>
              <a:srgbClr val="F5A524"/>
            </a:solidFill>
            <a:prstDash val="solid"/>
          </a:ln>
        </p:spPr>
      </p:sp>
      <p:sp>
        <p:nvSpPr>
          <p:cNvPr id="58" name="Text 55"/>
          <p:cNvSpPr txBox="1"/>
          <p:nvPr/>
        </p:nvSpPr>
        <p:spPr>
          <a:xfrm>
            <a:off x="8403336" y="3602736"/>
            <a:ext cx="384048" cy="384048"/>
          </a:xfrm>
          <a:prstGeom prst="rect">
            <a:avLst/>
          </a:prstGeom>
          <a:noFill/>
          <a:ln/>
        </p:spPr>
        <p:txBody>
          <a:bodyPr wrap="square" lIns="0" tIns="0" rIns="0" bIns="0" rtlCol="0" anchor="ctr"/>
          <a:lstStyle/>
          <a:p>
            <a:pPr algn="ctr" indent="0" marL="0">
              <a:buNone/>
            </a:pPr>
            <a:r>
              <a:rPr lang="en-US" sz="1100" b="1" dirty="0">
                <a:solidFill>
                  <a:srgbClr val="F5A524"/>
                </a:solidFill>
                <a:latin typeface="Courier New" pitchFamily="34" charset="0"/>
                <a:ea typeface="Courier New" pitchFamily="34" charset="-122"/>
                <a:cs typeface="Courier New" pitchFamily="34" charset="-120"/>
              </a:rPr>
              <a:t>11</a:t>
            </a:r>
            <a:endParaRPr lang="en-US" sz="1100" dirty="0"/>
          </a:p>
        </p:txBody>
      </p:sp>
      <p:sp>
        <p:nvSpPr>
          <p:cNvPr id="59" name="Text 56"/>
          <p:cNvSpPr txBox="1"/>
          <p:nvPr/>
        </p:nvSpPr>
        <p:spPr>
          <a:xfrm>
            <a:off x="8915400" y="3566160"/>
            <a:ext cx="2624328" cy="566928"/>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Determine root cause</a:t>
            </a:r>
            <a:endParaRPr lang="en-US" sz="1200" dirty="0"/>
          </a:p>
        </p:txBody>
      </p:sp>
      <p:sp>
        <p:nvSpPr>
          <p:cNvPr id="60" name="Shape 57"/>
          <p:cNvSpPr/>
          <p:nvPr/>
        </p:nvSpPr>
        <p:spPr>
          <a:xfrm>
            <a:off x="8586216" y="4023360"/>
            <a:ext cx="18288" cy="292608"/>
          </a:xfrm>
          <a:prstGeom prst="rect">
            <a:avLst/>
          </a:prstGeom>
          <a:solidFill>
            <a:srgbClr val="2A4374"/>
          </a:solidFill>
          <a:ln w="12700">
            <a:solidFill>
              <a:srgbClr val="333333"/>
            </a:solidFill>
            <a:prstDash val="solid"/>
          </a:ln>
        </p:spPr>
      </p:sp>
      <p:sp>
        <p:nvSpPr>
          <p:cNvPr id="61" name="Shape 58"/>
          <p:cNvSpPr/>
          <p:nvPr/>
        </p:nvSpPr>
        <p:spPr>
          <a:xfrm>
            <a:off x="8403336" y="4370832"/>
            <a:ext cx="384048" cy="384048"/>
          </a:xfrm>
          <a:prstGeom prst="roundRect">
            <a:avLst>
              <a:gd name="adj" fmla="val 19048"/>
            </a:avLst>
          </a:prstGeom>
          <a:solidFill>
            <a:srgbClr val="0C1A30"/>
          </a:solidFill>
          <a:ln w="12700">
            <a:solidFill>
              <a:srgbClr val="F5A524"/>
            </a:solidFill>
            <a:prstDash val="solid"/>
          </a:ln>
        </p:spPr>
      </p:sp>
      <p:sp>
        <p:nvSpPr>
          <p:cNvPr id="62" name="Text 59"/>
          <p:cNvSpPr txBox="1"/>
          <p:nvPr/>
        </p:nvSpPr>
        <p:spPr>
          <a:xfrm>
            <a:off x="8403336" y="4370832"/>
            <a:ext cx="384048" cy="384048"/>
          </a:xfrm>
          <a:prstGeom prst="rect">
            <a:avLst/>
          </a:prstGeom>
          <a:noFill/>
          <a:ln/>
        </p:spPr>
        <p:txBody>
          <a:bodyPr wrap="square" lIns="0" tIns="0" rIns="0" bIns="0" rtlCol="0" anchor="ctr"/>
          <a:lstStyle/>
          <a:p>
            <a:pPr algn="ctr" indent="0" marL="0">
              <a:buNone/>
            </a:pPr>
            <a:r>
              <a:rPr lang="en-US" sz="1100" b="1" dirty="0">
                <a:solidFill>
                  <a:srgbClr val="F5A524"/>
                </a:solidFill>
                <a:latin typeface="Courier New" pitchFamily="34" charset="0"/>
                <a:ea typeface="Courier New" pitchFamily="34" charset="-122"/>
                <a:cs typeface="Courier New" pitchFamily="34" charset="-120"/>
              </a:rPr>
              <a:t>12</a:t>
            </a:r>
            <a:endParaRPr lang="en-US" sz="1100" dirty="0"/>
          </a:p>
        </p:txBody>
      </p:sp>
      <p:sp>
        <p:nvSpPr>
          <p:cNvPr id="63" name="Text 60"/>
          <p:cNvSpPr txBox="1"/>
          <p:nvPr/>
        </p:nvSpPr>
        <p:spPr>
          <a:xfrm>
            <a:off x="8915400" y="4334256"/>
            <a:ext cx="2624328" cy="566928"/>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Generate recommendation</a:t>
            </a:r>
            <a:endParaRPr lang="en-US" sz="1200" dirty="0"/>
          </a:p>
        </p:txBody>
      </p:sp>
      <p:sp>
        <p:nvSpPr>
          <p:cNvPr id="64" name="Shape 61"/>
          <p:cNvSpPr/>
          <p:nvPr/>
        </p:nvSpPr>
        <p:spPr>
          <a:xfrm>
            <a:off x="8586216" y="4791456"/>
            <a:ext cx="18288" cy="292608"/>
          </a:xfrm>
          <a:prstGeom prst="rect">
            <a:avLst/>
          </a:prstGeom>
          <a:solidFill>
            <a:srgbClr val="2A4374"/>
          </a:solidFill>
          <a:ln w="12700">
            <a:solidFill>
              <a:srgbClr val="333333"/>
            </a:solidFill>
            <a:prstDash val="solid"/>
          </a:ln>
        </p:spPr>
      </p:sp>
      <p:sp>
        <p:nvSpPr>
          <p:cNvPr id="65" name="Shape 62"/>
          <p:cNvSpPr/>
          <p:nvPr/>
        </p:nvSpPr>
        <p:spPr>
          <a:xfrm>
            <a:off x="8403336" y="5138928"/>
            <a:ext cx="384048" cy="384048"/>
          </a:xfrm>
          <a:prstGeom prst="roundRect">
            <a:avLst>
              <a:gd name="adj" fmla="val 19048"/>
            </a:avLst>
          </a:prstGeom>
          <a:solidFill>
            <a:srgbClr val="0C1A30"/>
          </a:solidFill>
          <a:ln w="12700">
            <a:solidFill>
              <a:srgbClr val="F5A524"/>
            </a:solidFill>
            <a:prstDash val="solid"/>
          </a:ln>
        </p:spPr>
      </p:sp>
      <p:sp>
        <p:nvSpPr>
          <p:cNvPr id="66" name="Text 63"/>
          <p:cNvSpPr txBox="1"/>
          <p:nvPr/>
        </p:nvSpPr>
        <p:spPr>
          <a:xfrm>
            <a:off x="8403336" y="5138928"/>
            <a:ext cx="384048" cy="384048"/>
          </a:xfrm>
          <a:prstGeom prst="rect">
            <a:avLst/>
          </a:prstGeom>
          <a:noFill/>
          <a:ln/>
        </p:spPr>
        <p:txBody>
          <a:bodyPr wrap="square" lIns="0" tIns="0" rIns="0" bIns="0" rtlCol="0" anchor="ctr"/>
          <a:lstStyle/>
          <a:p>
            <a:pPr algn="ctr" indent="0" marL="0">
              <a:buNone/>
            </a:pPr>
            <a:r>
              <a:rPr lang="en-US" sz="1100" b="1" dirty="0">
                <a:solidFill>
                  <a:srgbClr val="F5A524"/>
                </a:solidFill>
                <a:latin typeface="Courier New" pitchFamily="34" charset="0"/>
                <a:ea typeface="Courier New" pitchFamily="34" charset="-122"/>
                <a:cs typeface="Courier New" pitchFamily="34" charset="-120"/>
              </a:rPr>
              <a:t>13</a:t>
            </a:r>
            <a:endParaRPr lang="en-US" sz="1100" dirty="0"/>
          </a:p>
        </p:txBody>
      </p:sp>
      <p:sp>
        <p:nvSpPr>
          <p:cNvPr id="67" name="Text 64"/>
          <p:cNvSpPr txBox="1"/>
          <p:nvPr/>
        </p:nvSpPr>
        <p:spPr>
          <a:xfrm>
            <a:off x="8915400" y="5102352"/>
            <a:ext cx="2624328" cy="566928"/>
          </a:xfrm>
          <a:prstGeom prst="rect">
            <a:avLst/>
          </a:prstGeom>
          <a:noFill/>
          <a:ln/>
        </p:spPr>
        <p:txBody>
          <a:bodyPr wrap="square" lIns="0" tIns="0" rIns="0" bIns="0" rtlCol="0" anchor="ctr"/>
          <a:lstStyle/>
          <a:p>
            <a:pPr indent="0" marL="0">
              <a:lnSpc>
                <a:spcPts val="1500"/>
              </a:lnSpc>
              <a:buNone/>
            </a:pPr>
            <a:r>
              <a:rPr lang="en-US" sz="1200" dirty="0">
                <a:solidFill>
                  <a:srgbClr val="FFFFFF"/>
                </a:solidFill>
                <a:latin typeface="Calibri" pitchFamily="34" charset="0"/>
                <a:ea typeface="Calibri" pitchFamily="34" charset="-122"/>
                <a:cs typeface="Calibri" pitchFamily="34" charset="-120"/>
              </a:rPr>
              <a:t>Display diagnosis in GUI</a:t>
            </a:r>
            <a:endParaRPr lang="en-US" sz="1200" dirty="0"/>
          </a:p>
        </p:txBody>
      </p:sp>
      <p:sp>
        <p:nvSpPr>
          <p:cNvPr id="68" name="Shape 65"/>
          <p:cNvSpPr/>
          <p:nvPr/>
        </p:nvSpPr>
        <p:spPr>
          <a:xfrm>
            <a:off x="502920" y="6144768"/>
            <a:ext cx="11185855" cy="420624"/>
          </a:xfrm>
          <a:prstGeom prst="roundRect">
            <a:avLst>
              <a:gd name="adj" fmla="val 17391"/>
            </a:avLst>
          </a:prstGeom>
          <a:solidFill>
            <a:srgbClr val="16294A"/>
          </a:solidFill>
          <a:ln w="12700">
            <a:solidFill>
              <a:srgbClr val="2B5FC4"/>
            </a:solidFill>
            <a:prstDash val="solid"/>
          </a:ln>
        </p:spPr>
      </p:sp>
      <p:sp>
        <p:nvSpPr>
          <p:cNvPr id="69" name="Text 66"/>
          <p:cNvSpPr txBox="1"/>
          <p:nvPr/>
        </p:nvSpPr>
        <p:spPr>
          <a:xfrm>
            <a:off x="667512" y="6144768"/>
            <a:ext cx="10856671" cy="420624"/>
          </a:xfrm>
          <a:prstGeom prst="rect">
            <a:avLst/>
          </a:prstGeom>
          <a:noFill/>
          <a:ln/>
        </p:spPr>
        <p:txBody>
          <a:bodyPr wrap="square" lIns="0" tIns="0" rIns="0" bIns="0" rtlCol="0" anchor="ctr"/>
          <a:lstStyle/>
          <a:p>
            <a:pPr indent="0" marL="0">
              <a:buNone/>
            </a:pPr>
            <a:r>
              <a:rPr lang="en-US" sz="1050" i="1" dirty="0">
                <a:solidFill>
                  <a:srgbClr val="A9BCDB"/>
                </a:solidFill>
                <a:latin typeface="Calibri" pitchFamily="34" charset="0"/>
                <a:ea typeface="Calibri" pitchFamily="34" charset="-122"/>
                <a:cs typeface="Calibri" pitchFamily="34" charset="-120"/>
              </a:rPr>
              <a:t>Current prototype implements the Process/Lock, Permission, Diagnosis Engine and GUI path; File Attribute and Cloud-Sync analysis are planned.</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1A30"/>
        </a:solidFill>
      </p:bgPr>
    </p:bg>
    <p:spTree>
      <p:nvGrpSpPr>
        <p:cNvPr id="1" name=""/>
        <p:cNvGrpSpPr/>
        <p:nvPr/>
      </p:nvGrpSpPr>
      <p:grpSpPr>
        <a:xfrm>
          <a:off x="0" y="0"/>
          <a:ext cx="0" cy="0"/>
          <a:chOff x="0" y="0"/>
          <a:chExt cx="0" cy="0"/>
        </a:xfrm>
      </p:grpSpPr>
      <p:sp>
        <p:nvSpPr>
          <p:cNvPr id="3" name="Text 0"/>
          <p:cNvSpPr txBox="1"/>
          <p:nvPr/>
        </p:nvSpPr>
        <p:spPr>
          <a:xfrm>
            <a:off x="502920" y="292608"/>
            <a:ext cx="10058400" cy="237744"/>
          </a:xfrm>
          <a:prstGeom prst="rect">
            <a:avLst/>
          </a:prstGeom>
          <a:noFill/>
          <a:ln/>
        </p:spPr>
        <p:txBody>
          <a:bodyPr wrap="square" lIns="0" tIns="0" rIns="0" bIns="0" rtlCol="0" anchor="ctr"/>
          <a:lstStyle/>
          <a:p>
            <a:pPr indent="0" marL="0">
              <a:buNone/>
            </a:pPr>
            <a:r>
              <a:rPr lang="en-US" sz="1100" b="1" spc="200" kern="0" dirty="0">
                <a:solidFill>
                  <a:srgbClr val="4F8EF7"/>
                </a:solidFill>
                <a:latin typeface="Calibri" pitchFamily="34" charset="0"/>
                <a:ea typeface="Calibri" pitchFamily="34" charset="-122"/>
                <a:cs typeface="Calibri" pitchFamily="34" charset="-120"/>
              </a:rPr>
              <a:t>SLIDE 6</a:t>
            </a:r>
            <a:endParaRPr lang="en-US" sz="1100" dirty="0"/>
          </a:p>
        </p:txBody>
      </p:sp>
      <p:sp>
        <p:nvSpPr>
          <p:cNvPr id="4"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Internal Working — How OS Information Is Obtained</a:t>
            </a:r>
            <a:endParaRPr lang="en-US" sz="3000" dirty="0"/>
          </a:p>
        </p:txBody>
      </p:sp>
      <p:sp>
        <p:nvSpPr>
          <p:cNvPr id="5" name="Shape 2"/>
          <p:cNvSpPr/>
          <p:nvPr/>
        </p:nvSpPr>
        <p:spPr>
          <a:xfrm>
            <a:off x="502920" y="1298448"/>
            <a:ext cx="11185855" cy="1024128"/>
          </a:xfrm>
          <a:prstGeom prst="roundRect">
            <a:avLst>
              <a:gd name="adj" fmla="val 7143"/>
            </a:avLst>
          </a:prstGeom>
          <a:solidFill>
            <a:srgbClr val="16294A"/>
          </a:solidFill>
          <a:ln w="12700">
            <a:solidFill>
              <a:srgbClr val="2A4374"/>
            </a:solidFill>
            <a:prstDash val="solid"/>
          </a:ln>
        </p:spPr>
      </p:sp>
      <p:sp>
        <p:nvSpPr>
          <p:cNvPr id="6" name="Shape 3"/>
          <p:cNvSpPr/>
          <p:nvPr/>
        </p:nvSpPr>
        <p:spPr>
          <a:xfrm>
            <a:off x="740664" y="1572768"/>
            <a:ext cx="128016" cy="128016"/>
          </a:xfrm>
          <a:prstGeom prst="ellipse">
            <a:avLst/>
          </a:prstGeom>
          <a:solidFill>
            <a:srgbClr val="2DD4A7"/>
          </a:solidFill>
          <a:ln w="12700">
            <a:solidFill>
              <a:srgbClr val="333333"/>
            </a:solidFill>
            <a:prstDash val="solid"/>
          </a:ln>
        </p:spPr>
      </p:sp>
      <p:sp>
        <p:nvSpPr>
          <p:cNvPr id="7" name="Text 4"/>
          <p:cNvSpPr txBox="1"/>
          <p:nvPr/>
        </p:nvSpPr>
        <p:spPr>
          <a:xfrm>
            <a:off x="960120" y="1481328"/>
            <a:ext cx="2331720" cy="329184"/>
          </a:xfrm>
          <a:prstGeom prst="rect">
            <a:avLst/>
          </a:prstGeom>
          <a:noFill/>
          <a:ln/>
        </p:spPr>
        <p:txBody>
          <a:bodyPr wrap="square" lIns="0" tIns="0" rIns="0" bIns="0" rtlCol="0" anchor="ctr"/>
          <a:lstStyle/>
          <a:p>
            <a:pPr indent="0" marL="0">
              <a:lnSpc>
                <a:spcPts val="1400"/>
              </a:lnSpc>
              <a:buNone/>
            </a:pPr>
            <a:r>
              <a:rPr lang="en-US" sz="1150" b="1" dirty="0">
                <a:solidFill>
                  <a:srgbClr val="FFFFFF"/>
                </a:solidFill>
                <a:latin typeface="Calibri" pitchFamily="34" charset="0"/>
                <a:ea typeface="Calibri" pitchFamily="34" charset="-122"/>
                <a:cs typeface="Calibri" pitchFamily="34" charset="-120"/>
              </a:rPr>
              <a:t>PROCESS / LOCK</a:t>
            </a:r>
            <a:endParaRPr lang="en-US" sz="1150" dirty="0"/>
          </a:p>
        </p:txBody>
      </p:sp>
      <p:sp>
        <p:nvSpPr>
          <p:cNvPr id="8" name="Shape 5"/>
          <p:cNvSpPr/>
          <p:nvPr/>
        </p:nvSpPr>
        <p:spPr>
          <a:xfrm>
            <a:off x="960120" y="1865376"/>
            <a:ext cx="1188720" cy="219456"/>
          </a:xfrm>
          <a:prstGeom prst="roundRect">
            <a:avLst>
              <a:gd name="adj" fmla="val 50000"/>
            </a:avLst>
          </a:prstGeom>
          <a:solidFill>
            <a:srgbClr val="0C1A30"/>
          </a:solidFill>
          <a:ln w="12700">
            <a:solidFill>
              <a:srgbClr val="2DD4A7"/>
            </a:solidFill>
            <a:prstDash val="solid"/>
          </a:ln>
        </p:spPr>
      </p:sp>
      <p:sp>
        <p:nvSpPr>
          <p:cNvPr id="9" name="Text 6"/>
          <p:cNvSpPr txBox="1"/>
          <p:nvPr/>
        </p:nvSpPr>
        <p:spPr>
          <a:xfrm>
            <a:off x="960120" y="1865376"/>
            <a:ext cx="1188720" cy="219456"/>
          </a:xfrm>
          <a:prstGeom prst="rect">
            <a:avLst/>
          </a:prstGeom>
          <a:noFill/>
          <a:ln/>
        </p:spPr>
        <p:txBody>
          <a:bodyPr wrap="square" lIns="0" tIns="0" rIns="0" bIns="0" rtlCol="0" anchor="ctr"/>
          <a:lstStyle/>
          <a:p>
            <a:pPr algn="ctr" indent="0" marL="0">
              <a:buNone/>
            </a:pPr>
            <a:r>
              <a:rPr lang="en-US" sz="850" b="1" dirty="0">
                <a:solidFill>
                  <a:srgbClr val="2DD4A7"/>
                </a:solidFill>
                <a:latin typeface="Calibri" pitchFamily="34" charset="0"/>
                <a:ea typeface="Calibri" pitchFamily="34" charset="-122"/>
                <a:cs typeface="Calibri" pitchFamily="34" charset="-120"/>
              </a:rPr>
              <a:t>IMPLEMENTED</a:t>
            </a:r>
            <a:endParaRPr lang="en-US" sz="850" dirty="0"/>
          </a:p>
        </p:txBody>
      </p:sp>
      <p:sp>
        <p:nvSpPr>
          <p:cNvPr id="10" name="Shape 7"/>
          <p:cNvSpPr/>
          <p:nvPr/>
        </p:nvSpPr>
        <p:spPr>
          <a:xfrm>
            <a:off x="3291840" y="1499616"/>
            <a:ext cx="1389888" cy="621792"/>
          </a:xfrm>
          <a:prstGeom prst="roundRect">
            <a:avLst>
              <a:gd name="adj" fmla="val 8824"/>
            </a:avLst>
          </a:prstGeom>
          <a:solidFill>
            <a:srgbClr val="0C1A30"/>
          </a:solidFill>
          <a:ln w="12700">
            <a:solidFill>
              <a:srgbClr val="3A4F7A"/>
            </a:solidFill>
            <a:prstDash val="solid"/>
          </a:ln>
        </p:spPr>
      </p:sp>
      <p:sp>
        <p:nvSpPr>
          <p:cNvPr id="11" name="Text 8"/>
          <p:cNvSpPr txBox="1"/>
          <p:nvPr/>
        </p:nvSpPr>
        <p:spPr>
          <a:xfrm>
            <a:off x="3337560" y="1499616"/>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A9BCDB"/>
                </a:solidFill>
                <a:latin typeface="Calibri" pitchFamily="34" charset="0"/>
                <a:ea typeface="Calibri" pitchFamily="34" charset="-122"/>
                <a:cs typeface="Calibri" pitchFamily="34" charset="-120"/>
              </a:rPr>
              <a:t>Python</a:t>
            </a:r>
            <a:endParaRPr lang="en-US" sz="900" dirty="0"/>
          </a:p>
        </p:txBody>
      </p:sp>
      <p:sp>
        <p:nvSpPr>
          <p:cNvPr id="12" name="Shape 9"/>
          <p:cNvSpPr/>
          <p:nvPr/>
        </p:nvSpPr>
        <p:spPr>
          <a:xfrm>
            <a:off x="4736592" y="1746504"/>
            <a:ext cx="201168" cy="128016"/>
          </a:xfrm>
          <a:prstGeom prst="rightArrow">
            <a:avLst/>
          </a:prstGeom>
          <a:solidFill>
            <a:srgbClr val="2B5FC4"/>
          </a:solidFill>
          <a:ln w="12700">
            <a:solidFill>
              <a:srgbClr val="2B5FC4"/>
            </a:solidFill>
            <a:prstDash val="solid"/>
          </a:ln>
        </p:spPr>
      </p:sp>
      <p:sp>
        <p:nvSpPr>
          <p:cNvPr id="13" name="Shape 10"/>
          <p:cNvSpPr/>
          <p:nvPr/>
        </p:nvSpPr>
        <p:spPr>
          <a:xfrm>
            <a:off x="4992624" y="1499616"/>
            <a:ext cx="1389888" cy="621792"/>
          </a:xfrm>
          <a:prstGeom prst="roundRect">
            <a:avLst>
              <a:gd name="adj" fmla="val 8824"/>
            </a:avLst>
          </a:prstGeom>
          <a:solidFill>
            <a:srgbClr val="0C1A30"/>
          </a:solidFill>
          <a:ln w="12700">
            <a:solidFill>
              <a:srgbClr val="3A4F7A"/>
            </a:solidFill>
            <a:prstDash val="solid"/>
          </a:ln>
        </p:spPr>
      </p:sp>
      <p:sp>
        <p:nvSpPr>
          <p:cNvPr id="14" name="Text 11"/>
          <p:cNvSpPr txBox="1"/>
          <p:nvPr/>
        </p:nvSpPr>
        <p:spPr>
          <a:xfrm>
            <a:off x="5038344" y="1499616"/>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A9BCDB"/>
                </a:solidFill>
                <a:latin typeface="Calibri" pitchFamily="34" charset="0"/>
                <a:ea typeface="Calibri" pitchFamily="34" charset="-122"/>
                <a:cs typeface="Calibri" pitchFamily="34" charset="-120"/>
              </a:rPr>
              <a:t>ctypes</a:t>
            </a:r>
            <a:endParaRPr lang="en-US" sz="900" dirty="0"/>
          </a:p>
        </p:txBody>
      </p:sp>
      <p:sp>
        <p:nvSpPr>
          <p:cNvPr id="15" name="Shape 12"/>
          <p:cNvSpPr/>
          <p:nvPr/>
        </p:nvSpPr>
        <p:spPr>
          <a:xfrm>
            <a:off x="6437376" y="1746504"/>
            <a:ext cx="201168" cy="128016"/>
          </a:xfrm>
          <a:prstGeom prst="rightArrow">
            <a:avLst/>
          </a:prstGeom>
          <a:solidFill>
            <a:srgbClr val="2B5FC4"/>
          </a:solidFill>
          <a:ln w="12700">
            <a:solidFill>
              <a:srgbClr val="2B5FC4"/>
            </a:solidFill>
            <a:prstDash val="solid"/>
          </a:ln>
        </p:spPr>
      </p:sp>
      <p:sp>
        <p:nvSpPr>
          <p:cNvPr id="16" name="Shape 13"/>
          <p:cNvSpPr/>
          <p:nvPr/>
        </p:nvSpPr>
        <p:spPr>
          <a:xfrm>
            <a:off x="6693408" y="1499616"/>
            <a:ext cx="1389888" cy="621792"/>
          </a:xfrm>
          <a:prstGeom prst="roundRect">
            <a:avLst>
              <a:gd name="adj" fmla="val 8824"/>
            </a:avLst>
          </a:prstGeom>
          <a:solidFill>
            <a:srgbClr val="0C1A30"/>
          </a:solidFill>
          <a:ln w="12700">
            <a:solidFill>
              <a:srgbClr val="3A4F7A"/>
            </a:solidFill>
            <a:prstDash val="solid"/>
          </a:ln>
        </p:spPr>
      </p:sp>
      <p:sp>
        <p:nvSpPr>
          <p:cNvPr id="17" name="Text 14"/>
          <p:cNvSpPr txBox="1"/>
          <p:nvPr/>
        </p:nvSpPr>
        <p:spPr>
          <a:xfrm>
            <a:off x="6739128" y="1499616"/>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A9BCDB"/>
                </a:solidFill>
                <a:latin typeface="Calibri" pitchFamily="34" charset="0"/>
                <a:ea typeface="Calibri" pitchFamily="34" charset="-122"/>
                <a:cs typeface="Calibri" pitchFamily="34" charset="-120"/>
              </a:rPr>
              <a:t>Windows Restart</a:t>
            </a:r>
            <a:endParaRPr lang="en-US" sz="900" dirty="0"/>
          </a:p>
          <a:p>
            <a:pPr algn="ctr" indent="0" marL="0">
              <a:lnSpc>
                <a:spcPts val="1100"/>
              </a:lnSpc>
              <a:buNone/>
            </a:pPr>
            <a:r>
              <a:rPr lang="en-US" sz="900" dirty="0">
                <a:solidFill>
                  <a:srgbClr val="A9BCDB"/>
                </a:solidFill>
                <a:latin typeface="Calibri" pitchFamily="34" charset="0"/>
                <a:ea typeface="Calibri" pitchFamily="34" charset="-122"/>
                <a:cs typeface="Calibri" pitchFamily="34" charset="-120"/>
              </a:rPr>
              <a:t>Manager API</a:t>
            </a:r>
            <a:endParaRPr lang="en-US" sz="900" dirty="0"/>
          </a:p>
        </p:txBody>
      </p:sp>
      <p:sp>
        <p:nvSpPr>
          <p:cNvPr id="18" name="Shape 15"/>
          <p:cNvSpPr/>
          <p:nvPr/>
        </p:nvSpPr>
        <p:spPr>
          <a:xfrm>
            <a:off x="8138160" y="1746504"/>
            <a:ext cx="201168" cy="128016"/>
          </a:xfrm>
          <a:prstGeom prst="rightArrow">
            <a:avLst/>
          </a:prstGeom>
          <a:solidFill>
            <a:srgbClr val="2B5FC4"/>
          </a:solidFill>
          <a:ln w="12700">
            <a:solidFill>
              <a:srgbClr val="2B5FC4"/>
            </a:solidFill>
            <a:prstDash val="solid"/>
          </a:ln>
        </p:spPr>
      </p:sp>
      <p:sp>
        <p:nvSpPr>
          <p:cNvPr id="19" name="Shape 16"/>
          <p:cNvSpPr/>
          <p:nvPr/>
        </p:nvSpPr>
        <p:spPr>
          <a:xfrm>
            <a:off x="8394192" y="1499616"/>
            <a:ext cx="1389888" cy="621792"/>
          </a:xfrm>
          <a:prstGeom prst="roundRect">
            <a:avLst>
              <a:gd name="adj" fmla="val 8824"/>
            </a:avLst>
          </a:prstGeom>
          <a:solidFill>
            <a:srgbClr val="0C1A30"/>
          </a:solidFill>
          <a:ln w="12700">
            <a:solidFill>
              <a:srgbClr val="3A4F7A"/>
            </a:solidFill>
            <a:prstDash val="solid"/>
          </a:ln>
        </p:spPr>
      </p:sp>
      <p:sp>
        <p:nvSpPr>
          <p:cNvPr id="20" name="Text 17"/>
          <p:cNvSpPr txBox="1"/>
          <p:nvPr/>
        </p:nvSpPr>
        <p:spPr>
          <a:xfrm>
            <a:off x="8439912" y="1499616"/>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A9BCDB"/>
                </a:solidFill>
                <a:latin typeface="Courier New" pitchFamily="34" charset="0"/>
                <a:ea typeface="Courier New" pitchFamily="34" charset="-122"/>
                <a:cs typeface="Courier New" pitchFamily="34" charset="-120"/>
              </a:rPr>
              <a:t>Rstrtmgr.dll</a:t>
            </a:r>
            <a:endParaRPr lang="en-US" sz="900" dirty="0"/>
          </a:p>
        </p:txBody>
      </p:sp>
      <p:sp>
        <p:nvSpPr>
          <p:cNvPr id="21" name="Shape 18"/>
          <p:cNvSpPr/>
          <p:nvPr/>
        </p:nvSpPr>
        <p:spPr>
          <a:xfrm>
            <a:off x="9838944" y="1746504"/>
            <a:ext cx="201168" cy="128016"/>
          </a:xfrm>
          <a:prstGeom prst="rightArrow">
            <a:avLst/>
          </a:prstGeom>
          <a:solidFill>
            <a:srgbClr val="2B5FC4"/>
          </a:solidFill>
          <a:ln w="12700">
            <a:solidFill>
              <a:srgbClr val="2B5FC4"/>
            </a:solidFill>
            <a:prstDash val="solid"/>
          </a:ln>
        </p:spPr>
      </p:sp>
      <p:sp>
        <p:nvSpPr>
          <p:cNvPr id="22" name="Shape 19"/>
          <p:cNvSpPr/>
          <p:nvPr/>
        </p:nvSpPr>
        <p:spPr>
          <a:xfrm>
            <a:off x="10094976" y="1499616"/>
            <a:ext cx="1389888" cy="621792"/>
          </a:xfrm>
          <a:prstGeom prst="roundRect">
            <a:avLst>
              <a:gd name="adj" fmla="val 8824"/>
            </a:avLst>
          </a:prstGeom>
          <a:solidFill>
            <a:srgbClr val="0C1A30"/>
          </a:solidFill>
          <a:ln w="12700">
            <a:solidFill>
              <a:srgbClr val="2DD4A7"/>
            </a:solidFill>
            <a:prstDash val="solid"/>
          </a:ln>
        </p:spPr>
      </p:sp>
      <p:sp>
        <p:nvSpPr>
          <p:cNvPr id="23" name="Text 20"/>
          <p:cNvSpPr txBox="1"/>
          <p:nvPr/>
        </p:nvSpPr>
        <p:spPr>
          <a:xfrm>
            <a:off x="10140696" y="1499616"/>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FFFFFF"/>
                </a:solidFill>
                <a:latin typeface="Calibri" pitchFamily="34" charset="0"/>
                <a:ea typeface="Calibri" pitchFamily="34" charset="-122"/>
                <a:cs typeface="Calibri" pitchFamily="34" charset="-120"/>
              </a:rPr>
              <a:t>process · PID ·</a:t>
            </a:r>
            <a:endParaRPr lang="en-US" sz="900" dirty="0"/>
          </a:p>
          <a:p>
            <a:pPr algn="ctr" indent="0" marL="0">
              <a:lnSpc>
                <a:spcPts val="1100"/>
              </a:lnSpc>
              <a:buNone/>
            </a:pPr>
            <a:r>
              <a:rPr lang="en-US" sz="900" dirty="0">
                <a:solidFill>
                  <a:srgbClr val="FFFFFF"/>
                </a:solidFill>
                <a:latin typeface="Calibri" pitchFamily="34" charset="0"/>
                <a:ea typeface="Calibri" pitchFamily="34" charset="-122"/>
                <a:cs typeface="Calibri" pitchFamily="34" charset="-120"/>
              </a:rPr>
              <a:t>executable path</a:t>
            </a:r>
            <a:endParaRPr lang="en-US" sz="900" dirty="0"/>
          </a:p>
        </p:txBody>
      </p:sp>
      <p:sp>
        <p:nvSpPr>
          <p:cNvPr id="24" name="Shape 21"/>
          <p:cNvSpPr/>
          <p:nvPr/>
        </p:nvSpPr>
        <p:spPr>
          <a:xfrm>
            <a:off x="502920" y="2468880"/>
            <a:ext cx="11185855" cy="1024128"/>
          </a:xfrm>
          <a:prstGeom prst="roundRect">
            <a:avLst>
              <a:gd name="adj" fmla="val 7143"/>
            </a:avLst>
          </a:prstGeom>
          <a:solidFill>
            <a:srgbClr val="16294A"/>
          </a:solidFill>
          <a:ln w="12700">
            <a:solidFill>
              <a:srgbClr val="2A4374"/>
            </a:solidFill>
            <a:prstDash val="solid"/>
          </a:ln>
        </p:spPr>
      </p:sp>
      <p:sp>
        <p:nvSpPr>
          <p:cNvPr id="25" name="Shape 22"/>
          <p:cNvSpPr/>
          <p:nvPr/>
        </p:nvSpPr>
        <p:spPr>
          <a:xfrm>
            <a:off x="740664" y="2743200"/>
            <a:ext cx="128016" cy="128016"/>
          </a:xfrm>
          <a:prstGeom prst="ellipse">
            <a:avLst/>
          </a:prstGeom>
          <a:solidFill>
            <a:srgbClr val="2DD4A7"/>
          </a:solidFill>
          <a:ln w="12700">
            <a:solidFill>
              <a:srgbClr val="333333"/>
            </a:solidFill>
            <a:prstDash val="solid"/>
          </a:ln>
        </p:spPr>
      </p:sp>
      <p:sp>
        <p:nvSpPr>
          <p:cNvPr id="26" name="Text 23"/>
          <p:cNvSpPr txBox="1"/>
          <p:nvPr/>
        </p:nvSpPr>
        <p:spPr>
          <a:xfrm>
            <a:off x="960120" y="2651760"/>
            <a:ext cx="2331720" cy="329184"/>
          </a:xfrm>
          <a:prstGeom prst="rect">
            <a:avLst/>
          </a:prstGeom>
          <a:noFill/>
          <a:ln/>
        </p:spPr>
        <p:txBody>
          <a:bodyPr wrap="square" lIns="0" tIns="0" rIns="0" bIns="0" rtlCol="0" anchor="ctr"/>
          <a:lstStyle/>
          <a:p>
            <a:pPr indent="0" marL="0">
              <a:lnSpc>
                <a:spcPts val="1400"/>
              </a:lnSpc>
              <a:buNone/>
            </a:pPr>
            <a:r>
              <a:rPr lang="en-US" sz="1150" b="1" dirty="0">
                <a:solidFill>
                  <a:srgbClr val="FFFFFF"/>
                </a:solidFill>
                <a:latin typeface="Calibri" pitchFamily="34" charset="0"/>
                <a:ea typeface="Calibri" pitchFamily="34" charset="-122"/>
                <a:cs typeface="Calibri" pitchFamily="34" charset="-120"/>
              </a:rPr>
              <a:t>PERMISSIONS / OWNERSHIP</a:t>
            </a:r>
            <a:endParaRPr lang="en-US" sz="1150" dirty="0"/>
          </a:p>
        </p:txBody>
      </p:sp>
      <p:sp>
        <p:nvSpPr>
          <p:cNvPr id="27" name="Shape 24"/>
          <p:cNvSpPr/>
          <p:nvPr/>
        </p:nvSpPr>
        <p:spPr>
          <a:xfrm>
            <a:off x="960120" y="3035808"/>
            <a:ext cx="1188720" cy="219456"/>
          </a:xfrm>
          <a:prstGeom prst="roundRect">
            <a:avLst>
              <a:gd name="adj" fmla="val 50000"/>
            </a:avLst>
          </a:prstGeom>
          <a:solidFill>
            <a:srgbClr val="0C1A30"/>
          </a:solidFill>
          <a:ln w="12700">
            <a:solidFill>
              <a:srgbClr val="2DD4A7"/>
            </a:solidFill>
            <a:prstDash val="solid"/>
          </a:ln>
        </p:spPr>
      </p:sp>
      <p:sp>
        <p:nvSpPr>
          <p:cNvPr id="28" name="Text 25"/>
          <p:cNvSpPr txBox="1"/>
          <p:nvPr/>
        </p:nvSpPr>
        <p:spPr>
          <a:xfrm>
            <a:off x="960120" y="3035808"/>
            <a:ext cx="1188720" cy="219456"/>
          </a:xfrm>
          <a:prstGeom prst="rect">
            <a:avLst/>
          </a:prstGeom>
          <a:noFill/>
          <a:ln/>
        </p:spPr>
        <p:txBody>
          <a:bodyPr wrap="square" lIns="0" tIns="0" rIns="0" bIns="0" rtlCol="0" anchor="ctr"/>
          <a:lstStyle/>
          <a:p>
            <a:pPr algn="ctr" indent="0" marL="0">
              <a:buNone/>
            </a:pPr>
            <a:r>
              <a:rPr lang="en-US" sz="850" b="1" dirty="0">
                <a:solidFill>
                  <a:srgbClr val="2DD4A7"/>
                </a:solidFill>
                <a:latin typeface="Calibri" pitchFamily="34" charset="0"/>
                <a:ea typeface="Calibri" pitchFamily="34" charset="-122"/>
                <a:cs typeface="Calibri" pitchFamily="34" charset="-120"/>
              </a:rPr>
              <a:t>IMPLEMENTED</a:t>
            </a:r>
            <a:endParaRPr lang="en-US" sz="850" dirty="0"/>
          </a:p>
        </p:txBody>
      </p:sp>
      <p:sp>
        <p:nvSpPr>
          <p:cNvPr id="29" name="Shape 26"/>
          <p:cNvSpPr/>
          <p:nvPr/>
        </p:nvSpPr>
        <p:spPr>
          <a:xfrm>
            <a:off x="3291840" y="2670048"/>
            <a:ext cx="1389888" cy="621792"/>
          </a:xfrm>
          <a:prstGeom prst="roundRect">
            <a:avLst>
              <a:gd name="adj" fmla="val 8824"/>
            </a:avLst>
          </a:prstGeom>
          <a:solidFill>
            <a:srgbClr val="0C1A30"/>
          </a:solidFill>
          <a:ln w="12700">
            <a:solidFill>
              <a:srgbClr val="3A4F7A"/>
            </a:solidFill>
            <a:prstDash val="solid"/>
          </a:ln>
        </p:spPr>
      </p:sp>
      <p:sp>
        <p:nvSpPr>
          <p:cNvPr id="30" name="Text 27"/>
          <p:cNvSpPr txBox="1"/>
          <p:nvPr/>
        </p:nvSpPr>
        <p:spPr>
          <a:xfrm>
            <a:off x="3337560" y="2670048"/>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A9BCDB"/>
                </a:solidFill>
                <a:latin typeface="Calibri" pitchFamily="34" charset="0"/>
                <a:ea typeface="Calibri" pitchFamily="34" charset="-122"/>
                <a:cs typeface="Calibri" pitchFamily="34" charset="-120"/>
              </a:rPr>
              <a:t>Python OS</a:t>
            </a:r>
            <a:endParaRPr lang="en-US" sz="900" dirty="0"/>
          </a:p>
          <a:p>
            <a:pPr algn="ctr" indent="0" marL="0">
              <a:lnSpc>
                <a:spcPts val="1100"/>
              </a:lnSpc>
              <a:buNone/>
            </a:pPr>
            <a:r>
              <a:rPr lang="en-US" sz="900" dirty="0">
                <a:solidFill>
                  <a:srgbClr val="A9BCDB"/>
                </a:solidFill>
                <a:latin typeface="Calibri" pitchFamily="34" charset="0"/>
                <a:ea typeface="Calibri" pitchFamily="34" charset="-122"/>
                <a:cs typeface="Calibri" pitchFamily="34" charset="-120"/>
              </a:rPr>
              <a:t>interfaces</a:t>
            </a:r>
            <a:endParaRPr lang="en-US" sz="900" dirty="0"/>
          </a:p>
        </p:txBody>
      </p:sp>
      <p:sp>
        <p:nvSpPr>
          <p:cNvPr id="31" name="Shape 28"/>
          <p:cNvSpPr/>
          <p:nvPr/>
        </p:nvSpPr>
        <p:spPr>
          <a:xfrm>
            <a:off x="4736592" y="2916936"/>
            <a:ext cx="201168" cy="128016"/>
          </a:xfrm>
          <a:prstGeom prst="rightArrow">
            <a:avLst/>
          </a:prstGeom>
          <a:solidFill>
            <a:srgbClr val="2B5FC4"/>
          </a:solidFill>
          <a:ln w="12700">
            <a:solidFill>
              <a:srgbClr val="2B5FC4"/>
            </a:solidFill>
            <a:prstDash val="solid"/>
          </a:ln>
        </p:spPr>
      </p:sp>
      <p:sp>
        <p:nvSpPr>
          <p:cNvPr id="32" name="Shape 29"/>
          <p:cNvSpPr/>
          <p:nvPr/>
        </p:nvSpPr>
        <p:spPr>
          <a:xfrm>
            <a:off x="4992624" y="2670048"/>
            <a:ext cx="1389888" cy="621792"/>
          </a:xfrm>
          <a:prstGeom prst="roundRect">
            <a:avLst>
              <a:gd name="adj" fmla="val 8824"/>
            </a:avLst>
          </a:prstGeom>
          <a:solidFill>
            <a:srgbClr val="0C1A30"/>
          </a:solidFill>
          <a:ln w="12700">
            <a:solidFill>
              <a:srgbClr val="3A4F7A"/>
            </a:solidFill>
            <a:prstDash val="solid"/>
          </a:ln>
        </p:spPr>
      </p:sp>
      <p:sp>
        <p:nvSpPr>
          <p:cNvPr id="33" name="Text 30"/>
          <p:cNvSpPr txBox="1"/>
          <p:nvPr/>
        </p:nvSpPr>
        <p:spPr>
          <a:xfrm>
            <a:off x="5038344" y="2670048"/>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A9BCDB"/>
                </a:solidFill>
                <a:latin typeface="Courier New" pitchFamily="34" charset="0"/>
                <a:ea typeface="Courier New" pitchFamily="34" charset="-122"/>
                <a:cs typeface="Courier New" pitchFamily="34" charset="-120"/>
              </a:rPr>
              <a:t>os.access()</a:t>
            </a:r>
            <a:endParaRPr lang="en-US" sz="900" dirty="0"/>
          </a:p>
          <a:p>
            <a:pPr algn="ctr" indent="0" marL="0">
              <a:lnSpc>
                <a:spcPts val="1100"/>
              </a:lnSpc>
              <a:buNone/>
            </a:pPr>
            <a:r>
              <a:rPr lang="en-US" sz="900" dirty="0">
                <a:solidFill>
                  <a:srgbClr val="A9BCDB"/>
                </a:solidFill>
                <a:latin typeface="Courier New" pitchFamily="34" charset="0"/>
                <a:ea typeface="Courier New" pitchFamily="34" charset="-122"/>
                <a:cs typeface="Courier New" pitchFamily="34" charset="-120"/>
              </a:rPr>
              <a:t>+ ctypes</a:t>
            </a:r>
            <a:endParaRPr lang="en-US" sz="900" dirty="0"/>
          </a:p>
        </p:txBody>
      </p:sp>
      <p:sp>
        <p:nvSpPr>
          <p:cNvPr id="34" name="Shape 31"/>
          <p:cNvSpPr/>
          <p:nvPr/>
        </p:nvSpPr>
        <p:spPr>
          <a:xfrm>
            <a:off x="6437376" y="2916936"/>
            <a:ext cx="201168" cy="128016"/>
          </a:xfrm>
          <a:prstGeom prst="rightArrow">
            <a:avLst/>
          </a:prstGeom>
          <a:solidFill>
            <a:srgbClr val="2B5FC4"/>
          </a:solidFill>
          <a:ln w="12700">
            <a:solidFill>
              <a:srgbClr val="2B5FC4"/>
            </a:solidFill>
            <a:prstDash val="solid"/>
          </a:ln>
        </p:spPr>
      </p:sp>
      <p:sp>
        <p:nvSpPr>
          <p:cNvPr id="35" name="Shape 32"/>
          <p:cNvSpPr/>
          <p:nvPr/>
        </p:nvSpPr>
        <p:spPr>
          <a:xfrm>
            <a:off x="6693408" y="2670048"/>
            <a:ext cx="1389888" cy="621792"/>
          </a:xfrm>
          <a:prstGeom prst="roundRect">
            <a:avLst>
              <a:gd name="adj" fmla="val 8824"/>
            </a:avLst>
          </a:prstGeom>
          <a:solidFill>
            <a:srgbClr val="0C1A30"/>
          </a:solidFill>
          <a:ln w="12700">
            <a:solidFill>
              <a:srgbClr val="3A4F7A"/>
            </a:solidFill>
            <a:prstDash val="solid"/>
          </a:ln>
        </p:spPr>
      </p:sp>
      <p:sp>
        <p:nvSpPr>
          <p:cNvPr id="36" name="Text 33"/>
          <p:cNvSpPr txBox="1"/>
          <p:nvPr/>
        </p:nvSpPr>
        <p:spPr>
          <a:xfrm>
            <a:off x="6739128" y="2670048"/>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A9BCDB"/>
                </a:solidFill>
                <a:latin typeface="Calibri" pitchFamily="34" charset="0"/>
                <a:ea typeface="Calibri" pitchFamily="34" charset="-122"/>
                <a:cs typeface="Calibri" pitchFamily="34" charset="-120"/>
              </a:rPr>
              <a:t>Windows security</a:t>
            </a:r>
            <a:endParaRPr lang="en-US" sz="900" dirty="0"/>
          </a:p>
          <a:p>
            <a:pPr algn="ctr" indent="0" marL="0">
              <a:lnSpc>
                <a:spcPts val="1100"/>
              </a:lnSpc>
              <a:buNone/>
            </a:pPr>
            <a:r>
              <a:rPr lang="en-US" sz="900" dirty="0">
                <a:solidFill>
                  <a:srgbClr val="A9BCDB"/>
                </a:solidFill>
                <a:latin typeface="Calibri" pitchFamily="34" charset="0"/>
                <a:ea typeface="Calibri" pitchFamily="34" charset="-122"/>
                <a:cs typeface="Calibri" pitchFamily="34" charset="-120"/>
              </a:rPr>
              <a:t>APIs</a:t>
            </a:r>
            <a:endParaRPr lang="en-US" sz="900" dirty="0"/>
          </a:p>
        </p:txBody>
      </p:sp>
      <p:sp>
        <p:nvSpPr>
          <p:cNvPr id="37" name="Shape 34"/>
          <p:cNvSpPr/>
          <p:nvPr/>
        </p:nvSpPr>
        <p:spPr>
          <a:xfrm>
            <a:off x="8138160" y="2916936"/>
            <a:ext cx="201168" cy="128016"/>
          </a:xfrm>
          <a:prstGeom prst="rightArrow">
            <a:avLst/>
          </a:prstGeom>
          <a:solidFill>
            <a:srgbClr val="2B5FC4"/>
          </a:solidFill>
          <a:ln w="12700">
            <a:solidFill>
              <a:srgbClr val="2B5FC4"/>
            </a:solidFill>
            <a:prstDash val="solid"/>
          </a:ln>
        </p:spPr>
      </p:sp>
      <p:sp>
        <p:nvSpPr>
          <p:cNvPr id="38" name="Shape 35"/>
          <p:cNvSpPr/>
          <p:nvPr/>
        </p:nvSpPr>
        <p:spPr>
          <a:xfrm>
            <a:off x="8394192" y="2670048"/>
            <a:ext cx="1389888" cy="621792"/>
          </a:xfrm>
          <a:prstGeom prst="roundRect">
            <a:avLst>
              <a:gd name="adj" fmla="val 8824"/>
            </a:avLst>
          </a:prstGeom>
          <a:solidFill>
            <a:srgbClr val="0C1A30"/>
          </a:solidFill>
          <a:ln w="12700">
            <a:solidFill>
              <a:srgbClr val="3A4F7A"/>
            </a:solidFill>
            <a:prstDash val="solid"/>
          </a:ln>
        </p:spPr>
      </p:sp>
      <p:sp>
        <p:nvSpPr>
          <p:cNvPr id="39" name="Text 36"/>
          <p:cNvSpPr txBox="1"/>
          <p:nvPr/>
        </p:nvSpPr>
        <p:spPr>
          <a:xfrm>
            <a:off x="8439912" y="2670048"/>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A9BCDB"/>
                </a:solidFill>
                <a:latin typeface="Courier New" pitchFamily="34" charset="0"/>
                <a:ea typeface="Courier New" pitchFamily="34" charset="-122"/>
                <a:cs typeface="Courier New" pitchFamily="34" charset="-120"/>
              </a:rPr>
              <a:t>advapi32.dll</a:t>
            </a:r>
            <a:endParaRPr lang="en-US" sz="900" dirty="0"/>
          </a:p>
        </p:txBody>
      </p:sp>
      <p:sp>
        <p:nvSpPr>
          <p:cNvPr id="40" name="Shape 37"/>
          <p:cNvSpPr/>
          <p:nvPr/>
        </p:nvSpPr>
        <p:spPr>
          <a:xfrm>
            <a:off x="9838944" y="2916936"/>
            <a:ext cx="201168" cy="128016"/>
          </a:xfrm>
          <a:prstGeom prst="rightArrow">
            <a:avLst/>
          </a:prstGeom>
          <a:solidFill>
            <a:srgbClr val="2B5FC4"/>
          </a:solidFill>
          <a:ln w="12700">
            <a:solidFill>
              <a:srgbClr val="2B5FC4"/>
            </a:solidFill>
            <a:prstDash val="solid"/>
          </a:ln>
        </p:spPr>
      </p:sp>
      <p:sp>
        <p:nvSpPr>
          <p:cNvPr id="41" name="Shape 38"/>
          <p:cNvSpPr/>
          <p:nvPr/>
        </p:nvSpPr>
        <p:spPr>
          <a:xfrm>
            <a:off x="10094976" y="2670048"/>
            <a:ext cx="1389888" cy="621792"/>
          </a:xfrm>
          <a:prstGeom prst="roundRect">
            <a:avLst>
              <a:gd name="adj" fmla="val 8824"/>
            </a:avLst>
          </a:prstGeom>
          <a:solidFill>
            <a:srgbClr val="0C1A30"/>
          </a:solidFill>
          <a:ln w="12700">
            <a:solidFill>
              <a:srgbClr val="2DD4A7"/>
            </a:solidFill>
            <a:prstDash val="solid"/>
          </a:ln>
        </p:spPr>
      </p:sp>
      <p:sp>
        <p:nvSpPr>
          <p:cNvPr id="42" name="Text 39"/>
          <p:cNvSpPr txBox="1"/>
          <p:nvPr/>
        </p:nvSpPr>
        <p:spPr>
          <a:xfrm>
            <a:off x="10140696" y="2670048"/>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FFFFFF"/>
                </a:solidFill>
                <a:latin typeface="Calibri" pitchFamily="34" charset="0"/>
                <a:ea typeface="Calibri" pitchFamily="34" charset="-122"/>
                <a:cs typeface="Calibri" pitchFamily="34" charset="-120"/>
              </a:rPr>
              <a:t>owner · ACL ·</a:t>
            </a:r>
            <a:endParaRPr lang="en-US" sz="900" dirty="0"/>
          </a:p>
          <a:p>
            <a:pPr algn="ctr" indent="0" marL="0">
              <a:lnSpc>
                <a:spcPts val="1100"/>
              </a:lnSpc>
              <a:buNone/>
            </a:pPr>
            <a:r>
              <a:rPr lang="en-US" sz="900" dirty="0">
                <a:solidFill>
                  <a:srgbClr val="FFFFFF"/>
                </a:solidFill>
                <a:latin typeface="Calibri" pitchFamily="34" charset="0"/>
                <a:ea typeface="Calibri" pitchFamily="34" charset="-122"/>
                <a:cs typeface="Calibri" pitchFamily="34" charset="-120"/>
              </a:rPr>
              <a:t>permissions</a:t>
            </a:r>
            <a:endParaRPr lang="en-US" sz="900" dirty="0"/>
          </a:p>
        </p:txBody>
      </p:sp>
      <p:sp>
        <p:nvSpPr>
          <p:cNvPr id="43" name="Shape 40"/>
          <p:cNvSpPr/>
          <p:nvPr/>
        </p:nvSpPr>
        <p:spPr>
          <a:xfrm>
            <a:off x="502920" y="3639312"/>
            <a:ext cx="11185855" cy="1024128"/>
          </a:xfrm>
          <a:prstGeom prst="roundRect">
            <a:avLst>
              <a:gd name="adj" fmla="val 7143"/>
            </a:avLst>
          </a:prstGeom>
          <a:solidFill>
            <a:srgbClr val="16294A"/>
          </a:solidFill>
          <a:ln w="12700">
            <a:solidFill>
              <a:srgbClr val="2A4374"/>
            </a:solidFill>
            <a:prstDash val="solid"/>
          </a:ln>
        </p:spPr>
      </p:sp>
      <p:sp>
        <p:nvSpPr>
          <p:cNvPr id="44" name="Shape 41"/>
          <p:cNvSpPr/>
          <p:nvPr/>
        </p:nvSpPr>
        <p:spPr>
          <a:xfrm>
            <a:off x="740664" y="3913632"/>
            <a:ext cx="128016" cy="128016"/>
          </a:xfrm>
          <a:prstGeom prst="ellipse">
            <a:avLst/>
          </a:prstGeom>
          <a:solidFill>
            <a:srgbClr val="2DD4A7"/>
          </a:solidFill>
          <a:ln w="12700">
            <a:solidFill>
              <a:srgbClr val="333333"/>
            </a:solidFill>
            <a:prstDash val="solid"/>
          </a:ln>
        </p:spPr>
      </p:sp>
      <p:sp>
        <p:nvSpPr>
          <p:cNvPr id="45" name="Text 42"/>
          <p:cNvSpPr txBox="1"/>
          <p:nvPr/>
        </p:nvSpPr>
        <p:spPr>
          <a:xfrm>
            <a:off x="960120" y="3822192"/>
            <a:ext cx="2331720" cy="329184"/>
          </a:xfrm>
          <a:prstGeom prst="rect">
            <a:avLst/>
          </a:prstGeom>
          <a:noFill/>
          <a:ln/>
        </p:spPr>
        <p:txBody>
          <a:bodyPr wrap="square" lIns="0" tIns="0" rIns="0" bIns="0" rtlCol="0" anchor="ctr"/>
          <a:lstStyle/>
          <a:p>
            <a:pPr indent="0" marL="0">
              <a:lnSpc>
                <a:spcPts val="1400"/>
              </a:lnSpc>
              <a:buNone/>
            </a:pPr>
            <a:r>
              <a:rPr lang="en-US" sz="1150" b="1" dirty="0">
                <a:solidFill>
                  <a:srgbClr val="FFFFFF"/>
                </a:solidFill>
                <a:latin typeface="Calibri" pitchFamily="34" charset="0"/>
                <a:ea typeface="Calibri" pitchFamily="34" charset="-122"/>
                <a:cs typeface="Calibri" pitchFamily="34" charset="-120"/>
              </a:rPr>
              <a:t>PROCESS ENRICHMENT</a:t>
            </a:r>
            <a:endParaRPr lang="en-US" sz="1150" dirty="0"/>
          </a:p>
        </p:txBody>
      </p:sp>
      <p:sp>
        <p:nvSpPr>
          <p:cNvPr id="46" name="Shape 43"/>
          <p:cNvSpPr/>
          <p:nvPr/>
        </p:nvSpPr>
        <p:spPr>
          <a:xfrm>
            <a:off x="960120" y="4206240"/>
            <a:ext cx="1188720" cy="219456"/>
          </a:xfrm>
          <a:prstGeom prst="roundRect">
            <a:avLst>
              <a:gd name="adj" fmla="val 50000"/>
            </a:avLst>
          </a:prstGeom>
          <a:solidFill>
            <a:srgbClr val="0C1A30"/>
          </a:solidFill>
          <a:ln w="12700">
            <a:solidFill>
              <a:srgbClr val="2DD4A7"/>
            </a:solidFill>
            <a:prstDash val="solid"/>
          </a:ln>
        </p:spPr>
      </p:sp>
      <p:sp>
        <p:nvSpPr>
          <p:cNvPr id="47" name="Text 44"/>
          <p:cNvSpPr txBox="1"/>
          <p:nvPr/>
        </p:nvSpPr>
        <p:spPr>
          <a:xfrm>
            <a:off x="960120" y="4206240"/>
            <a:ext cx="1188720" cy="219456"/>
          </a:xfrm>
          <a:prstGeom prst="rect">
            <a:avLst/>
          </a:prstGeom>
          <a:noFill/>
          <a:ln/>
        </p:spPr>
        <p:txBody>
          <a:bodyPr wrap="square" lIns="0" tIns="0" rIns="0" bIns="0" rtlCol="0" anchor="ctr"/>
          <a:lstStyle/>
          <a:p>
            <a:pPr algn="ctr" indent="0" marL="0">
              <a:buNone/>
            </a:pPr>
            <a:r>
              <a:rPr lang="en-US" sz="850" b="1" dirty="0">
                <a:solidFill>
                  <a:srgbClr val="2DD4A7"/>
                </a:solidFill>
                <a:latin typeface="Calibri" pitchFamily="34" charset="0"/>
                <a:ea typeface="Calibri" pitchFamily="34" charset="-122"/>
                <a:cs typeface="Calibri" pitchFamily="34" charset="-120"/>
              </a:rPr>
              <a:t>IMPLEMENTED</a:t>
            </a:r>
            <a:endParaRPr lang="en-US" sz="850" dirty="0"/>
          </a:p>
        </p:txBody>
      </p:sp>
      <p:sp>
        <p:nvSpPr>
          <p:cNvPr id="48" name="Shape 45"/>
          <p:cNvSpPr/>
          <p:nvPr/>
        </p:nvSpPr>
        <p:spPr>
          <a:xfrm>
            <a:off x="3291840" y="3840480"/>
            <a:ext cx="1389888" cy="621792"/>
          </a:xfrm>
          <a:prstGeom prst="roundRect">
            <a:avLst>
              <a:gd name="adj" fmla="val 8824"/>
            </a:avLst>
          </a:prstGeom>
          <a:solidFill>
            <a:srgbClr val="0C1A30"/>
          </a:solidFill>
          <a:ln w="12700">
            <a:solidFill>
              <a:srgbClr val="3A4F7A"/>
            </a:solidFill>
            <a:prstDash val="solid"/>
          </a:ln>
        </p:spPr>
      </p:sp>
      <p:sp>
        <p:nvSpPr>
          <p:cNvPr id="49" name="Text 46"/>
          <p:cNvSpPr txBox="1"/>
          <p:nvPr/>
        </p:nvSpPr>
        <p:spPr>
          <a:xfrm>
            <a:off x="3337560" y="3840480"/>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A9BCDB"/>
                </a:solidFill>
                <a:latin typeface="Calibri" pitchFamily="34" charset="0"/>
                <a:ea typeface="Calibri" pitchFamily="34" charset="-122"/>
                <a:cs typeface="Calibri" pitchFamily="34" charset="-120"/>
              </a:rPr>
              <a:t>Python</a:t>
            </a:r>
            <a:endParaRPr lang="en-US" sz="900" dirty="0"/>
          </a:p>
        </p:txBody>
      </p:sp>
      <p:sp>
        <p:nvSpPr>
          <p:cNvPr id="50" name="Shape 47"/>
          <p:cNvSpPr/>
          <p:nvPr/>
        </p:nvSpPr>
        <p:spPr>
          <a:xfrm>
            <a:off x="4736592" y="4087368"/>
            <a:ext cx="201168" cy="128016"/>
          </a:xfrm>
          <a:prstGeom prst="rightArrow">
            <a:avLst/>
          </a:prstGeom>
          <a:solidFill>
            <a:srgbClr val="2B5FC4"/>
          </a:solidFill>
          <a:ln w="12700">
            <a:solidFill>
              <a:srgbClr val="2B5FC4"/>
            </a:solidFill>
            <a:prstDash val="solid"/>
          </a:ln>
        </p:spPr>
      </p:sp>
      <p:sp>
        <p:nvSpPr>
          <p:cNvPr id="51" name="Shape 48"/>
          <p:cNvSpPr/>
          <p:nvPr/>
        </p:nvSpPr>
        <p:spPr>
          <a:xfrm>
            <a:off x="4992624" y="3840480"/>
            <a:ext cx="1389888" cy="621792"/>
          </a:xfrm>
          <a:prstGeom prst="roundRect">
            <a:avLst>
              <a:gd name="adj" fmla="val 8824"/>
            </a:avLst>
          </a:prstGeom>
          <a:solidFill>
            <a:srgbClr val="0C1A30"/>
          </a:solidFill>
          <a:ln w="12700">
            <a:solidFill>
              <a:srgbClr val="3A4F7A"/>
            </a:solidFill>
            <a:prstDash val="solid"/>
          </a:ln>
        </p:spPr>
      </p:sp>
      <p:sp>
        <p:nvSpPr>
          <p:cNvPr id="52" name="Text 49"/>
          <p:cNvSpPr txBox="1"/>
          <p:nvPr/>
        </p:nvSpPr>
        <p:spPr>
          <a:xfrm>
            <a:off x="5038344" y="3840480"/>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A9BCDB"/>
                </a:solidFill>
                <a:latin typeface="Calibri" pitchFamily="34" charset="0"/>
                <a:ea typeface="Calibri" pitchFamily="34" charset="-122"/>
                <a:cs typeface="Calibri" pitchFamily="34" charset="-120"/>
              </a:rPr>
              <a:t>psutil</a:t>
            </a:r>
            <a:endParaRPr lang="en-US" sz="900" dirty="0"/>
          </a:p>
        </p:txBody>
      </p:sp>
      <p:sp>
        <p:nvSpPr>
          <p:cNvPr id="53" name="Shape 50"/>
          <p:cNvSpPr/>
          <p:nvPr/>
        </p:nvSpPr>
        <p:spPr>
          <a:xfrm>
            <a:off x="6437376" y="4087368"/>
            <a:ext cx="201168" cy="128016"/>
          </a:xfrm>
          <a:prstGeom prst="rightArrow">
            <a:avLst/>
          </a:prstGeom>
          <a:solidFill>
            <a:srgbClr val="2B5FC4"/>
          </a:solidFill>
          <a:ln w="12700">
            <a:solidFill>
              <a:srgbClr val="2B5FC4"/>
            </a:solidFill>
            <a:prstDash val="solid"/>
          </a:ln>
        </p:spPr>
      </p:sp>
      <p:sp>
        <p:nvSpPr>
          <p:cNvPr id="54" name="Shape 51"/>
          <p:cNvSpPr/>
          <p:nvPr/>
        </p:nvSpPr>
        <p:spPr>
          <a:xfrm>
            <a:off x="6693408" y="3840480"/>
            <a:ext cx="1389888" cy="621792"/>
          </a:xfrm>
          <a:prstGeom prst="roundRect">
            <a:avLst>
              <a:gd name="adj" fmla="val 8824"/>
            </a:avLst>
          </a:prstGeom>
          <a:solidFill>
            <a:srgbClr val="0C1A30"/>
          </a:solidFill>
          <a:ln w="12700">
            <a:solidFill>
              <a:srgbClr val="3A4F7A"/>
            </a:solidFill>
            <a:prstDash val="solid"/>
          </a:ln>
        </p:spPr>
      </p:sp>
      <p:sp>
        <p:nvSpPr>
          <p:cNvPr id="55" name="Text 52"/>
          <p:cNvSpPr txBox="1"/>
          <p:nvPr/>
        </p:nvSpPr>
        <p:spPr>
          <a:xfrm>
            <a:off x="6739128" y="3840480"/>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A9BCDB"/>
                </a:solidFill>
                <a:latin typeface="Calibri" pitchFamily="34" charset="0"/>
                <a:ea typeface="Calibri" pitchFamily="34" charset="-122"/>
                <a:cs typeface="Calibri" pitchFamily="34" charset="-120"/>
              </a:rPr>
              <a:t>process metadata</a:t>
            </a:r>
            <a:endParaRPr lang="en-US" sz="900" dirty="0"/>
          </a:p>
        </p:txBody>
      </p:sp>
      <p:sp>
        <p:nvSpPr>
          <p:cNvPr id="56" name="Shape 53"/>
          <p:cNvSpPr/>
          <p:nvPr/>
        </p:nvSpPr>
        <p:spPr>
          <a:xfrm>
            <a:off x="8138160" y="4087368"/>
            <a:ext cx="201168" cy="128016"/>
          </a:xfrm>
          <a:prstGeom prst="rightArrow">
            <a:avLst/>
          </a:prstGeom>
          <a:solidFill>
            <a:srgbClr val="2B5FC4"/>
          </a:solidFill>
          <a:ln w="12700">
            <a:solidFill>
              <a:srgbClr val="2B5FC4"/>
            </a:solidFill>
            <a:prstDash val="solid"/>
          </a:ln>
        </p:spPr>
      </p:sp>
      <p:sp>
        <p:nvSpPr>
          <p:cNvPr id="57" name="Shape 54"/>
          <p:cNvSpPr/>
          <p:nvPr/>
        </p:nvSpPr>
        <p:spPr>
          <a:xfrm>
            <a:off x="8394192" y="3840480"/>
            <a:ext cx="1389888" cy="621792"/>
          </a:xfrm>
          <a:prstGeom prst="roundRect">
            <a:avLst>
              <a:gd name="adj" fmla="val 8824"/>
            </a:avLst>
          </a:prstGeom>
          <a:solidFill>
            <a:srgbClr val="0C1A30"/>
          </a:solidFill>
          <a:ln w="12700">
            <a:solidFill>
              <a:srgbClr val="2DD4A7"/>
            </a:solidFill>
            <a:prstDash val="solid"/>
          </a:ln>
        </p:spPr>
      </p:sp>
      <p:sp>
        <p:nvSpPr>
          <p:cNvPr id="58" name="Text 55"/>
          <p:cNvSpPr txBox="1"/>
          <p:nvPr/>
        </p:nvSpPr>
        <p:spPr>
          <a:xfrm>
            <a:off x="8439912" y="3840480"/>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FFFFFF"/>
                </a:solidFill>
                <a:latin typeface="Calibri" pitchFamily="34" charset="0"/>
                <a:ea typeface="Calibri" pitchFamily="34" charset="-122"/>
                <a:cs typeface="Calibri" pitchFamily="34" charset="-120"/>
              </a:rPr>
              <a:t>executable path</a:t>
            </a:r>
            <a:endParaRPr lang="en-US" sz="900" dirty="0"/>
          </a:p>
          <a:p>
            <a:pPr algn="ctr" indent="0" marL="0">
              <a:lnSpc>
                <a:spcPts val="1100"/>
              </a:lnSpc>
              <a:buNone/>
            </a:pPr>
            <a:r>
              <a:rPr lang="en-US" sz="900" dirty="0">
                <a:solidFill>
                  <a:srgbClr val="FFFFFF"/>
                </a:solidFill>
                <a:latin typeface="Calibri" pitchFamily="34" charset="0"/>
                <a:ea typeface="Calibri" pitchFamily="34" charset="-122"/>
                <a:cs typeface="Calibri" pitchFamily="34" charset="-120"/>
              </a:rPr>
              <a:t>where applicable</a:t>
            </a:r>
            <a:endParaRPr lang="en-US" sz="900" dirty="0"/>
          </a:p>
        </p:txBody>
      </p:sp>
      <p:sp>
        <p:nvSpPr>
          <p:cNvPr id="59" name="Shape 56"/>
          <p:cNvSpPr/>
          <p:nvPr/>
        </p:nvSpPr>
        <p:spPr>
          <a:xfrm>
            <a:off x="502920" y="4809744"/>
            <a:ext cx="11185855" cy="1024128"/>
          </a:xfrm>
          <a:prstGeom prst="roundRect">
            <a:avLst>
              <a:gd name="adj" fmla="val 7143"/>
            </a:avLst>
          </a:prstGeom>
          <a:solidFill>
            <a:srgbClr val="16294A"/>
          </a:solidFill>
          <a:ln w="12700">
            <a:solidFill>
              <a:srgbClr val="4A4326"/>
            </a:solidFill>
            <a:prstDash val="dash"/>
          </a:ln>
        </p:spPr>
      </p:sp>
      <p:sp>
        <p:nvSpPr>
          <p:cNvPr id="60" name="Shape 57"/>
          <p:cNvSpPr/>
          <p:nvPr/>
        </p:nvSpPr>
        <p:spPr>
          <a:xfrm>
            <a:off x="740664" y="5084064"/>
            <a:ext cx="128016" cy="128016"/>
          </a:xfrm>
          <a:prstGeom prst="ellipse">
            <a:avLst/>
          </a:prstGeom>
          <a:solidFill>
            <a:srgbClr val="F5A524"/>
          </a:solidFill>
          <a:ln w="12700">
            <a:solidFill>
              <a:srgbClr val="333333"/>
            </a:solidFill>
            <a:prstDash val="solid"/>
          </a:ln>
        </p:spPr>
      </p:sp>
      <p:sp>
        <p:nvSpPr>
          <p:cNvPr id="61" name="Text 58"/>
          <p:cNvSpPr txBox="1"/>
          <p:nvPr/>
        </p:nvSpPr>
        <p:spPr>
          <a:xfrm>
            <a:off x="960120" y="4992624"/>
            <a:ext cx="2331720" cy="329184"/>
          </a:xfrm>
          <a:prstGeom prst="rect">
            <a:avLst/>
          </a:prstGeom>
          <a:noFill/>
          <a:ln/>
        </p:spPr>
        <p:txBody>
          <a:bodyPr wrap="square" lIns="0" tIns="0" rIns="0" bIns="0" rtlCol="0" anchor="ctr"/>
          <a:lstStyle/>
          <a:p>
            <a:pPr indent="0" marL="0">
              <a:lnSpc>
                <a:spcPts val="1400"/>
              </a:lnSpc>
              <a:buNone/>
            </a:pPr>
            <a:r>
              <a:rPr lang="en-US" sz="1150" b="1" dirty="0">
                <a:solidFill>
                  <a:srgbClr val="FFFFFF"/>
                </a:solidFill>
                <a:latin typeface="Calibri" pitchFamily="34" charset="0"/>
                <a:ea typeface="Calibri" pitchFamily="34" charset="-122"/>
                <a:cs typeface="Calibri" pitchFamily="34" charset="-120"/>
              </a:rPr>
              <a:t>FILE ATTRIBUTES  /  CLOUD SYNC</a:t>
            </a:r>
            <a:endParaRPr lang="en-US" sz="1150" dirty="0"/>
          </a:p>
        </p:txBody>
      </p:sp>
      <p:sp>
        <p:nvSpPr>
          <p:cNvPr id="62" name="Shape 59"/>
          <p:cNvSpPr/>
          <p:nvPr/>
        </p:nvSpPr>
        <p:spPr>
          <a:xfrm>
            <a:off x="960120" y="5376672"/>
            <a:ext cx="1188720" cy="219456"/>
          </a:xfrm>
          <a:prstGeom prst="roundRect">
            <a:avLst>
              <a:gd name="adj" fmla="val 50000"/>
            </a:avLst>
          </a:prstGeom>
          <a:solidFill>
            <a:srgbClr val="0C1A30"/>
          </a:solidFill>
          <a:ln w="12700">
            <a:solidFill>
              <a:srgbClr val="F5A524"/>
            </a:solidFill>
            <a:prstDash val="solid"/>
          </a:ln>
        </p:spPr>
      </p:sp>
      <p:sp>
        <p:nvSpPr>
          <p:cNvPr id="63" name="Text 60"/>
          <p:cNvSpPr txBox="1"/>
          <p:nvPr/>
        </p:nvSpPr>
        <p:spPr>
          <a:xfrm>
            <a:off x="960120" y="5376672"/>
            <a:ext cx="1188720" cy="219456"/>
          </a:xfrm>
          <a:prstGeom prst="rect">
            <a:avLst/>
          </a:prstGeom>
          <a:noFill/>
          <a:ln/>
        </p:spPr>
        <p:txBody>
          <a:bodyPr wrap="square" lIns="0" tIns="0" rIns="0" bIns="0" rtlCol="0" anchor="ctr"/>
          <a:lstStyle/>
          <a:p>
            <a:pPr algn="ctr" indent="0" marL="0">
              <a:buNone/>
            </a:pPr>
            <a:r>
              <a:rPr lang="en-US" sz="850" b="1" dirty="0">
                <a:solidFill>
                  <a:srgbClr val="F5A524"/>
                </a:solidFill>
                <a:latin typeface="Calibri" pitchFamily="34" charset="0"/>
                <a:ea typeface="Calibri" pitchFamily="34" charset="-122"/>
                <a:cs typeface="Calibri" pitchFamily="34" charset="-120"/>
              </a:rPr>
              <a:t>PLANNED</a:t>
            </a:r>
            <a:endParaRPr lang="en-US" sz="850" dirty="0"/>
          </a:p>
        </p:txBody>
      </p:sp>
      <p:sp>
        <p:nvSpPr>
          <p:cNvPr id="64" name="Shape 61"/>
          <p:cNvSpPr/>
          <p:nvPr/>
        </p:nvSpPr>
        <p:spPr>
          <a:xfrm>
            <a:off x="3291840" y="5010912"/>
            <a:ext cx="1389888" cy="621792"/>
          </a:xfrm>
          <a:prstGeom prst="roundRect">
            <a:avLst>
              <a:gd name="adj" fmla="val 8824"/>
            </a:avLst>
          </a:prstGeom>
          <a:solidFill>
            <a:srgbClr val="0C1A30"/>
          </a:solidFill>
          <a:ln w="12700">
            <a:solidFill>
              <a:srgbClr val="3A4F7A"/>
            </a:solidFill>
            <a:prstDash val="solid"/>
          </a:ln>
        </p:spPr>
      </p:sp>
      <p:sp>
        <p:nvSpPr>
          <p:cNvPr id="65" name="Text 62"/>
          <p:cNvSpPr txBox="1"/>
          <p:nvPr/>
        </p:nvSpPr>
        <p:spPr>
          <a:xfrm>
            <a:off x="3337560" y="5010912"/>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A9BCDB"/>
                </a:solidFill>
                <a:latin typeface="Calibri" pitchFamily="34" charset="0"/>
                <a:ea typeface="Calibri" pitchFamily="34" charset="-122"/>
                <a:cs typeface="Calibri" pitchFamily="34" charset="-120"/>
              </a:rPr>
              <a:t>planned filesystem</a:t>
            </a:r>
            <a:endParaRPr lang="en-US" sz="900" dirty="0"/>
          </a:p>
          <a:p>
            <a:pPr algn="ctr" indent="0" marL="0">
              <a:lnSpc>
                <a:spcPts val="1100"/>
              </a:lnSpc>
              <a:buNone/>
            </a:pPr>
            <a:r>
              <a:rPr lang="en-US" sz="900" dirty="0">
                <a:solidFill>
                  <a:srgbClr val="A9BCDB"/>
                </a:solidFill>
                <a:latin typeface="Calibri" pitchFamily="34" charset="0"/>
                <a:ea typeface="Calibri" pitchFamily="34" charset="-122"/>
                <a:cs typeface="Calibri" pitchFamily="34" charset="-120"/>
              </a:rPr>
              <a:t>attribute analysis</a:t>
            </a:r>
            <a:endParaRPr lang="en-US" sz="900" dirty="0"/>
          </a:p>
        </p:txBody>
      </p:sp>
      <p:sp>
        <p:nvSpPr>
          <p:cNvPr id="66" name="Shape 63"/>
          <p:cNvSpPr/>
          <p:nvPr/>
        </p:nvSpPr>
        <p:spPr>
          <a:xfrm>
            <a:off x="4736592" y="5257800"/>
            <a:ext cx="201168" cy="128016"/>
          </a:xfrm>
          <a:prstGeom prst="rightArrow">
            <a:avLst/>
          </a:prstGeom>
          <a:solidFill>
            <a:srgbClr val="2B5FC4"/>
          </a:solidFill>
          <a:ln w="12700">
            <a:solidFill>
              <a:srgbClr val="2B5FC4"/>
            </a:solidFill>
            <a:prstDash val="solid"/>
          </a:ln>
        </p:spPr>
      </p:sp>
      <p:sp>
        <p:nvSpPr>
          <p:cNvPr id="67" name="Shape 64"/>
          <p:cNvSpPr/>
          <p:nvPr/>
        </p:nvSpPr>
        <p:spPr>
          <a:xfrm>
            <a:off x="4992624" y="5010912"/>
            <a:ext cx="1389888" cy="621792"/>
          </a:xfrm>
          <a:prstGeom prst="roundRect">
            <a:avLst>
              <a:gd name="adj" fmla="val 8824"/>
            </a:avLst>
          </a:prstGeom>
          <a:solidFill>
            <a:srgbClr val="0C1A30"/>
          </a:solidFill>
          <a:ln w="12700">
            <a:solidFill>
              <a:srgbClr val="F5A524"/>
            </a:solidFill>
            <a:prstDash val="solid"/>
          </a:ln>
        </p:spPr>
      </p:sp>
      <p:sp>
        <p:nvSpPr>
          <p:cNvPr id="68" name="Text 65"/>
          <p:cNvSpPr txBox="1"/>
          <p:nvPr/>
        </p:nvSpPr>
        <p:spPr>
          <a:xfrm>
            <a:off x="5038344" y="5010912"/>
            <a:ext cx="1298448" cy="621792"/>
          </a:xfrm>
          <a:prstGeom prst="rect">
            <a:avLst/>
          </a:prstGeom>
          <a:noFill/>
          <a:ln/>
        </p:spPr>
        <p:txBody>
          <a:bodyPr wrap="square" lIns="0" tIns="0" rIns="0" bIns="0" rtlCol="0" anchor="ctr"/>
          <a:lstStyle/>
          <a:p>
            <a:pPr algn="ctr" indent="0" marL="0">
              <a:lnSpc>
                <a:spcPts val="1100"/>
              </a:lnSpc>
              <a:buNone/>
            </a:pPr>
            <a:r>
              <a:rPr lang="en-US" sz="900" dirty="0">
                <a:solidFill>
                  <a:srgbClr val="FFFFFF"/>
                </a:solidFill>
                <a:latin typeface="Calibri" pitchFamily="34" charset="0"/>
                <a:ea typeface="Calibri" pitchFamily="34" charset="-122"/>
                <a:cs typeface="Calibri" pitchFamily="34" charset="-120"/>
              </a:rPr>
              <a:t>planned OneDrive /</a:t>
            </a:r>
            <a:endParaRPr lang="en-US" sz="900" dirty="0"/>
          </a:p>
          <a:p>
            <a:pPr algn="ctr" indent="0" marL="0">
              <a:lnSpc>
                <a:spcPts val="1100"/>
              </a:lnSpc>
              <a:buNone/>
            </a:pPr>
            <a:r>
              <a:rPr lang="en-US" sz="900" dirty="0">
                <a:solidFill>
                  <a:srgbClr val="FFFFFF"/>
                </a:solidFill>
                <a:latin typeface="Calibri" pitchFamily="34" charset="0"/>
                <a:ea typeface="Calibri" pitchFamily="34" charset="-122"/>
                <a:cs typeface="Calibri" pitchFamily="34" charset="-120"/>
              </a:rPr>
              <a:t>Google Drive analysis</a:t>
            </a:r>
            <a:endParaRPr lang="en-US" sz="900" dirty="0"/>
          </a:p>
        </p:txBody>
      </p:sp>
      <p:sp>
        <p:nvSpPr>
          <p:cNvPr id="69" name="Shape 66"/>
          <p:cNvSpPr/>
          <p:nvPr/>
        </p:nvSpPr>
        <p:spPr>
          <a:xfrm>
            <a:off x="502920" y="6144768"/>
            <a:ext cx="11185855" cy="420624"/>
          </a:xfrm>
          <a:prstGeom prst="roundRect">
            <a:avLst>
              <a:gd name="adj" fmla="val 17391"/>
            </a:avLst>
          </a:prstGeom>
          <a:solidFill>
            <a:srgbClr val="16294A"/>
          </a:solidFill>
          <a:ln w="12700">
            <a:solidFill>
              <a:srgbClr val="2B5FC4"/>
            </a:solidFill>
            <a:prstDash val="solid"/>
          </a:ln>
        </p:spPr>
      </p:sp>
      <p:sp>
        <p:nvSpPr>
          <p:cNvPr id="70" name="Text 67"/>
          <p:cNvSpPr txBox="1"/>
          <p:nvPr/>
        </p:nvSpPr>
        <p:spPr>
          <a:xfrm>
            <a:off x="667512" y="6144768"/>
            <a:ext cx="10856671" cy="420624"/>
          </a:xfrm>
          <a:prstGeom prst="rect">
            <a:avLst/>
          </a:prstGeom>
          <a:noFill/>
          <a:ln/>
        </p:spPr>
        <p:txBody>
          <a:bodyPr wrap="square" lIns="0" tIns="0" rIns="0" bIns="0" rtlCol="0" anchor="ctr"/>
          <a:lstStyle/>
          <a:p>
            <a:pPr indent="0" marL="0">
              <a:buNone/>
            </a:pPr>
            <a:r>
              <a:rPr lang="en-US" sz="1050" i="1" dirty="0">
                <a:solidFill>
                  <a:srgbClr val="A9BCDB"/>
                </a:solidFill>
                <a:latin typeface="Calibri" pitchFamily="34" charset="0"/>
                <a:ea typeface="Calibri" pitchFamily="34" charset="-122"/>
                <a:cs typeface="Calibri" pitchFamily="34" charset="-120"/>
              </a:rPr>
              <a:t>The application runs locally and obtains information through OS-level interfaces and Windows APIs — it does not directly issue raw system calls, and it is not a remote or web service.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1A30"/>
        </a:solidFill>
      </p:bgPr>
    </p:bg>
    <p:spTree>
      <p:nvGrpSpPr>
        <p:cNvPr id="1" name=""/>
        <p:cNvGrpSpPr/>
        <p:nvPr/>
      </p:nvGrpSpPr>
      <p:grpSpPr>
        <a:xfrm>
          <a:off x="0" y="0"/>
          <a:ext cx="0" cy="0"/>
          <a:chOff x="0" y="0"/>
          <a:chExt cx="0" cy="0"/>
        </a:xfrm>
      </p:grpSpPr>
      <p:sp>
        <p:nvSpPr>
          <p:cNvPr id="3" name="Text 0"/>
          <p:cNvSpPr txBox="1"/>
          <p:nvPr/>
        </p:nvSpPr>
        <p:spPr>
          <a:xfrm>
            <a:off x="502920" y="292608"/>
            <a:ext cx="10058400" cy="237744"/>
          </a:xfrm>
          <a:prstGeom prst="rect">
            <a:avLst/>
          </a:prstGeom>
          <a:noFill/>
          <a:ln/>
        </p:spPr>
        <p:txBody>
          <a:bodyPr wrap="square" lIns="0" tIns="0" rIns="0" bIns="0" rtlCol="0" anchor="ctr"/>
          <a:lstStyle/>
          <a:p>
            <a:pPr indent="0" marL="0">
              <a:buNone/>
            </a:pPr>
            <a:r>
              <a:rPr lang="en-US" sz="1100" b="1" spc="200" kern="0" dirty="0">
                <a:solidFill>
                  <a:srgbClr val="4F8EF7"/>
                </a:solidFill>
                <a:latin typeface="Calibri" pitchFamily="34" charset="0"/>
                <a:ea typeface="Calibri" pitchFamily="34" charset="-122"/>
                <a:cs typeface="Calibri" pitchFamily="34" charset="-120"/>
              </a:rPr>
              <a:t>SLIDE 7</a:t>
            </a:r>
            <a:endParaRPr lang="en-US" sz="1100" dirty="0"/>
          </a:p>
        </p:txBody>
      </p:sp>
      <p:sp>
        <p:nvSpPr>
          <p:cNvPr id="4"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Diagnosis Engine &amp; Decision Logic</a:t>
            </a:r>
            <a:endParaRPr lang="en-US" sz="3000" dirty="0"/>
          </a:p>
        </p:txBody>
      </p:sp>
      <p:sp>
        <p:nvSpPr>
          <p:cNvPr id="5" name="Shape 2"/>
          <p:cNvSpPr/>
          <p:nvPr/>
        </p:nvSpPr>
        <p:spPr>
          <a:xfrm>
            <a:off x="502920" y="1298448"/>
            <a:ext cx="5486400" cy="4663440"/>
          </a:xfrm>
          <a:prstGeom prst="roundRect">
            <a:avLst>
              <a:gd name="adj" fmla="val 1569"/>
            </a:avLst>
          </a:prstGeom>
          <a:solidFill>
            <a:srgbClr val="16294A"/>
          </a:solidFill>
          <a:ln w="12700">
            <a:solidFill>
              <a:srgbClr val="2DD4A7"/>
            </a:solidFill>
            <a:prstDash val="solid"/>
          </a:ln>
          <a:effectLst>
            <a:outerShdw sx="100000" sy="100000" kx="0" ky="0" algn="bl" rotWithShape="0" blurRad="101600" dist="25400" dir="5400000">
              <a:srgbClr val="000000">
                <a:alpha val="35000"/>
              </a:srgbClr>
            </a:outerShdw>
          </a:effectLst>
        </p:spPr>
      </p:sp>
      <p:sp>
        <p:nvSpPr>
          <p:cNvPr id="6" name="Shape 3"/>
          <p:cNvSpPr/>
          <p:nvPr/>
        </p:nvSpPr>
        <p:spPr>
          <a:xfrm>
            <a:off x="758952" y="1517904"/>
            <a:ext cx="146304" cy="146304"/>
          </a:xfrm>
          <a:prstGeom prst="ellipse">
            <a:avLst/>
          </a:prstGeom>
          <a:solidFill>
            <a:srgbClr val="2DD4A7"/>
          </a:solidFill>
          <a:ln w="12700">
            <a:solidFill>
              <a:srgbClr val="333333"/>
            </a:solidFill>
            <a:prstDash val="solid"/>
          </a:ln>
        </p:spPr>
      </p:sp>
      <p:sp>
        <p:nvSpPr>
          <p:cNvPr id="7" name="Text 4"/>
          <p:cNvSpPr txBox="1"/>
          <p:nvPr/>
        </p:nvSpPr>
        <p:spPr>
          <a:xfrm>
            <a:off x="996696" y="1435608"/>
            <a:ext cx="4023360" cy="274320"/>
          </a:xfrm>
          <a:prstGeom prst="rect">
            <a:avLst/>
          </a:prstGeom>
          <a:noFill/>
          <a:ln/>
        </p:spPr>
        <p:txBody>
          <a:bodyPr wrap="square" lIns="0" tIns="0" rIns="0" bIns="0" rtlCol="0" anchor="ctr"/>
          <a:lstStyle/>
          <a:p>
            <a:pPr indent="0" marL="0">
              <a:buNone/>
            </a:pPr>
            <a:r>
              <a:rPr lang="en-US" sz="1200" b="1" spc="100" kern="0" dirty="0">
                <a:solidFill>
                  <a:srgbClr val="2DD4A7"/>
                </a:solidFill>
                <a:latin typeface="Calibri" pitchFamily="34" charset="0"/>
                <a:ea typeface="Calibri" pitchFamily="34" charset="-122"/>
                <a:cs typeface="Calibri" pitchFamily="34" charset="-120"/>
              </a:rPr>
              <a:t>CURRENT IMPLEMENTED FLOW</a:t>
            </a:r>
            <a:endParaRPr lang="en-US" sz="1200" dirty="0"/>
          </a:p>
        </p:txBody>
      </p:sp>
      <p:sp>
        <p:nvSpPr>
          <p:cNvPr id="8" name="Shape 5"/>
          <p:cNvSpPr/>
          <p:nvPr/>
        </p:nvSpPr>
        <p:spPr>
          <a:xfrm>
            <a:off x="886968" y="1920240"/>
            <a:ext cx="2788920" cy="512064"/>
          </a:xfrm>
          <a:prstGeom prst="roundRect">
            <a:avLst>
              <a:gd name="adj" fmla="val 17857"/>
            </a:avLst>
          </a:prstGeom>
          <a:solidFill>
            <a:srgbClr val="1E3560"/>
          </a:solidFill>
          <a:ln w="12700">
            <a:solidFill>
              <a:srgbClr val="4F8EF7"/>
            </a:solidFill>
            <a:prstDash val="solid"/>
          </a:ln>
        </p:spPr>
      </p:sp>
      <p:sp>
        <p:nvSpPr>
          <p:cNvPr id="9" name="Text 6"/>
          <p:cNvSpPr txBox="1"/>
          <p:nvPr/>
        </p:nvSpPr>
        <p:spPr>
          <a:xfrm>
            <a:off x="886968" y="1920240"/>
            <a:ext cx="2788920" cy="5120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FILE EXISTS?</a:t>
            </a:r>
            <a:endParaRPr lang="en-US" sz="1150" dirty="0"/>
          </a:p>
        </p:txBody>
      </p:sp>
      <p:sp>
        <p:nvSpPr>
          <p:cNvPr id="10" name="Shape 7"/>
          <p:cNvSpPr/>
          <p:nvPr/>
        </p:nvSpPr>
        <p:spPr>
          <a:xfrm>
            <a:off x="3675888" y="2167128"/>
            <a:ext cx="219456" cy="18288"/>
          </a:xfrm>
          <a:prstGeom prst="rect">
            <a:avLst/>
          </a:prstGeom>
          <a:solidFill>
            <a:srgbClr val="C0392B"/>
          </a:solidFill>
          <a:ln w="12700">
            <a:solidFill>
              <a:srgbClr val="333333"/>
            </a:solidFill>
            <a:prstDash val="solid"/>
          </a:ln>
        </p:spPr>
      </p:sp>
      <p:sp>
        <p:nvSpPr>
          <p:cNvPr id="11" name="Shape 8"/>
          <p:cNvSpPr/>
          <p:nvPr/>
        </p:nvSpPr>
        <p:spPr>
          <a:xfrm>
            <a:off x="3895344" y="2112264"/>
            <a:ext cx="201168" cy="128016"/>
          </a:xfrm>
          <a:prstGeom prst="rightArrow">
            <a:avLst/>
          </a:prstGeom>
          <a:solidFill>
            <a:srgbClr val="C0392B"/>
          </a:solidFill>
          <a:ln w="12700">
            <a:solidFill>
              <a:srgbClr val="C0392B"/>
            </a:solidFill>
            <a:prstDash val="solid"/>
          </a:ln>
        </p:spPr>
      </p:sp>
      <p:sp>
        <p:nvSpPr>
          <p:cNvPr id="12" name="Text 9"/>
          <p:cNvSpPr txBox="1"/>
          <p:nvPr/>
        </p:nvSpPr>
        <p:spPr>
          <a:xfrm>
            <a:off x="3694176" y="1901952"/>
            <a:ext cx="420624" cy="237744"/>
          </a:xfrm>
          <a:prstGeom prst="rect">
            <a:avLst/>
          </a:prstGeom>
          <a:noFill/>
          <a:ln/>
        </p:spPr>
        <p:txBody>
          <a:bodyPr wrap="square" lIns="0" tIns="0" rIns="0" bIns="0" rtlCol="0" anchor="ctr"/>
          <a:lstStyle/>
          <a:p>
            <a:pPr algn="ctr" indent="0" marL="0">
              <a:buNone/>
            </a:pPr>
            <a:r>
              <a:rPr lang="en-US" sz="850" b="1" dirty="0">
                <a:solidFill>
                  <a:srgbClr val="E8756B"/>
                </a:solidFill>
                <a:latin typeface="Calibri" pitchFamily="34" charset="0"/>
                <a:ea typeface="Calibri" pitchFamily="34" charset="-122"/>
                <a:cs typeface="Calibri" pitchFamily="34" charset="-120"/>
              </a:rPr>
              <a:t>NO</a:t>
            </a:r>
            <a:endParaRPr lang="en-US" sz="850" dirty="0"/>
          </a:p>
        </p:txBody>
      </p:sp>
      <p:sp>
        <p:nvSpPr>
          <p:cNvPr id="13" name="Shape 10"/>
          <p:cNvSpPr/>
          <p:nvPr/>
        </p:nvSpPr>
        <p:spPr>
          <a:xfrm>
            <a:off x="4087368" y="1938528"/>
            <a:ext cx="2103120" cy="457200"/>
          </a:xfrm>
          <a:prstGeom prst="roundRect">
            <a:avLst>
              <a:gd name="adj" fmla="val 20000"/>
            </a:avLst>
          </a:prstGeom>
          <a:solidFill>
            <a:srgbClr val="0C1A30"/>
          </a:solidFill>
          <a:ln w="12700">
            <a:solidFill>
              <a:srgbClr val="C0392B"/>
            </a:solidFill>
            <a:prstDash val="solid"/>
          </a:ln>
        </p:spPr>
      </p:sp>
      <p:sp>
        <p:nvSpPr>
          <p:cNvPr id="14" name="Text 11"/>
          <p:cNvSpPr txBox="1"/>
          <p:nvPr/>
        </p:nvSpPr>
        <p:spPr>
          <a:xfrm>
            <a:off x="4123944" y="1938528"/>
            <a:ext cx="2029968" cy="457200"/>
          </a:xfrm>
          <a:prstGeom prst="rect">
            <a:avLst/>
          </a:prstGeom>
          <a:noFill/>
          <a:ln/>
        </p:spPr>
        <p:txBody>
          <a:bodyPr wrap="square" lIns="0" tIns="0" rIns="0" bIns="0" rtlCol="0" anchor="ctr"/>
          <a:lstStyle/>
          <a:p>
            <a:pPr algn="ctr" indent="0" marL="0">
              <a:lnSpc>
                <a:spcPts val="1100"/>
              </a:lnSpc>
              <a:buNone/>
            </a:pPr>
            <a:r>
              <a:rPr lang="en-US" sz="950" dirty="0">
                <a:solidFill>
                  <a:srgbClr val="E8756B"/>
                </a:solidFill>
                <a:latin typeface="Courier New" pitchFamily="34" charset="0"/>
                <a:ea typeface="Courier New" pitchFamily="34" charset="-122"/>
                <a:cs typeface="Courier New" pitchFamily="34" charset="-120"/>
              </a:rPr>
              <a:t>FILE_NOT_FOUND</a:t>
            </a:r>
            <a:endParaRPr lang="en-US" sz="950" dirty="0"/>
          </a:p>
        </p:txBody>
      </p:sp>
      <p:sp>
        <p:nvSpPr>
          <p:cNvPr id="15" name="Shape 12"/>
          <p:cNvSpPr/>
          <p:nvPr/>
        </p:nvSpPr>
        <p:spPr>
          <a:xfrm>
            <a:off x="2217420" y="2432304"/>
            <a:ext cx="128016" cy="512064"/>
          </a:xfrm>
          <a:prstGeom prst="downArrow">
            <a:avLst/>
          </a:prstGeom>
          <a:solidFill>
            <a:srgbClr val="2B5FC4"/>
          </a:solidFill>
          <a:ln w="12700">
            <a:solidFill>
              <a:srgbClr val="2B5FC4"/>
            </a:solidFill>
            <a:prstDash val="solid"/>
          </a:ln>
        </p:spPr>
      </p:sp>
      <p:sp>
        <p:nvSpPr>
          <p:cNvPr id="16" name="Text 13"/>
          <p:cNvSpPr txBox="1"/>
          <p:nvPr/>
        </p:nvSpPr>
        <p:spPr>
          <a:xfrm>
            <a:off x="2372868" y="2487168"/>
            <a:ext cx="457200" cy="219456"/>
          </a:xfrm>
          <a:prstGeom prst="rect">
            <a:avLst/>
          </a:prstGeom>
          <a:noFill/>
          <a:ln/>
        </p:spPr>
        <p:txBody>
          <a:bodyPr wrap="square" lIns="0" tIns="0" rIns="0" bIns="0" rtlCol="0" anchor="ctr"/>
          <a:lstStyle/>
          <a:p>
            <a:pPr indent="0" marL="0">
              <a:buNone/>
            </a:pPr>
            <a:r>
              <a:rPr lang="en-US" sz="850" b="1" dirty="0">
                <a:solidFill>
                  <a:srgbClr val="2DD4A7"/>
                </a:solidFill>
                <a:latin typeface="Calibri" pitchFamily="34" charset="0"/>
                <a:ea typeface="Calibri" pitchFamily="34" charset="-122"/>
                <a:cs typeface="Calibri" pitchFamily="34" charset="-120"/>
              </a:rPr>
              <a:t>YES</a:t>
            </a:r>
            <a:endParaRPr lang="en-US" sz="850" dirty="0"/>
          </a:p>
        </p:txBody>
      </p:sp>
      <p:sp>
        <p:nvSpPr>
          <p:cNvPr id="17" name="Shape 14"/>
          <p:cNvSpPr/>
          <p:nvPr/>
        </p:nvSpPr>
        <p:spPr>
          <a:xfrm>
            <a:off x="886968" y="2999232"/>
            <a:ext cx="2788920" cy="512064"/>
          </a:xfrm>
          <a:prstGeom prst="roundRect">
            <a:avLst>
              <a:gd name="adj" fmla="val 17857"/>
            </a:avLst>
          </a:prstGeom>
          <a:solidFill>
            <a:srgbClr val="1E3560"/>
          </a:solidFill>
          <a:ln w="12700">
            <a:solidFill>
              <a:srgbClr val="4F8EF7"/>
            </a:solidFill>
            <a:prstDash val="solid"/>
          </a:ln>
        </p:spPr>
      </p:sp>
      <p:sp>
        <p:nvSpPr>
          <p:cNvPr id="18" name="Text 15"/>
          <p:cNvSpPr txBox="1"/>
          <p:nvPr/>
        </p:nvSpPr>
        <p:spPr>
          <a:xfrm>
            <a:off x="886968" y="2999232"/>
            <a:ext cx="2788920" cy="5120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LOCK DETECTED?</a:t>
            </a:r>
            <a:endParaRPr lang="en-US" sz="1150" dirty="0"/>
          </a:p>
        </p:txBody>
      </p:sp>
      <p:sp>
        <p:nvSpPr>
          <p:cNvPr id="19" name="Shape 16"/>
          <p:cNvSpPr/>
          <p:nvPr/>
        </p:nvSpPr>
        <p:spPr>
          <a:xfrm>
            <a:off x="3675888" y="3246120"/>
            <a:ext cx="219456" cy="18288"/>
          </a:xfrm>
          <a:prstGeom prst="rect">
            <a:avLst/>
          </a:prstGeom>
          <a:solidFill>
            <a:srgbClr val="C0392B"/>
          </a:solidFill>
          <a:ln w="12700">
            <a:solidFill>
              <a:srgbClr val="333333"/>
            </a:solidFill>
            <a:prstDash val="solid"/>
          </a:ln>
        </p:spPr>
      </p:sp>
      <p:sp>
        <p:nvSpPr>
          <p:cNvPr id="20" name="Shape 17"/>
          <p:cNvSpPr/>
          <p:nvPr/>
        </p:nvSpPr>
        <p:spPr>
          <a:xfrm>
            <a:off x="3895344" y="3191256"/>
            <a:ext cx="201168" cy="128016"/>
          </a:xfrm>
          <a:prstGeom prst="rightArrow">
            <a:avLst/>
          </a:prstGeom>
          <a:solidFill>
            <a:srgbClr val="C0392B"/>
          </a:solidFill>
          <a:ln w="12700">
            <a:solidFill>
              <a:srgbClr val="C0392B"/>
            </a:solidFill>
            <a:prstDash val="solid"/>
          </a:ln>
        </p:spPr>
      </p:sp>
      <p:sp>
        <p:nvSpPr>
          <p:cNvPr id="21" name="Text 18"/>
          <p:cNvSpPr txBox="1"/>
          <p:nvPr/>
        </p:nvSpPr>
        <p:spPr>
          <a:xfrm>
            <a:off x="3694176" y="2980944"/>
            <a:ext cx="420624" cy="237744"/>
          </a:xfrm>
          <a:prstGeom prst="rect">
            <a:avLst/>
          </a:prstGeom>
          <a:noFill/>
          <a:ln/>
        </p:spPr>
        <p:txBody>
          <a:bodyPr wrap="square" lIns="0" tIns="0" rIns="0" bIns="0" rtlCol="0" anchor="ctr"/>
          <a:lstStyle/>
          <a:p>
            <a:pPr algn="ctr" indent="0" marL="0">
              <a:buNone/>
            </a:pPr>
            <a:r>
              <a:rPr lang="en-US" sz="850" b="1" dirty="0">
                <a:solidFill>
                  <a:srgbClr val="E8756B"/>
                </a:solidFill>
                <a:latin typeface="Calibri" pitchFamily="34" charset="0"/>
                <a:ea typeface="Calibri" pitchFamily="34" charset="-122"/>
                <a:cs typeface="Calibri" pitchFamily="34" charset="-120"/>
              </a:rPr>
              <a:t>YES</a:t>
            </a:r>
            <a:endParaRPr lang="en-US" sz="850" dirty="0"/>
          </a:p>
        </p:txBody>
      </p:sp>
      <p:sp>
        <p:nvSpPr>
          <p:cNvPr id="22" name="Shape 19"/>
          <p:cNvSpPr/>
          <p:nvPr/>
        </p:nvSpPr>
        <p:spPr>
          <a:xfrm>
            <a:off x="4087368" y="3017520"/>
            <a:ext cx="2103120" cy="457200"/>
          </a:xfrm>
          <a:prstGeom prst="roundRect">
            <a:avLst>
              <a:gd name="adj" fmla="val 20000"/>
            </a:avLst>
          </a:prstGeom>
          <a:solidFill>
            <a:srgbClr val="0C1A30"/>
          </a:solidFill>
          <a:ln w="12700">
            <a:solidFill>
              <a:srgbClr val="C0392B"/>
            </a:solidFill>
            <a:prstDash val="solid"/>
          </a:ln>
        </p:spPr>
      </p:sp>
      <p:sp>
        <p:nvSpPr>
          <p:cNvPr id="23" name="Text 20"/>
          <p:cNvSpPr txBox="1"/>
          <p:nvPr/>
        </p:nvSpPr>
        <p:spPr>
          <a:xfrm>
            <a:off x="4123944" y="3017520"/>
            <a:ext cx="2029968" cy="457200"/>
          </a:xfrm>
          <a:prstGeom prst="rect">
            <a:avLst/>
          </a:prstGeom>
          <a:noFill/>
          <a:ln/>
        </p:spPr>
        <p:txBody>
          <a:bodyPr wrap="square" lIns="0" tIns="0" rIns="0" bIns="0" rtlCol="0" anchor="ctr"/>
          <a:lstStyle/>
          <a:p>
            <a:pPr algn="ctr" indent="0" marL="0">
              <a:lnSpc>
                <a:spcPts val="1100"/>
              </a:lnSpc>
              <a:buNone/>
            </a:pPr>
            <a:r>
              <a:rPr lang="en-US" sz="950" dirty="0">
                <a:solidFill>
                  <a:srgbClr val="E8756B"/>
                </a:solidFill>
                <a:latin typeface="Courier New" pitchFamily="34" charset="0"/>
                <a:ea typeface="Courier New" pitchFamily="34" charset="-122"/>
                <a:cs typeface="Courier New" pitchFamily="34" charset="-120"/>
              </a:rPr>
              <a:t>FILE_LOCKED</a:t>
            </a:r>
            <a:endParaRPr lang="en-US" sz="950" dirty="0"/>
          </a:p>
        </p:txBody>
      </p:sp>
      <p:sp>
        <p:nvSpPr>
          <p:cNvPr id="24" name="Shape 21"/>
          <p:cNvSpPr/>
          <p:nvPr/>
        </p:nvSpPr>
        <p:spPr>
          <a:xfrm>
            <a:off x="2217420" y="3511296"/>
            <a:ext cx="128016" cy="512064"/>
          </a:xfrm>
          <a:prstGeom prst="downArrow">
            <a:avLst/>
          </a:prstGeom>
          <a:solidFill>
            <a:srgbClr val="2B5FC4"/>
          </a:solidFill>
          <a:ln w="12700">
            <a:solidFill>
              <a:srgbClr val="2B5FC4"/>
            </a:solidFill>
            <a:prstDash val="solid"/>
          </a:ln>
        </p:spPr>
      </p:sp>
      <p:sp>
        <p:nvSpPr>
          <p:cNvPr id="25" name="Text 22"/>
          <p:cNvSpPr txBox="1"/>
          <p:nvPr/>
        </p:nvSpPr>
        <p:spPr>
          <a:xfrm>
            <a:off x="2372868" y="3566160"/>
            <a:ext cx="457200" cy="219456"/>
          </a:xfrm>
          <a:prstGeom prst="rect">
            <a:avLst/>
          </a:prstGeom>
          <a:noFill/>
          <a:ln/>
        </p:spPr>
        <p:txBody>
          <a:bodyPr wrap="square" lIns="0" tIns="0" rIns="0" bIns="0" rtlCol="0" anchor="ctr"/>
          <a:lstStyle/>
          <a:p>
            <a:pPr indent="0" marL="0">
              <a:buNone/>
            </a:pPr>
            <a:r>
              <a:rPr lang="en-US" sz="850" b="1" dirty="0">
                <a:solidFill>
                  <a:srgbClr val="2DD4A7"/>
                </a:solidFill>
                <a:latin typeface="Calibri" pitchFamily="34" charset="0"/>
                <a:ea typeface="Calibri" pitchFamily="34" charset="-122"/>
                <a:cs typeface="Calibri" pitchFamily="34" charset="-120"/>
              </a:rPr>
              <a:t>NO</a:t>
            </a:r>
            <a:endParaRPr lang="en-US" sz="850" dirty="0"/>
          </a:p>
        </p:txBody>
      </p:sp>
      <p:sp>
        <p:nvSpPr>
          <p:cNvPr id="26" name="Shape 23"/>
          <p:cNvSpPr/>
          <p:nvPr/>
        </p:nvSpPr>
        <p:spPr>
          <a:xfrm>
            <a:off x="886968" y="4078224"/>
            <a:ext cx="2788920" cy="512064"/>
          </a:xfrm>
          <a:prstGeom prst="roundRect">
            <a:avLst>
              <a:gd name="adj" fmla="val 17857"/>
            </a:avLst>
          </a:prstGeom>
          <a:solidFill>
            <a:srgbClr val="1E3560"/>
          </a:solidFill>
          <a:ln w="12700">
            <a:solidFill>
              <a:srgbClr val="4F8EF7"/>
            </a:solidFill>
            <a:prstDash val="solid"/>
          </a:ln>
        </p:spPr>
      </p:sp>
      <p:sp>
        <p:nvSpPr>
          <p:cNvPr id="27" name="Text 24"/>
          <p:cNvSpPr txBox="1"/>
          <p:nvPr/>
        </p:nvSpPr>
        <p:spPr>
          <a:xfrm>
            <a:off x="886968" y="4078224"/>
            <a:ext cx="2788920" cy="51206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PERMISSION ALLOWED?</a:t>
            </a:r>
            <a:endParaRPr lang="en-US" sz="1150" dirty="0"/>
          </a:p>
        </p:txBody>
      </p:sp>
      <p:sp>
        <p:nvSpPr>
          <p:cNvPr id="28" name="Shape 25"/>
          <p:cNvSpPr/>
          <p:nvPr/>
        </p:nvSpPr>
        <p:spPr>
          <a:xfrm>
            <a:off x="3675888" y="4325112"/>
            <a:ext cx="219456" cy="18288"/>
          </a:xfrm>
          <a:prstGeom prst="rect">
            <a:avLst/>
          </a:prstGeom>
          <a:solidFill>
            <a:srgbClr val="C0392B"/>
          </a:solidFill>
          <a:ln w="12700">
            <a:solidFill>
              <a:srgbClr val="333333"/>
            </a:solidFill>
            <a:prstDash val="solid"/>
          </a:ln>
        </p:spPr>
      </p:sp>
      <p:sp>
        <p:nvSpPr>
          <p:cNvPr id="29" name="Shape 26"/>
          <p:cNvSpPr/>
          <p:nvPr/>
        </p:nvSpPr>
        <p:spPr>
          <a:xfrm>
            <a:off x="3895344" y="4270248"/>
            <a:ext cx="201168" cy="128016"/>
          </a:xfrm>
          <a:prstGeom prst="rightArrow">
            <a:avLst/>
          </a:prstGeom>
          <a:solidFill>
            <a:srgbClr val="C0392B"/>
          </a:solidFill>
          <a:ln w="12700">
            <a:solidFill>
              <a:srgbClr val="C0392B"/>
            </a:solidFill>
            <a:prstDash val="solid"/>
          </a:ln>
        </p:spPr>
      </p:sp>
      <p:sp>
        <p:nvSpPr>
          <p:cNvPr id="30" name="Text 27"/>
          <p:cNvSpPr txBox="1"/>
          <p:nvPr/>
        </p:nvSpPr>
        <p:spPr>
          <a:xfrm>
            <a:off x="3694176" y="4059936"/>
            <a:ext cx="420624" cy="237744"/>
          </a:xfrm>
          <a:prstGeom prst="rect">
            <a:avLst/>
          </a:prstGeom>
          <a:noFill/>
          <a:ln/>
        </p:spPr>
        <p:txBody>
          <a:bodyPr wrap="square" lIns="0" tIns="0" rIns="0" bIns="0" rtlCol="0" anchor="ctr"/>
          <a:lstStyle/>
          <a:p>
            <a:pPr algn="ctr" indent="0" marL="0">
              <a:buNone/>
            </a:pPr>
            <a:r>
              <a:rPr lang="en-US" sz="850" b="1" dirty="0">
                <a:solidFill>
                  <a:srgbClr val="E8756B"/>
                </a:solidFill>
                <a:latin typeface="Calibri" pitchFamily="34" charset="0"/>
                <a:ea typeface="Calibri" pitchFamily="34" charset="-122"/>
                <a:cs typeface="Calibri" pitchFamily="34" charset="-120"/>
              </a:rPr>
              <a:t>NO</a:t>
            </a:r>
            <a:endParaRPr lang="en-US" sz="850" dirty="0"/>
          </a:p>
        </p:txBody>
      </p:sp>
      <p:sp>
        <p:nvSpPr>
          <p:cNvPr id="31" name="Shape 28"/>
          <p:cNvSpPr/>
          <p:nvPr/>
        </p:nvSpPr>
        <p:spPr>
          <a:xfrm>
            <a:off x="4087368" y="4096512"/>
            <a:ext cx="2103120" cy="457200"/>
          </a:xfrm>
          <a:prstGeom prst="roundRect">
            <a:avLst>
              <a:gd name="adj" fmla="val 20000"/>
            </a:avLst>
          </a:prstGeom>
          <a:solidFill>
            <a:srgbClr val="0C1A30"/>
          </a:solidFill>
          <a:ln w="12700">
            <a:solidFill>
              <a:srgbClr val="C0392B"/>
            </a:solidFill>
            <a:prstDash val="solid"/>
          </a:ln>
        </p:spPr>
      </p:sp>
      <p:sp>
        <p:nvSpPr>
          <p:cNvPr id="32" name="Text 29"/>
          <p:cNvSpPr txBox="1"/>
          <p:nvPr/>
        </p:nvSpPr>
        <p:spPr>
          <a:xfrm>
            <a:off x="4123944" y="4096512"/>
            <a:ext cx="2029968" cy="457200"/>
          </a:xfrm>
          <a:prstGeom prst="rect">
            <a:avLst/>
          </a:prstGeom>
          <a:noFill/>
          <a:ln/>
        </p:spPr>
        <p:txBody>
          <a:bodyPr wrap="square" lIns="0" tIns="0" rIns="0" bIns="0" rtlCol="0" anchor="ctr"/>
          <a:lstStyle/>
          <a:p>
            <a:pPr algn="ctr" indent="0" marL="0">
              <a:lnSpc>
                <a:spcPts val="1100"/>
              </a:lnSpc>
              <a:buNone/>
            </a:pPr>
            <a:r>
              <a:rPr lang="en-US" sz="950" dirty="0">
                <a:solidFill>
                  <a:srgbClr val="E8756B"/>
                </a:solidFill>
                <a:latin typeface="Courier New" pitchFamily="34" charset="0"/>
                <a:ea typeface="Courier New" pitchFamily="34" charset="-122"/>
                <a:cs typeface="Courier New" pitchFamily="34" charset="-120"/>
              </a:rPr>
              <a:t>PERMISSION_DENIED /</a:t>
            </a:r>
            <a:endParaRPr lang="en-US" sz="950" dirty="0"/>
          </a:p>
          <a:p>
            <a:pPr algn="ctr" indent="0" marL="0">
              <a:lnSpc>
                <a:spcPts val="1100"/>
              </a:lnSpc>
              <a:buNone/>
            </a:pPr>
            <a:r>
              <a:rPr lang="en-US" sz="950" dirty="0">
                <a:solidFill>
                  <a:srgbClr val="E8756B"/>
                </a:solidFill>
                <a:latin typeface="Courier New" pitchFamily="34" charset="0"/>
                <a:ea typeface="Courier New" pitchFamily="34" charset="-122"/>
                <a:cs typeface="Courier New" pitchFamily="34" charset="-120"/>
              </a:rPr>
              <a:t>READ_ONLY *</a:t>
            </a:r>
            <a:endParaRPr lang="en-US" sz="950" dirty="0"/>
          </a:p>
        </p:txBody>
      </p:sp>
      <p:sp>
        <p:nvSpPr>
          <p:cNvPr id="33" name="Shape 30"/>
          <p:cNvSpPr/>
          <p:nvPr/>
        </p:nvSpPr>
        <p:spPr>
          <a:xfrm>
            <a:off x="2217420" y="4590288"/>
            <a:ext cx="128016" cy="512064"/>
          </a:xfrm>
          <a:prstGeom prst="downArrow">
            <a:avLst/>
          </a:prstGeom>
          <a:solidFill>
            <a:srgbClr val="2B5FC4"/>
          </a:solidFill>
          <a:ln w="12700">
            <a:solidFill>
              <a:srgbClr val="2B5FC4"/>
            </a:solidFill>
            <a:prstDash val="solid"/>
          </a:ln>
        </p:spPr>
      </p:sp>
      <p:sp>
        <p:nvSpPr>
          <p:cNvPr id="34" name="Text 31"/>
          <p:cNvSpPr txBox="1"/>
          <p:nvPr/>
        </p:nvSpPr>
        <p:spPr>
          <a:xfrm>
            <a:off x="2372868" y="4645152"/>
            <a:ext cx="457200" cy="219456"/>
          </a:xfrm>
          <a:prstGeom prst="rect">
            <a:avLst/>
          </a:prstGeom>
          <a:noFill/>
          <a:ln/>
        </p:spPr>
        <p:txBody>
          <a:bodyPr wrap="square" lIns="0" tIns="0" rIns="0" bIns="0" rtlCol="0" anchor="ctr"/>
          <a:lstStyle/>
          <a:p>
            <a:pPr indent="0" marL="0">
              <a:buNone/>
            </a:pPr>
            <a:r>
              <a:rPr lang="en-US" sz="850" b="1" dirty="0">
                <a:solidFill>
                  <a:srgbClr val="2DD4A7"/>
                </a:solidFill>
                <a:latin typeface="Calibri" pitchFamily="34" charset="0"/>
                <a:ea typeface="Calibri" pitchFamily="34" charset="-122"/>
                <a:cs typeface="Calibri" pitchFamily="34" charset="-120"/>
              </a:rPr>
              <a:t>YES</a:t>
            </a:r>
            <a:endParaRPr lang="en-US" sz="850" dirty="0"/>
          </a:p>
        </p:txBody>
      </p:sp>
      <p:sp>
        <p:nvSpPr>
          <p:cNvPr id="35" name="Shape 32"/>
          <p:cNvSpPr/>
          <p:nvPr/>
        </p:nvSpPr>
        <p:spPr>
          <a:xfrm>
            <a:off x="886968" y="5157216"/>
            <a:ext cx="2788920" cy="512064"/>
          </a:xfrm>
          <a:prstGeom prst="roundRect">
            <a:avLst>
              <a:gd name="adj" fmla="val 17857"/>
            </a:avLst>
          </a:prstGeom>
          <a:solidFill>
            <a:srgbClr val="0C1A30"/>
          </a:solidFill>
          <a:ln w="12700">
            <a:solidFill>
              <a:srgbClr val="2DD4A7"/>
            </a:solidFill>
            <a:prstDash val="solid"/>
          </a:ln>
        </p:spPr>
      </p:sp>
      <p:sp>
        <p:nvSpPr>
          <p:cNvPr id="36" name="Text 33"/>
          <p:cNvSpPr txBox="1"/>
          <p:nvPr/>
        </p:nvSpPr>
        <p:spPr>
          <a:xfrm>
            <a:off x="886968" y="5157216"/>
            <a:ext cx="2788920" cy="512064"/>
          </a:xfrm>
          <a:prstGeom prst="rect">
            <a:avLst/>
          </a:prstGeom>
          <a:noFill/>
          <a:ln/>
        </p:spPr>
        <p:txBody>
          <a:bodyPr wrap="square" lIns="0" tIns="0" rIns="0" bIns="0" rtlCol="0" anchor="ctr"/>
          <a:lstStyle/>
          <a:p>
            <a:pPr algn="ctr" indent="0" marL="0">
              <a:buNone/>
            </a:pPr>
            <a:r>
              <a:rPr lang="en-US" sz="1100" b="1" dirty="0">
                <a:solidFill>
                  <a:srgbClr val="2DD4A7"/>
                </a:solidFill>
                <a:latin typeface="Courier New" pitchFamily="34" charset="0"/>
                <a:ea typeface="Courier New" pitchFamily="34" charset="-122"/>
                <a:cs typeface="Courier New" pitchFamily="34" charset="-120"/>
              </a:rPr>
              <a:t>OPERATION_ALLOWED</a:t>
            </a:r>
            <a:endParaRPr lang="en-US" sz="1100" dirty="0"/>
          </a:p>
        </p:txBody>
      </p:sp>
      <p:sp>
        <p:nvSpPr>
          <p:cNvPr id="37" name="Text 34"/>
          <p:cNvSpPr txBox="1"/>
          <p:nvPr/>
        </p:nvSpPr>
        <p:spPr>
          <a:xfrm>
            <a:off x="886968" y="5724144"/>
            <a:ext cx="4846320" cy="219456"/>
          </a:xfrm>
          <a:prstGeom prst="rect">
            <a:avLst/>
          </a:prstGeom>
          <a:noFill/>
          <a:ln/>
        </p:spPr>
        <p:txBody>
          <a:bodyPr wrap="square" lIns="0" tIns="0" rIns="0" bIns="0" rtlCol="0" anchor="ctr"/>
          <a:lstStyle/>
          <a:p>
            <a:pPr indent="0" marL="0">
              <a:buNone/>
            </a:pPr>
            <a:r>
              <a:rPr lang="en-US" sz="900" i="1" dirty="0">
                <a:solidFill>
                  <a:srgbClr val="6E86AE"/>
                </a:solidFill>
                <a:latin typeface="Calibri" pitchFamily="34" charset="0"/>
                <a:ea typeface="Calibri" pitchFamily="34" charset="-122"/>
                <a:cs typeface="Calibri" pitchFamily="34" charset="-120"/>
              </a:rPr>
              <a:t>* READ_ONLY reported where supported by the permission result.</a:t>
            </a:r>
            <a:endParaRPr lang="en-US" sz="900" dirty="0"/>
          </a:p>
        </p:txBody>
      </p:sp>
      <p:sp>
        <p:nvSpPr>
          <p:cNvPr id="38" name="Shape 35"/>
          <p:cNvSpPr/>
          <p:nvPr/>
        </p:nvSpPr>
        <p:spPr>
          <a:xfrm>
            <a:off x="6446520" y="1298448"/>
            <a:ext cx="5239512" cy="4663440"/>
          </a:xfrm>
          <a:prstGeom prst="roundRect">
            <a:avLst>
              <a:gd name="adj" fmla="val 1569"/>
            </a:avLst>
          </a:prstGeom>
          <a:solidFill>
            <a:srgbClr val="0C1A30"/>
          </a:solidFill>
          <a:ln w="12700">
            <a:solidFill>
              <a:srgbClr val="F5A524"/>
            </a:solidFill>
            <a:prstDash val="dash"/>
          </a:ln>
        </p:spPr>
      </p:sp>
      <p:sp>
        <p:nvSpPr>
          <p:cNvPr id="39" name="Shape 36"/>
          <p:cNvSpPr/>
          <p:nvPr/>
        </p:nvSpPr>
        <p:spPr>
          <a:xfrm>
            <a:off x="6702552" y="1517904"/>
            <a:ext cx="146304" cy="146304"/>
          </a:xfrm>
          <a:prstGeom prst="ellipse">
            <a:avLst/>
          </a:prstGeom>
          <a:solidFill>
            <a:srgbClr val="F5A524"/>
          </a:solidFill>
          <a:ln w="12700">
            <a:solidFill>
              <a:srgbClr val="333333"/>
            </a:solidFill>
            <a:prstDash val="solid"/>
          </a:ln>
        </p:spPr>
      </p:sp>
      <p:sp>
        <p:nvSpPr>
          <p:cNvPr id="40" name="Text 37"/>
          <p:cNvSpPr txBox="1"/>
          <p:nvPr/>
        </p:nvSpPr>
        <p:spPr>
          <a:xfrm>
            <a:off x="6940296" y="1435608"/>
            <a:ext cx="4206240" cy="274320"/>
          </a:xfrm>
          <a:prstGeom prst="rect">
            <a:avLst/>
          </a:prstGeom>
          <a:noFill/>
          <a:ln/>
        </p:spPr>
        <p:txBody>
          <a:bodyPr wrap="square" lIns="0" tIns="0" rIns="0" bIns="0" rtlCol="0" anchor="ctr"/>
          <a:lstStyle/>
          <a:p>
            <a:pPr indent="0" marL="0">
              <a:buNone/>
            </a:pPr>
            <a:r>
              <a:rPr lang="en-US" sz="1200" b="1" spc="100" kern="0" dirty="0">
                <a:solidFill>
                  <a:srgbClr val="F5A524"/>
                </a:solidFill>
                <a:latin typeface="Calibri" pitchFamily="34" charset="0"/>
                <a:ea typeface="Calibri" pitchFamily="34" charset="-122"/>
                <a:cs typeface="Calibri" pitchFamily="34" charset="-120"/>
              </a:rPr>
              <a:t>COMPLETE PROPOSED SYSTEM</a:t>
            </a:r>
            <a:endParaRPr lang="en-US" sz="1200" dirty="0"/>
          </a:p>
        </p:txBody>
      </p:sp>
      <p:sp>
        <p:nvSpPr>
          <p:cNvPr id="41" name="Text 38"/>
          <p:cNvSpPr txBox="1"/>
          <p:nvPr/>
        </p:nvSpPr>
        <p:spPr>
          <a:xfrm>
            <a:off x="6702552" y="1792224"/>
            <a:ext cx="4754880" cy="256032"/>
          </a:xfrm>
          <a:prstGeom prst="rect">
            <a:avLst/>
          </a:prstGeom>
          <a:noFill/>
          <a:ln/>
        </p:spPr>
        <p:txBody>
          <a:bodyPr wrap="square" lIns="0" tIns="0" rIns="0" bIns="0" rtlCol="0" anchor="ctr"/>
          <a:lstStyle/>
          <a:p>
            <a:pPr indent="0" marL="0">
              <a:buNone/>
            </a:pPr>
            <a:r>
              <a:rPr lang="en-US" sz="1150" dirty="0">
                <a:solidFill>
                  <a:srgbClr val="A9BCDB"/>
                </a:solidFill>
                <a:latin typeface="Calibri" pitchFamily="34" charset="0"/>
                <a:ea typeface="Calibri" pitchFamily="34" charset="-122"/>
                <a:cs typeface="Calibri" pitchFamily="34" charset="-120"/>
              </a:rPr>
              <a:t>The same Diagnosis Engine, extended with:</a:t>
            </a:r>
            <a:endParaRPr lang="en-US" sz="1150" dirty="0"/>
          </a:p>
        </p:txBody>
      </p:sp>
      <p:sp>
        <p:nvSpPr>
          <p:cNvPr id="42" name="Shape 39"/>
          <p:cNvSpPr/>
          <p:nvPr/>
        </p:nvSpPr>
        <p:spPr>
          <a:xfrm>
            <a:off x="6702552" y="2157984"/>
            <a:ext cx="4727448" cy="640080"/>
          </a:xfrm>
          <a:prstGeom prst="roundRect">
            <a:avLst>
              <a:gd name="adj" fmla="val 11429"/>
            </a:avLst>
          </a:prstGeom>
          <a:solidFill>
            <a:srgbClr val="16294A"/>
          </a:solidFill>
          <a:ln w="12700">
            <a:solidFill>
              <a:srgbClr val="4A4326"/>
            </a:solidFill>
            <a:prstDash val="dash"/>
          </a:ln>
        </p:spPr>
      </p:sp>
      <p:sp>
        <p:nvSpPr>
          <p:cNvPr id="43" name="Text 40"/>
          <p:cNvSpPr txBox="1"/>
          <p:nvPr/>
        </p:nvSpPr>
        <p:spPr>
          <a:xfrm>
            <a:off x="6885432" y="2231136"/>
            <a:ext cx="43891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File attribute evidence</a:t>
            </a:r>
            <a:endParaRPr lang="en-US" sz="1200" dirty="0"/>
          </a:p>
        </p:txBody>
      </p:sp>
      <p:sp>
        <p:nvSpPr>
          <p:cNvPr id="44" name="Text 41"/>
          <p:cNvSpPr txBox="1"/>
          <p:nvPr/>
        </p:nvSpPr>
        <p:spPr>
          <a:xfrm>
            <a:off x="6885432" y="2487168"/>
            <a:ext cx="4389120" cy="237744"/>
          </a:xfrm>
          <a:prstGeom prst="rect">
            <a:avLst/>
          </a:prstGeom>
          <a:noFill/>
          <a:ln/>
        </p:spPr>
        <p:txBody>
          <a:bodyPr wrap="square" lIns="0" tIns="0" rIns="0" bIns="0" rtlCol="0" anchor="ctr"/>
          <a:lstStyle/>
          <a:p>
            <a:pPr indent="0" marL="0">
              <a:buNone/>
            </a:pPr>
            <a:r>
              <a:rPr lang="en-US" sz="1000" dirty="0">
                <a:solidFill>
                  <a:srgbClr val="A9BCDB"/>
                </a:solidFill>
                <a:latin typeface="Calibri" pitchFamily="34" charset="0"/>
                <a:ea typeface="Calibri" pitchFamily="34" charset="-122"/>
                <a:cs typeface="Calibri" pitchFamily="34" charset="-120"/>
              </a:rPr>
              <a:t>read-only · hidden · system · archive</a:t>
            </a:r>
            <a:endParaRPr lang="en-US" sz="1000" dirty="0"/>
          </a:p>
        </p:txBody>
      </p:sp>
      <p:sp>
        <p:nvSpPr>
          <p:cNvPr id="45" name="Shape 42"/>
          <p:cNvSpPr/>
          <p:nvPr/>
        </p:nvSpPr>
        <p:spPr>
          <a:xfrm>
            <a:off x="6702552" y="2944368"/>
            <a:ext cx="4727448" cy="640080"/>
          </a:xfrm>
          <a:prstGeom prst="roundRect">
            <a:avLst>
              <a:gd name="adj" fmla="val 11429"/>
            </a:avLst>
          </a:prstGeom>
          <a:solidFill>
            <a:srgbClr val="16294A"/>
          </a:solidFill>
          <a:ln w="12700">
            <a:solidFill>
              <a:srgbClr val="4A4326"/>
            </a:solidFill>
            <a:prstDash val="dash"/>
          </a:ln>
        </p:spPr>
      </p:sp>
      <p:sp>
        <p:nvSpPr>
          <p:cNvPr id="46" name="Text 43"/>
          <p:cNvSpPr txBox="1"/>
          <p:nvPr/>
        </p:nvSpPr>
        <p:spPr>
          <a:xfrm>
            <a:off x="6885432" y="3017520"/>
            <a:ext cx="43891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Cloud synchronisation evidence</a:t>
            </a:r>
            <a:endParaRPr lang="en-US" sz="1200" dirty="0"/>
          </a:p>
        </p:txBody>
      </p:sp>
      <p:sp>
        <p:nvSpPr>
          <p:cNvPr id="47" name="Text 44"/>
          <p:cNvSpPr txBox="1"/>
          <p:nvPr/>
        </p:nvSpPr>
        <p:spPr>
          <a:xfrm>
            <a:off x="6885432" y="3273552"/>
            <a:ext cx="4389120" cy="237744"/>
          </a:xfrm>
          <a:prstGeom prst="rect">
            <a:avLst/>
          </a:prstGeom>
          <a:noFill/>
          <a:ln/>
        </p:spPr>
        <p:txBody>
          <a:bodyPr wrap="square" lIns="0" tIns="0" rIns="0" bIns="0" rtlCol="0" anchor="ctr"/>
          <a:lstStyle/>
          <a:p>
            <a:pPr indent="0" marL="0">
              <a:buNone/>
            </a:pPr>
            <a:r>
              <a:rPr lang="en-US" sz="1000" dirty="0">
                <a:solidFill>
                  <a:srgbClr val="A9BCDB"/>
                </a:solidFill>
                <a:latin typeface="Calibri" pitchFamily="34" charset="0"/>
                <a:ea typeface="Calibri" pitchFamily="34" charset="-122"/>
                <a:cs typeface="Calibri" pitchFamily="34" charset="-120"/>
              </a:rPr>
              <a:t>OneDrive · Google Drive activity</a:t>
            </a:r>
            <a:endParaRPr lang="en-US" sz="1000" dirty="0"/>
          </a:p>
        </p:txBody>
      </p:sp>
      <p:sp>
        <p:nvSpPr>
          <p:cNvPr id="48" name="Shape 45"/>
          <p:cNvSpPr/>
          <p:nvPr/>
        </p:nvSpPr>
        <p:spPr>
          <a:xfrm>
            <a:off x="6702552" y="3730752"/>
            <a:ext cx="4727448" cy="640080"/>
          </a:xfrm>
          <a:prstGeom prst="roundRect">
            <a:avLst>
              <a:gd name="adj" fmla="val 11429"/>
            </a:avLst>
          </a:prstGeom>
          <a:solidFill>
            <a:srgbClr val="16294A"/>
          </a:solidFill>
          <a:ln w="12700">
            <a:solidFill>
              <a:srgbClr val="4A4326"/>
            </a:solidFill>
            <a:prstDash val="dash"/>
          </a:ln>
        </p:spPr>
      </p:sp>
      <p:sp>
        <p:nvSpPr>
          <p:cNvPr id="49" name="Text 46"/>
          <p:cNvSpPr txBox="1"/>
          <p:nvPr/>
        </p:nvSpPr>
        <p:spPr>
          <a:xfrm>
            <a:off x="6885432" y="3803904"/>
            <a:ext cx="438912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Broader evidence correlation</a:t>
            </a:r>
            <a:endParaRPr lang="en-US" sz="1200" dirty="0"/>
          </a:p>
        </p:txBody>
      </p:sp>
      <p:sp>
        <p:nvSpPr>
          <p:cNvPr id="50" name="Text 47"/>
          <p:cNvSpPr txBox="1"/>
          <p:nvPr/>
        </p:nvSpPr>
        <p:spPr>
          <a:xfrm>
            <a:off x="6885432" y="4059936"/>
            <a:ext cx="4389120" cy="237744"/>
          </a:xfrm>
          <a:prstGeom prst="rect">
            <a:avLst/>
          </a:prstGeom>
          <a:noFill/>
          <a:ln/>
        </p:spPr>
        <p:txBody>
          <a:bodyPr wrap="square" lIns="0" tIns="0" rIns="0" bIns="0" rtlCol="0" anchor="ctr"/>
          <a:lstStyle/>
          <a:p>
            <a:pPr indent="0" marL="0">
              <a:buNone/>
            </a:pPr>
            <a:r>
              <a:rPr lang="en-US" sz="1000" dirty="0">
                <a:solidFill>
                  <a:srgbClr val="A9BCDB"/>
                </a:solidFill>
                <a:latin typeface="Calibri" pitchFamily="34" charset="0"/>
                <a:ea typeface="Calibri" pitchFamily="34" charset="-122"/>
                <a:cs typeface="Calibri" pitchFamily="34" charset="-120"/>
              </a:rPr>
              <a:t>all four analyzer results weighed together</a:t>
            </a:r>
            <a:endParaRPr lang="en-US" sz="1000" dirty="0"/>
          </a:p>
        </p:txBody>
      </p:sp>
      <p:sp>
        <p:nvSpPr>
          <p:cNvPr id="51" name="Shape 48"/>
          <p:cNvSpPr/>
          <p:nvPr/>
        </p:nvSpPr>
        <p:spPr>
          <a:xfrm>
            <a:off x="9006840" y="4553712"/>
            <a:ext cx="128016" cy="237744"/>
          </a:xfrm>
          <a:prstGeom prst="downArrow">
            <a:avLst/>
          </a:prstGeom>
          <a:solidFill>
            <a:srgbClr val="F5A524"/>
          </a:solidFill>
          <a:ln w="12700">
            <a:solidFill>
              <a:srgbClr val="F5A524"/>
            </a:solidFill>
            <a:prstDash val="solid"/>
          </a:ln>
        </p:spPr>
      </p:sp>
      <p:sp>
        <p:nvSpPr>
          <p:cNvPr id="52" name="Text 49"/>
          <p:cNvSpPr txBox="1"/>
          <p:nvPr/>
        </p:nvSpPr>
        <p:spPr>
          <a:xfrm>
            <a:off x="6702552" y="4864608"/>
            <a:ext cx="4727448" cy="237744"/>
          </a:xfrm>
          <a:prstGeom prst="rect">
            <a:avLst/>
          </a:prstGeom>
          <a:noFill/>
          <a:ln/>
        </p:spPr>
        <p:txBody>
          <a:bodyPr wrap="square" lIns="0" tIns="0" rIns="0" bIns="0" rtlCol="0" anchor="ctr"/>
          <a:lstStyle/>
          <a:p>
            <a:pPr algn="ctr" indent="0" marL="0">
              <a:buNone/>
            </a:pPr>
            <a:r>
              <a:rPr lang="en-US" sz="950" b="1" spc="100" kern="0" dirty="0">
                <a:solidFill>
                  <a:srgbClr val="6E86AE"/>
                </a:solidFill>
                <a:latin typeface="Calibri" pitchFamily="34" charset="0"/>
                <a:ea typeface="Calibri" pitchFamily="34" charset="-122"/>
                <a:cs typeface="Calibri" pitchFamily="34" charset="-120"/>
              </a:rPr>
              <a:t>COMPLETE-SYSTEM DIAGNOSIS CATEGORIES</a:t>
            </a:r>
            <a:endParaRPr lang="en-US" sz="950" dirty="0"/>
          </a:p>
        </p:txBody>
      </p:sp>
      <p:sp>
        <p:nvSpPr>
          <p:cNvPr id="53" name="Shape 50"/>
          <p:cNvSpPr/>
          <p:nvPr/>
        </p:nvSpPr>
        <p:spPr>
          <a:xfrm>
            <a:off x="6702552" y="5084064"/>
            <a:ext cx="2322576" cy="256032"/>
          </a:xfrm>
          <a:prstGeom prst="roundRect">
            <a:avLst>
              <a:gd name="adj" fmla="val 21429"/>
            </a:avLst>
          </a:prstGeom>
          <a:solidFill>
            <a:srgbClr val="0C1A30"/>
          </a:solidFill>
          <a:ln w="12700">
            <a:solidFill>
              <a:srgbClr val="3A4F7A"/>
            </a:solidFill>
            <a:prstDash val="solid"/>
          </a:ln>
        </p:spPr>
      </p:sp>
      <p:sp>
        <p:nvSpPr>
          <p:cNvPr id="54" name="Text 51"/>
          <p:cNvSpPr txBox="1"/>
          <p:nvPr/>
        </p:nvSpPr>
        <p:spPr>
          <a:xfrm>
            <a:off x="6702552" y="5084064"/>
            <a:ext cx="2322576" cy="256032"/>
          </a:xfrm>
          <a:prstGeom prst="rect">
            <a:avLst/>
          </a:prstGeom>
          <a:noFill/>
          <a:ln/>
        </p:spPr>
        <p:txBody>
          <a:bodyPr wrap="square" lIns="0" tIns="0" rIns="0" bIns="0" rtlCol="0" anchor="ctr"/>
          <a:lstStyle/>
          <a:p>
            <a:pPr algn="ctr" indent="0" marL="0">
              <a:buNone/>
            </a:pPr>
            <a:r>
              <a:rPr lang="en-US" sz="850" b="1" dirty="0">
                <a:solidFill>
                  <a:srgbClr val="A9BCDB"/>
                </a:solidFill>
                <a:latin typeface="Courier New" pitchFamily="34" charset="0"/>
                <a:ea typeface="Courier New" pitchFamily="34" charset="-122"/>
                <a:cs typeface="Courier New" pitchFamily="34" charset="-120"/>
              </a:rPr>
              <a:t>FILE_NOT_FOUND</a:t>
            </a:r>
            <a:endParaRPr lang="en-US" sz="850" dirty="0"/>
          </a:p>
        </p:txBody>
      </p:sp>
      <p:sp>
        <p:nvSpPr>
          <p:cNvPr id="55" name="Shape 52"/>
          <p:cNvSpPr/>
          <p:nvPr/>
        </p:nvSpPr>
        <p:spPr>
          <a:xfrm>
            <a:off x="9107424" y="5084064"/>
            <a:ext cx="2322576" cy="256032"/>
          </a:xfrm>
          <a:prstGeom prst="roundRect">
            <a:avLst>
              <a:gd name="adj" fmla="val 21429"/>
            </a:avLst>
          </a:prstGeom>
          <a:solidFill>
            <a:srgbClr val="0C1A30"/>
          </a:solidFill>
          <a:ln w="12700">
            <a:solidFill>
              <a:srgbClr val="3A4F7A"/>
            </a:solidFill>
            <a:prstDash val="solid"/>
          </a:ln>
        </p:spPr>
      </p:sp>
      <p:sp>
        <p:nvSpPr>
          <p:cNvPr id="56" name="Text 53"/>
          <p:cNvSpPr txBox="1"/>
          <p:nvPr/>
        </p:nvSpPr>
        <p:spPr>
          <a:xfrm>
            <a:off x="9107424" y="5084064"/>
            <a:ext cx="2322576" cy="256032"/>
          </a:xfrm>
          <a:prstGeom prst="rect">
            <a:avLst/>
          </a:prstGeom>
          <a:noFill/>
          <a:ln/>
        </p:spPr>
        <p:txBody>
          <a:bodyPr wrap="square" lIns="0" tIns="0" rIns="0" bIns="0" rtlCol="0" anchor="ctr"/>
          <a:lstStyle/>
          <a:p>
            <a:pPr algn="ctr" indent="0" marL="0">
              <a:buNone/>
            </a:pPr>
            <a:r>
              <a:rPr lang="en-US" sz="850" b="1" dirty="0">
                <a:solidFill>
                  <a:srgbClr val="A9BCDB"/>
                </a:solidFill>
                <a:latin typeface="Courier New" pitchFamily="34" charset="0"/>
                <a:ea typeface="Courier New" pitchFamily="34" charset="-122"/>
                <a:cs typeface="Courier New" pitchFamily="34" charset="-120"/>
              </a:rPr>
              <a:t>FILE_LOCKED</a:t>
            </a:r>
            <a:endParaRPr lang="en-US" sz="850" dirty="0"/>
          </a:p>
        </p:txBody>
      </p:sp>
      <p:sp>
        <p:nvSpPr>
          <p:cNvPr id="57" name="Shape 54"/>
          <p:cNvSpPr/>
          <p:nvPr/>
        </p:nvSpPr>
        <p:spPr>
          <a:xfrm>
            <a:off x="6702552" y="5376672"/>
            <a:ext cx="2322576" cy="256032"/>
          </a:xfrm>
          <a:prstGeom prst="roundRect">
            <a:avLst>
              <a:gd name="adj" fmla="val 21429"/>
            </a:avLst>
          </a:prstGeom>
          <a:solidFill>
            <a:srgbClr val="0C1A30"/>
          </a:solidFill>
          <a:ln w="12700">
            <a:solidFill>
              <a:srgbClr val="3A4F7A"/>
            </a:solidFill>
            <a:prstDash val="solid"/>
          </a:ln>
        </p:spPr>
      </p:sp>
      <p:sp>
        <p:nvSpPr>
          <p:cNvPr id="58" name="Text 55"/>
          <p:cNvSpPr txBox="1"/>
          <p:nvPr/>
        </p:nvSpPr>
        <p:spPr>
          <a:xfrm>
            <a:off x="6702552" y="5376672"/>
            <a:ext cx="2322576" cy="256032"/>
          </a:xfrm>
          <a:prstGeom prst="rect">
            <a:avLst/>
          </a:prstGeom>
          <a:noFill/>
          <a:ln/>
        </p:spPr>
        <p:txBody>
          <a:bodyPr wrap="square" lIns="0" tIns="0" rIns="0" bIns="0" rtlCol="0" anchor="ctr"/>
          <a:lstStyle/>
          <a:p>
            <a:pPr algn="ctr" indent="0" marL="0">
              <a:buNone/>
            </a:pPr>
            <a:r>
              <a:rPr lang="en-US" sz="850" b="1" dirty="0">
                <a:solidFill>
                  <a:srgbClr val="A9BCDB"/>
                </a:solidFill>
                <a:latin typeface="Courier New" pitchFamily="34" charset="0"/>
                <a:ea typeface="Courier New" pitchFamily="34" charset="-122"/>
                <a:cs typeface="Courier New" pitchFamily="34" charset="-120"/>
              </a:rPr>
              <a:t>PERMISSION_DENIED</a:t>
            </a:r>
            <a:endParaRPr lang="en-US" sz="850" dirty="0"/>
          </a:p>
        </p:txBody>
      </p:sp>
      <p:sp>
        <p:nvSpPr>
          <p:cNvPr id="59" name="Shape 56"/>
          <p:cNvSpPr/>
          <p:nvPr/>
        </p:nvSpPr>
        <p:spPr>
          <a:xfrm>
            <a:off x="9107424" y="5376672"/>
            <a:ext cx="2322576" cy="256032"/>
          </a:xfrm>
          <a:prstGeom prst="roundRect">
            <a:avLst>
              <a:gd name="adj" fmla="val 21429"/>
            </a:avLst>
          </a:prstGeom>
          <a:solidFill>
            <a:srgbClr val="0C1A30"/>
          </a:solidFill>
          <a:ln w="12700">
            <a:solidFill>
              <a:srgbClr val="3A4F7A"/>
            </a:solidFill>
            <a:prstDash val="solid"/>
          </a:ln>
        </p:spPr>
      </p:sp>
      <p:sp>
        <p:nvSpPr>
          <p:cNvPr id="60" name="Text 57"/>
          <p:cNvSpPr txBox="1"/>
          <p:nvPr/>
        </p:nvSpPr>
        <p:spPr>
          <a:xfrm>
            <a:off x="9107424" y="5376672"/>
            <a:ext cx="2322576" cy="256032"/>
          </a:xfrm>
          <a:prstGeom prst="rect">
            <a:avLst/>
          </a:prstGeom>
          <a:noFill/>
          <a:ln/>
        </p:spPr>
        <p:txBody>
          <a:bodyPr wrap="square" lIns="0" tIns="0" rIns="0" bIns="0" rtlCol="0" anchor="ctr"/>
          <a:lstStyle/>
          <a:p>
            <a:pPr algn="ctr" indent="0" marL="0">
              <a:buNone/>
            </a:pPr>
            <a:r>
              <a:rPr lang="en-US" sz="850" b="1" dirty="0">
                <a:solidFill>
                  <a:srgbClr val="A9BCDB"/>
                </a:solidFill>
                <a:latin typeface="Courier New" pitchFamily="34" charset="0"/>
                <a:ea typeface="Courier New" pitchFamily="34" charset="-122"/>
                <a:cs typeface="Courier New" pitchFamily="34" charset="-120"/>
              </a:rPr>
              <a:t>READ_ONLY / ATTRIBUTE</a:t>
            </a:r>
            <a:endParaRPr lang="en-US" sz="850" dirty="0"/>
          </a:p>
        </p:txBody>
      </p:sp>
      <p:sp>
        <p:nvSpPr>
          <p:cNvPr id="61" name="Shape 58"/>
          <p:cNvSpPr/>
          <p:nvPr/>
        </p:nvSpPr>
        <p:spPr>
          <a:xfrm>
            <a:off x="6702552" y="5669280"/>
            <a:ext cx="2322576" cy="256032"/>
          </a:xfrm>
          <a:prstGeom prst="roundRect">
            <a:avLst>
              <a:gd name="adj" fmla="val 21429"/>
            </a:avLst>
          </a:prstGeom>
          <a:solidFill>
            <a:srgbClr val="0C1A30"/>
          </a:solidFill>
          <a:ln w="12700">
            <a:solidFill>
              <a:srgbClr val="3A4F7A"/>
            </a:solidFill>
            <a:prstDash val="solid"/>
          </a:ln>
        </p:spPr>
      </p:sp>
      <p:sp>
        <p:nvSpPr>
          <p:cNvPr id="62" name="Text 59"/>
          <p:cNvSpPr txBox="1"/>
          <p:nvPr/>
        </p:nvSpPr>
        <p:spPr>
          <a:xfrm>
            <a:off x="6702552" y="5669280"/>
            <a:ext cx="2322576" cy="256032"/>
          </a:xfrm>
          <a:prstGeom prst="rect">
            <a:avLst/>
          </a:prstGeom>
          <a:noFill/>
          <a:ln/>
        </p:spPr>
        <p:txBody>
          <a:bodyPr wrap="square" lIns="0" tIns="0" rIns="0" bIns="0" rtlCol="0" anchor="ctr"/>
          <a:lstStyle/>
          <a:p>
            <a:pPr algn="ctr" indent="0" marL="0">
              <a:buNone/>
            </a:pPr>
            <a:r>
              <a:rPr lang="en-US" sz="850" b="1" dirty="0">
                <a:solidFill>
                  <a:srgbClr val="A9BCDB"/>
                </a:solidFill>
                <a:latin typeface="Courier New" pitchFamily="34" charset="0"/>
                <a:ea typeface="Courier New" pitchFamily="34" charset="-122"/>
                <a:cs typeface="Courier New" pitchFamily="34" charset="-120"/>
              </a:rPr>
              <a:t>SYNC_CONFLICT</a:t>
            </a:r>
            <a:endParaRPr lang="en-US" sz="850" dirty="0"/>
          </a:p>
        </p:txBody>
      </p:sp>
      <p:sp>
        <p:nvSpPr>
          <p:cNvPr id="63" name="Shape 60"/>
          <p:cNvSpPr/>
          <p:nvPr/>
        </p:nvSpPr>
        <p:spPr>
          <a:xfrm>
            <a:off x="9107424" y="5669280"/>
            <a:ext cx="2322576" cy="256032"/>
          </a:xfrm>
          <a:prstGeom prst="roundRect">
            <a:avLst>
              <a:gd name="adj" fmla="val 21429"/>
            </a:avLst>
          </a:prstGeom>
          <a:solidFill>
            <a:srgbClr val="0C1A30"/>
          </a:solidFill>
          <a:ln w="12700">
            <a:solidFill>
              <a:srgbClr val="3A4F7A"/>
            </a:solidFill>
            <a:prstDash val="solid"/>
          </a:ln>
        </p:spPr>
      </p:sp>
      <p:sp>
        <p:nvSpPr>
          <p:cNvPr id="64" name="Text 61"/>
          <p:cNvSpPr txBox="1"/>
          <p:nvPr/>
        </p:nvSpPr>
        <p:spPr>
          <a:xfrm>
            <a:off x="9107424" y="5669280"/>
            <a:ext cx="2322576" cy="256032"/>
          </a:xfrm>
          <a:prstGeom prst="rect">
            <a:avLst/>
          </a:prstGeom>
          <a:noFill/>
          <a:ln/>
        </p:spPr>
        <p:txBody>
          <a:bodyPr wrap="square" lIns="0" tIns="0" rIns="0" bIns="0" rtlCol="0" anchor="ctr"/>
          <a:lstStyle/>
          <a:p>
            <a:pPr algn="ctr" indent="0" marL="0">
              <a:buNone/>
            </a:pPr>
            <a:r>
              <a:rPr lang="en-US" sz="850" b="1" dirty="0">
                <a:solidFill>
                  <a:srgbClr val="A9BCDB"/>
                </a:solidFill>
                <a:latin typeface="Courier New" pitchFamily="34" charset="0"/>
                <a:ea typeface="Courier New" pitchFamily="34" charset="-122"/>
                <a:cs typeface="Courier New" pitchFamily="34" charset="-120"/>
              </a:rPr>
              <a:t>OPERATION_ALLOWED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1A30"/>
        </a:solidFill>
      </p:bgPr>
    </p:bg>
    <p:spTree>
      <p:nvGrpSpPr>
        <p:cNvPr id="1" name=""/>
        <p:cNvGrpSpPr/>
        <p:nvPr/>
      </p:nvGrpSpPr>
      <p:grpSpPr>
        <a:xfrm>
          <a:off x="0" y="0"/>
          <a:ext cx="0" cy="0"/>
          <a:chOff x="0" y="0"/>
          <a:chExt cx="0" cy="0"/>
        </a:xfrm>
      </p:grpSpPr>
      <p:sp>
        <p:nvSpPr>
          <p:cNvPr id="3" name="Text 0"/>
          <p:cNvSpPr txBox="1"/>
          <p:nvPr/>
        </p:nvSpPr>
        <p:spPr>
          <a:xfrm>
            <a:off x="502920" y="292608"/>
            <a:ext cx="10058400" cy="237744"/>
          </a:xfrm>
          <a:prstGeom prst="rect">
            <a:avLst/>
          </a:prstGeom>
          <a:noFill/>
          <a:ln/>
        </p:spPr>
        <p:txBody>
          <a:bodyPr wrap="square" lIns="0" tIns="0" rIns="0" bIns="0" rtlCol="0" anchor="ctr"/>
          <a:lstStyle/>
          <a:p>
            <a:pPr indent="0" marL="0">
              <a:buNone/>
            </a:pPr>
            <a:r>
              <a:rPr lang="en-US" sz="1100" b="1" spc="200" kern="0" dirty="0">
                <a:solidFill>
                  <a:srgbClr val="4F8EF7"/>
                </a:solidFill>
                <a:latin typeface="Calibri" pitchFamily="34" charset="0"/>
                <a:ea typeface="Calibri" pitchFamily="34" charset="-122"/>
                <a:cs typeface="Calibri" pitchFamily="34" charset="-120"/>
              </a:rPr>
              <a:t>SLIDE 8</a:t>
            </a:r>
            <a:endParaRPr lang="en-US" sz="1100" dirty="0"/>
          </a:p>
        </p:txBody>
      </p:sp>
      <p:sp>
        <p:nvSpPr>
          <p:cNvPr id="4"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GUI / System Design</a:t>
            </a:r>
            <a:endParaRPr lang="en-US" sz="3000" dirty="0"/>
          </a:p>
        </p:txBody>
      </p:sp>
      <p:sp>
        <p:nvSpPr>
          <p:cNvPr id="5" name="Shape 2"/>
          <p:cNvSpPr/>
          <p:nvPr/>
        </p:nvSpPr>
        <p:spPr>
          <a:xfrm>
            <a:off x="502920" y="1298448"/>
            <a:ext cx="6537960" cy="4663440"/>
          </a:xfrm>
          <a:prstGeom prst="roundRect">
            <a:avLst>
              <a:gd name="adj" fmla="val 1569"/>
            </a:avLst>
          </a:prstGeom>
          <a:solidFill>
            <a:srgbClr val="16294A"/>
          </a:solidFill>
          <a:ln w="12700">
            <a:solidFill>
              <a:srgbClr val="4F8EF7"/>
            </a:solidFill>
            <a:prstDash val="solid"/>
          </a:ln>
          <a:effectLst>
            <a:outerShdw sx="100000" sy="100000" kx="0" ky="0" algn="bl" rotWithShape="0" blurRad="101600" dist="25400" dir="5400000">
              <a:srgbClr val="000000">
                <a:alpha val="35000"/>
              </a:srgbClr>
            </a:outerShdw>
          </a:effectLst>
        </p:spPr>
      </p:sp>
      <p:sp>
        <p:nvSpPr>
          <p:cNvPr id="6" name="Shape 3"/>
          <p:cNvSpPr/>
          <p:nvPr/>
        </p:nvSpPr>
        <p:spPr>
          <a:xfrm>
            <a:off x="502920" y="1298448"/>
            <a:ext cx="6537960" cy="347472"/>
          </a:xfrm>
          <a:prstGeom prst="rect">
            <a:avLst/>
          </a:prstGeom>
          <a:solidFill>
            <a:srgbClr val="2B5FC4"/>
          </a:solidFill>
          <a:ln w="12700">
            <a:solidFill>
              <a:srgbClr val="333333"/>
            </a:solidFill>
            <a:prstDash val="solid"/>
          </a:ln>
        </p:spPr>
      </p:sp>
      <p:sp>
        <p:nvSpPr>
          <p:cNvPr id="7" name="Text 4"/>
          <p:cNvSpPr txBox="1"/>
          <p:nvPr/>
        </p:nvSpPr>
        <p:spPr>
          <a:xfrm>
            <a:off x="667512" y="1298448"/>
            <a:ext cx="4572000" cy="34747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File Operation Failure Diagnoser</a:t>
            </a:r>
            <a:endParaRPr lang="en-US" sz="1150" dirty="0"/>
          </a:p>
        </p:txBody>
      </p:sp>
      <p:sp>
        <p:nvSpPr>
          <p:cNvPr id="8" name="Text 5"/>
          <p:cNvSpPr txBox="1"/>
          <p:nvPr/>
        </p:nvSpPr>
        <p:spPr>
          <a:xfrm>
            <a:off x="704088" y="1755648"/>
            <a:ext cx="640080" cy="237744"/>
          </a:xfrm>
          <a:prstGeom prst="rect">
            <a:avLst/>
          </a:prstGeom>
          <a:noFill/>
          <a:ln/>
        </p:spPr>
        <p:txBody>
          <a:bodyPr wrap="square" lIns="0" tIns="0" rIns="0" bIns="0" rtlCol="0" anchor="ctr"/>
          <a:lstStyle/>
          <a:p>
            <a:pPr indent="0" marL="0">
              <a:buNone/>
            </a:pPr>
            <a:r>
              <a:rPr lang="en-US" sz="1050" dirty="0">
                <a:solidFill>
                  <a:srgbClr val="A9BCDB"/>
                </a:solidFill>
                <a:latin typeface="Calibri" pitchFamily="34" charset="0"/>
                <a:ea typeface="Calibri" pitchFamily="34" charset="-122"/>
                <a:cs typeface="Calibri" pitchFamily="34" charset="-120"/>
              </a:rPr>
              <a:t>File:</a:t>
            </a:r>
            <a:endParaRPr lang="en-US" sz="1050" dirty="0"/>
          </a:p>
        </p:txBody>
      </p:sp>
      <p:sp>
        <p:nvSpPr>
          <p:cNvPr id="9" name="Shape 6"/>
          <p:cNvSpPr/>
          <p:nvPr/>
        </p:nvSpPr>
        <p:spPr>
          <a:xfrm>
            <a:off x="1307592" y="1719072"/>
            <a:ext cx="4069080" cy="310896"/>
          </a:xfrm>
          <a:prstGeom prst="roundRect">
            <a:avLst>
              <a:gd name="adj" fmla="val 14706"/>
            </a:avLst>
          </a:prstGeom>
          <a:solidFill>
            <a:srgbClr val="0C1A30"/>
          </a:solidFill>
          <a:ln w="12700">
            <a:solidFill>
              <a:srgbClr val="3A4F7A"/>
            </a:solidFill>
            <a:prstDash val="solid"/>
          </a:ln>
        </p:spPr>
      </p:sp>
      <p:sp>
        <p:nvSpPr>
          <p:cNvPr id="10" name="Text 7"/>
          <p:cNvSpPr txBox="1"/>
          <p:nvPr/>
        </p:nvSpPr>
        <p:spPr>
          <a:xfrm>
            <a:off x="1417320" y="1719072"/>
            <a:ext cx="3840480" cy="310896"/>
          </a:xfrm>
          <a:prstGeom prst="rect">
            <a:avLst/>
          </a:prstGeom>
          <a:noFill/>
          <a:ln/>
        </p:spPr>
        <p:txBody>
          <a:bodyPr wrap="square" lIns="0" tIns="0" rIns="0" bIns="0" rtlCol="0" anchor="ctr"/>
          <a:lstStyle/>
          <a:p>
            <a:pPr indent="0" marL="0">
              <a:buNone/>
            </a:pPr>
            <a:r>
              <a:rPr lang="en-US" sz="950" dirty="0">
                <a:solidFill>
                  <a:srgbClr val="A9BCDB"/>
                </a:solidFill>
                <a:latin typeface="Courier New" pitchFamily="34" charset="0"/>
                <a:ea typeface="Courier New" pitchFamily="34" charset="-122"/>
                <a:cs typeface="Courier New" pitchFamily="34" charset="-120"/>
              </a:rPr>
              <a:t>C:\Users\...\report.docx</a:t>
            </a:r>
            <a:endParaRPr lang="en-US" sz="950" dirty="0"/>
          </a:p>
        </p:txBody>
      </p:sp>
      <p:sp>
        <p:nvSpPr>
          <p:cNvPr id="11" name="Shape 8"/>
          <p:cNvSpPr/>
          <p:nvPr/>
        </p:nvSpPr>
        <p:spPr>
          <a:xfrm>
            <a:off x="5458968" y="1719072"/>
            <a:ext cx="822960" cy="310896"/>
          </a:xfrm>
          <a:prstGeom prst="roundRect">
            <a:avLst>
              <a:gd name="adj" fmla="val 14706"/>
            </a:avLst>
          </a:prstGeom>
          <a:solidFill>
            <a:srgbClr val="1E3560"/>
          </a:solidFill>
          <a:ln w="12700">
            <a:solidFill>
              <a:srgbClr val="4F8EF7"/>
            </a:solidFill>
            <a:prstDash val="solid"/>
          </a:ln>
        </p:spPr>
      </p:sp>
      <p:sp>
        <p:nvSpPr>
          <p:cNvPr id="12" name="Text 9"/>
          <p:cNvSpPr txBox="1"/>
          <p:nvPr/>
        </p:nvSpPr>
        <p:spPr>
          <a:xfrm>
            <a:off x="5458968" y="1719072"/>
            <a:ext cx="82296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Browse</a:t>
            </a:r>
            <a:endParaRPr lang="en-US" sz="950" dirty="0"/>
          </a:p>
        </p:txBody>
      </p:sp>
      <p:sp>
        <p:nvSpPr>
          <p:cNvPr id="13" name="Text 10"/>
          <p:cNvSpPr txBox="1"/>
          <p:nvPr/>
        </p:nvSpPr>
        <p:spPr>
          <a:xfrm>
            <a:off x="704088" y="2176272"/>
            <a:ext cx="822960" cy="237744"/>
          </a:xfrm>
          <a:prstGeom prst="rect">
            <a:avLst/>
          </a:prstGeom>
          <a:noFill/>
          <a:ln/>
        </p:spPr>
        <p:txBody>
          <a:bodyPr wrap="square" lIns="0" tIns="0" rIns="0" bIns="0" rtlCol="0" anchor="ctr"/>
          <a:lstStyle/>
          <a:p>
            <a:pPr indent="0" marL="0">
              <a:buNone/>
            </a:pPr>
            <a:r>
              <a:rPr lang="en-US" sz="1050" dirty="0">
                <a:solidFill>
                  <a:srgbClr val="A9BCDB"/>
                </a:solidFill>
                <a:latin typeface="Calibri" pitchFamily="34" charset="0"/>
                <a:ea typeface="Calibri" pitchFamily="34" charset="-122"/>
                <a:cs typeface="Calibri" pitchFamily="34" charset="-120"/>
              </a:rPr>
              <a:t>Operation:</a:t>
            </a:r>
            <a:endParaRPr lang="en-US" sz="1050" dirty="0"/>
          </a:p>
        </p:txBody>
      </p:sp>
      <p:sp>
        <p:nvSpPr>
          <p:cNvPr id="14" name="Shape 11"/>
          <p:cNvSpPr/>
          <p:nvPr/>
        </p:nvSpPr>
        <p:spPr>
          <a:xfrm>
            <a:off x="1527048" y="2139696"/>
            <a:ext cx="1417320" cy="310896"/>
          </a:xfrm>
          <a:prstGeom prst="roundRect">
            <a:avLst>
              <a:gd name="adj" fmla="val 14706"/>
            </a:avLst>
          </a:prstGeom>
          <a:solidFill>
            <a:srgbClr val="0C1A30"/>
          </a:solidFill>
          <a:ln w="12700">
            <a:solidFill>
              <a:srgbClr val="3A4F7A"/>
            </a:solidFill>
            <a:prstDash val="solid"/>
          </a:ln>
        </p:spPr>
      </p:sp>
      <p:sp>
        <p:nvSpPr>
          <p:cNvPr id="15" name="Text 12"/>
          <p:cNvSpPr txBox="1"/>
          <p:nvPr/>
        </p:nvSpPr>
        <p:spPr>
          <a:xfrm>
            <a:off x="1527048" y="2139696"/>
            <a:ext cx="1417320"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WRITE   ▼</a:t>
            </a:r>
            <a:endParaRPr lang="en-US" sz="950" dirty="0"/>
          </a:p>
        </p:txBody>
      </p:sp>
      <p:sp>
        <p:nvSpPr>
          <p:cNvPr id="16" name="Shape 13"/>
          <p:cNvSpPr/>
          <p:nvPr/>
        </p:nvSpPr>
        <p:spPr>
          <a:xfrm>
            <a:off x="4864608" y="2139696"/>
            <a:ext cx="1417320" cy="310896"/>
          </a:xfrm>
          <a:prstGeom prst="roundRect">
            <a:avLst>
              <a:gd name="adj" fmla="val 14706"/>
            </a:avLst>
          </a:prstGeom>
          <a:solidFill>
            <a:srgbClr val="2B5FC4"/>
          </a:solidFill>
          <a:ln w="12700">
            <a:solidFill>
              <a:srgbClr val="4F8EF7"/>
            </a:solidFill>
            <a:prstDash val="solid"/>
          </a:ln>
        </p:spPr>
      </p:sp>
      <p:sp>
        <p:nvSpPr>
          <p:cNvPr id="17" name="Text 14"/>
          <p:cNvSpPr txBox="1"/>
          <p:nvPr/>
        </p:nvSpPr>
        <p:spPr>
          <a:xfrm>
            <a:off x="4864608" y="2139696"/>
            <a:ext cx="14173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Diagnose File</a:t>
            </a:r>
            <a:endParaRPr lang="en-US" sz="1000" dirty="0"/>
          </a:p>
        </p:txBody>
      </p:sp>
      <p:sp>
        <p:nvSpPr>
          <p:cNvPr id="18" name="Shape 15"/>
          <p:cNvSpPr/>
          <p:nvPr/>
        </p:nvSpPr>
        <p:spPr>
          <a:xfrm>
            <a:off x="704088" y="2587752"/>
            <a:ext cx="5733288" cy="18288"/>
          </a:xfrm>
          <a:prstGeom prst="rect">
            <a:avLst/>
          </a:prstGeom>
          <a:solidFill>
            <a:srgbClr val="2A4374"/>
          </a:solidFill>
          <a:ln w="12700">
            <a:solidFill>
              <a:srgbClr val="333333"/>
            </a:solidFill>
            <a:prstDash val="solid"/>
          </a:ln>
        </p:spPr>
      </p:sp>
      <p:sp>
        <p:nvSpPr>
          <p:cNvPr id="19" name="Shape 16"/>
          <p:cNvSpPr/>
          <p:nvPr/>
        </p:nvSpPr>
        <p:spPr>
          <a:xfrm>
            <a:off x="704088" y="2670048"/>
            <a:ext cx="5733288" cy="603504"/>
          </a:xfrm>
          <a:prstGeom prst="roundRect">
            <a:avLst>
              <a:gd name="adj" fmla="val 9091"/>
            </a:avLst>
          </a:prstGeom>
          <a:solidFill>
            <a:srgbClr val="0C1A30"/>
          </a:solidFill>
          <a:ln w="12700">
            <a:solidFill>
              <a:srgbClr val="2A4374"/>
            </a:solidFill>
            <a:prstDash val="solid"/>
          </a:ln>
        </p:spPr>
      </p:sp>
      <p:sp>
        <p:nvSpPr>
          <p:cNvPr id="20" name="Shape 17"/>
          <p:cNvSpPr/>
          <p:nvPr/>
        </p:nvSpPr>
        <p:spPr>
          <a:xfrm>
            <a:off x="832104" y="2779776"/>
            <a:ext cx="109728" cy="109728"/>
          </a:xfrm>
          <a:prstGeom prst="ellipse">
            <a:avLst/>
          </a:prstGeom>
          <a:solidFill>
            <a:srgbClr val="2DD4A7"/>
          </a:solidFill>
          <a:ln w="12700">
            <a:solidFill>
              <a:srgbClr val="333333"/>
            </a:solidFill>
            <a:prstDash val="solid"/>
          </a:ln>
        </p:spPr>
      </p:sp>
      <p:sp>
        <p:nvSpPr>
          <p:cNvPr id="21" name="Text 18"/>
          <p:cNvSpPr txBox="1"/>
          <p:nvPr/>
        </p:nvSpPr>
        <p:spPr>
          <a:xfrm>
            <a:off x="1014984" y="2706624"/>
            <a:ext cx="3657600" cy="237744"/>
          </a:xfrm>
          <a:prstGeom prst="rect">
            <a:avLst/>
          </a:prstGeom>
          <a:noFill/>
          <a:ln/>
        </p:spPr>
        <p:txBody>
          <a:bodyPr wrap="square" lIns="0" tIns="0" rIns="0" bIns="0" rtlCol="0" anchor="ctr"/>
          <a:lstStyle/>
          <a:p>
            <a:pPr indent="0" marL="0">
              <a:buNone/>
            </a:pPr>
            <a:r>
              <a:rPr lang="en-US" sz="950" b="1" spc="100" kern="0" dirty="0">
                <a:solidFill>
                  <a:srgbClr val="2DD4A7"/>
                </a:solidFill>
                <a:latin typeface="Calibri" pitchFamily="34" charset="0"/>
                <a:ea typeface="Calibri" pitchFamily="34" charset="-122"/>
                <a:cs typeface="Calibri" pitchFamily="34" charset="-120"/>
              </a:rPr>
              <a:t>STATUS</a:t>
            </a:r>
            <a:endParaRPr lang="en-US" sz="950" dirty="0"/>
          </a:p>
        </p:txBody>
      </p:sp>
      <p:sp>
        <p:nvSpPr>
          <p:cNvPr id="22" name="Text 19"/>
          <p:cNvSpPr txBox="1"/>
          <p:nvPr/>
        </p:nvSpPr>
        <p:spPr>
          <a:xfrm>
            <a:off x="1014984" y="2926080"/>
            <a:ext cx="5294376" cy="310896"/>
          </a:xfrm>
          <a:prstGeom prst="rect">
            <a:avLst/>
          </a:prstGeom>
          <a:noFill/>
          <a:ln/>
        </p:spPr>
        <p:txBody>
          <a:bodyPr wrap="square" lIns="0" tIns="0" rIns="0" bIns="0" rtlCol="0" anchor="ctr"/>
          <a:lstStyle/>
          <a:p>
            <a:pPr indent="0" marL="0">
              <a:lnSpc>
                <a:spcPts val="1200"/>
              </a:lnSpc>
              <a:buNone/>
            </a:pPr>
            <a:r>
              <a:rPr lang="en-US" sz="950" dirty="0">
                <a:solidFill>
                  <a:srgbClr val="A9BCDB"/>
                </a:solidFill>
                <a:latin typeface="Courier New" pitchFamily="34" charset="0"/>
                <a:ea typeface="Courier New" pitchFamily="34" charset="-122"/>
                <a:cs typeface="Courier New" pitchFamily="34" charset="-120"/>
              </a:rPr>
              <a:t>Diagnosis:  FILE LOCKED</a:t>
            </a:r>
            <a:endParaRPr lang="en-US" sz="950" dirty="0"/>
          </a:p>
          <a:p>
            <a:pPr indent="0" marL="0">
              <a:lnSpc>
                <a:spcPts val="1200"/>
              </a:lnSpc>
              <a:buNone/>
            </a:pPr>
            <a:r>
              <a:rPr lang="en-US" sz="950" dirty="0">
                <a:solidFill>
                  <a:srgbClr val="A9BCDB"/>
                </a:solidFill>
                <a:latin typeface="Courier New" pitchFamily="34" charset="0"/>
                <a:ea typeface="Courier New" pitchFamily="34" charset="-122"/>
                <a:cs typeface="Courier New" pitchFamily="34" charset="-120"/>
              </a:rPr>
              <a:t>Reason:  the file is currently being used by another process</a:t>
            </a:r>
            <a:endParaRPr lang="en-US" sz="950" dirty="0"/>
          </a:p>
        </p:txBody>
      </p:sp>
      <p:sp>
        <p:nvSpPr>
          <p:cNvPr id="23" name="Shape 20"/>
          <p:cNvSpPr/>
          <p:nvPr/>
        </p:nvSpPr>
        <p:spPr>
          <a:xfrm>
            <a:off x="704088" y="3346704"/>
            <a:ext cx="5733288" cy="530352"/>
          </a:xfrm>
          <a:prstGeom prst="roundRect">
            <a:avLst>
              <a:gd name="adj" fmla="val 10345"/>
            </a:avLst>
          </a:prstGeom>
          <a:solidFill>
            <a:srgbClr val="0C1A30"/>
          </a:solidFill>
          <a:ln w="12700">
            <a:solidFill>
              <a:srgbClr val="2A4374"/>
            </a:solidFill>
            <a:prstDash val="solid"/>
          </a:ln>
        </p:spPr>
      </p:sp>
      <p:sp>
        <p:nvSpPr>
          <p:cNvPr id="24" name="Shape 21"/>
          <p:cNvSpPr/>
          <p:nvPr/>
        </p:nvSpPr>
        <p:spPr>
          <a:xfrm>
            <a:off x="832104" y="3456432"/>
            <a:ext cx="109728" cy="109728"/>
          </a:xfrm>
          <a:prstGeom prst="ellipse">
            <a:avLst/>
          </a:prstGeom>
          <a:solidFill>
            <a:srgbClr val="2DD4A7"/>
          </a:solidFill>
          <a:ln w="12700">
            <a:solidFill>
              <a:srgbClr val="333333"/>
            </a:solidFill>
            <a:prstDash val="solid"/>
          </a:ln>
        </p:spPr>
      </p:sp>
      <p:sp>
        <p:nvSpPr>
          <p:cNvPr id="25" name="Text 22"/>
          <p:cNvSpPr txBox="1"/>
          <p:nvPr/>
        </p:nvSpPr>
        <p:spPr>
          <a:xfrm>
            <a:off x="1014984" y="3383280"/>
            <a:ext cx="3657600" cy="237744"/>
          </a:xfrm>
          <a:prstGeom prst="rect">
            <a:avLst/>
          </a:prstGeom>
          <a:noFill/>
          <a:ln/>
        </p:spPr>
        <p:txBody>
          <a:bodyPr wrap="square" lIns="0" tIns="0" rIns="0" bIns="0" rtlCol="0" anchor="ctr"/>
          <a:lstStyle/>
          <a:p>
            <a:pPr indent="0" marL="0">
              <a:buNone/>
            </a:pPr>
            <a:r>
              <a:rPr lang="en-US" sz="950" b="1" spc="100" kern="0" dirty="0">
                <a:solidFill>
                  <a:srgbClr val="2DD4A7"/>
                </a:solidFill>
                <a:latin typeface="Calibri" pitchFamily="34" charset="0"/>
                <a:ea typeface="Calibri" pitchFamily="34" charset="-122"/>
                <a:cs typeface="Calibri" pitchFamily="34" charset="-120"/>
              </a:rPr>
              <a:t>PROCESS LIST</a:t>
            </a:r>
            <a:endParaRPr lang="en-US" sz="950" dirty="0"/>
          </a:p>
        </p:txBody>
      </p:sp>
      <p:sp>
        <p:nvSpPr>
          <p:cNvPr id="26" name="Text 23"/>
          <p:cNvSpPr txBox="1"/>
          <p:nvPr/>
        </p:nvSpPr>
        <p:spPr>
          <a:xfrm>
            <a:off x="1014984" y="3602736"/>
            <a:ext cx="5294376" cy="237744"/>
          </a:xfrm>
          <a:prstGeom prst="rect">
            <a:avLst/>
          </a:prstGeom>
          <a:noFill/>
          <a:ln/>
        </p:spPr>
        <p:txBody>
          <a:bodyPr wrap="square" lIns="0" tIns="0" rIns="0" bIns="0" rtlCol="0" anchor="ctr"/>
          <a:lstStyle/>
          <a:p>
            <a:pPr indent="0" marL="0">
              <a:lnSpc>
                <a:spcPts val="1200"/>
              </a:lnSpc>
              <a:buNone/>
            </a:pPr>
            <a:r>
              <a:rPr lang="en-US" sz="950" dirty="0">
                <a:solidFill>
                  <a:srgbClr val="A9BCDB"/>
                </a:solidFill>
                <a:latin typeface="Courier New" pitchFamily="34" charset="0"/>
                <a:ea typeface="Courier New" pitchFamily="34" charset="-122"/>
                <a:cs typeface="Courier New" pitchFamily="34" charset="-120"/>
              </a:rPr>
              <a:t>Process        |   PID   |   Executable Path</a:t>
            </a:r>
            <a:endParaRPr lang="en-US" sz="950" dirty="0"/>
          </a:p>
        </p:txBody>
      </p:sp>
      <p:sp>
        <p:nvSpPr>
          <p:cNvPr id="27" name="Shape 24"/>
          <p:cNvSpPr/>
          <p:nvPr/>
        </p:nvSpPr>
        <p:spPr>
          <a:xfrm>
            <a:off x="704088" y="3950208"/>
            <a:ext cx="5733288" cy="530352"/>
          </a:xfrm>
          <a:prstGeom prst="roundRect">
            <a:avLst>
              <a:gd name="adj" fmla="val 10345"/>
            </a:avLst>
          </a:prstGeom>
          <a:solidFill>
            <a:srgbClr val="0C1A30"/>
          </a:solidFill>
          <a:ln w="12700">
            <a:solidFill>
              <a:srgbClr val="2A4374"/>
            </a:solidFill>
            <a:prstDash val="solid"/>
          </a:ln>
        </p:spPr>
      </p:sp>
      <p:sp>
        <p:nvSpPr>
          <p:cNvPr id="28" name="Shape 25"/>
          <p:cNvSpPr/>
          <p:nvPr/>
        </p:nvSpPr>
        <p:spPr>
          <a:xfrm>
            <a:off x="832104" y="4059936"/>
            <a:ext cx="109728" cy="109728"/>
          </a:xfrm>
          <a:prstGeom prst="ellipse">
            <a:avLst/>
          </a:prstGeom>
          <a:solidFill>
            <a:srgbClr val="2DD4A7"/>
          </a:solidFill>
          <a:ln w="12700">
            <a:solidFill>
              <a:srgbClr val="333333"/>
            </a:solidFill>
            <a:prstDash val="solid"/>
          </a:ln>
        </p:spPr>
      </p:sp>
      <p:sp>
        <p:nvSpPr>
          <p:cNvPr id="29" name="Text 26"/>
          <p:cNvSpPr txBox="1"/>
          <p:nvPr/>
        </p:nvSpPr>
        <p:spPr>
          <a:xfrm>
            <a:off x="1014984" y="3986784"/>
            <a:ext cx="3657600" cy="237744"/>
          </a:xfrm>
          <a:prstGeom prst="rect">
            <a:avLst/>
          </a:prstGeom>
          <a:noFill/>
          <a:ln/>
        </p:spPr>
        <p:txBody>
          <a:bodyPr wrap="square" lIns="0" tIns="0" rIns="0" bIns="0" rtlCol="0" anchor="ctr"/>
          <a:lstStyle/>
          <a:p>
            <a:pPr indent="0" marL="0">
              <a:buNone/>
            </a:pPr>
            <a:r>
              <a:rPr lang="en-US" sz="950" b="1" spc="100" kern="0" dirty="0">
                <a:solidFill>
                  <a:srgbClr val="2DD4A7"/>
                </a:solidFill>
                <a:latin typeface="Calibri" pitchFamily="34" charset="0"/>
                <a:ea typeface="Calibri" pitchFamily="34" charset="-122"/>
                <a:cs typeface="Calibri" pitchFamily="34" charset="-120"/>
              </a:rPr>
              <a:t>PERMISSIONS</a:t>
            </a:r>
            <a:endParaRPr lang="en-US" sz="950" dirty="0"/>
          </a:p>
        </p:txBody>
      </p:sp>
      <p:sp>
        <p:nvSpPr>
          <p:cNvPr id="30" name="Text 27"/>
          <p:cNvSpPr txBox="1"/>
          <p:nvPr/>
        </p:nvSpPr>
        <p:spPr>
          <a:xfrm>
            <a:off x="1014984" y="4206240"/>
            <a:ext cx="5294376" cy="237744"/>
          </a:xfrm>
          <a:prstGeom prst="rect">
            <a:avLst/>
          </a:prstGeom>
          <a:noFill/>
          <a:ln/>
        </p:spPr>
        <p:txBody>
          <a:bodyPr wrap="square" lIns="0" tIns="0" rIns="0" bIns="0" rtlCol="0" anchor="ctr"/>
          <a:lstStyle/>
          <a:p>
            <a:pPr indent="0" marL="0">
              <a:lnSpc>
                <a:spcPts val="1200"/>
              </a:lnSpc>
              <a:buNone/>
            </a:pPr>
            <a:r>
              <a:rPr lang="en-US" sz="950" dirty="0">
                <a:solidFill>
                  <a:srgbClr val="A9BCDB"/>
                </a:solidFill>
                <a:latin typeface="Calibri" pitchFamily="34" charset="0"/>
                <a:ea typeface="Calibri" pitchFamily="34" charset="-122"/>
                <a:cs typeface="Calibri" pitchFamily="34" charset="-120"/>
              </a:rPr>
              <a:t>Owner  ·  Current User  ·  READ / WRITE / EXECUTE / DELETE</a:t>
            </a:r>
            <a:endParaRPr lang="en-US" sz="950" dirty="0"/>
          </a:p>
        </p:txBody>
      </p:sp>
      <p:sp>
        <p:nvSpPr>
          <p:cNvPr id="31" name="Shape 28"/>
          <p:cNvSpPr/>
          <p:nvPr/>
        </p:nvSpPr>
        <p:spPr>
          <a:xfrm>
            <a:off x="704088" y="4553712"/>
            <a:ext cx="5733288" cy="384048"/>
          </a:xfrm>
          <a:prstGeom prst="roundRect">
            <a:avLst>
              <a:gd name="adj" fmla="val 14286"/>
            </a:avLst>
          </a:prstGeom>
          <a:solidFill>
            <a:srgbClr val="0C1A30"/>
          </a:solidFill>
          <a:ln w="12700">
            <a:solidFill>
              <a:srgbClr val="4A4326"/>
            </a:solidFill>
            <a:prstDash val="dash"/>
          </a:ln>
        </p:spPr>
      </p:sp>
      <p:sp>
        <p:nvSpPr>
          <p:cNvPr id="32" name="Shape 29"/>
          <p:cNvSpPr/>
          <p:nvPr/>
        </p:nvSpPr>
        <p:spPr>
          <a:xfrm>
            <a:off x="832104" y="4663440"/>
            <a:ext cx="109728" cy="109728"/>
          </a:xfrm>
          <a:prstGeom prst="ellipse">
            <a:avLst/>
          </a:prstGeom>
          <a:solidFill>
            <a:srgbClr val="F5A524"/>
          </a:solidFill>
          <a:ln w="12700">
            <a:solidFill>
              <a:srgbClr val="333333"/>
            </a:solidFill>
            <a:prstDash val="solid"/>
          </a:ln>
        </p:spPr>
      </p:sp>
      <p:sp>
        <p:nvSpPr>
          <p:cNvPr id="33" name="Text 30"/>
          <p:cNvSpPr txBox="1"/>
          <p:nvPr/>
        </p:nvSpPr>
        <p:spPr>
          <a:xfrm>
            <a:off x="1014984" y="4590288"/>
            <a:ext cx="3657600" cy="237744"/>
          </a:xfrm>
          <a:prstGeom prst="rect">
            <a:avLst/>
          </a:prstGeom>
          <a:noFill/>
          <a:ln/>
        </p:spPr>
        <p:txBody>
          <a:bodyPr wrap="square" lIns="0" tIns="0" rIns="0" bIns="0" rtlCol="0" anchor="ctr"/>
          <a:lstStyle/>
          <a:p>
            <a:pPr indent="0" marL="0">
              <a:buNone/>
            </a:pPr>
            <a:r>
              <a:rPr lang="en-US" sz="950" b="1" spc="100" kern="0" dirty="0">
                <a:solidFill>
                  <a:srgbClr val="F5A524"/>
                </a:solidFill>
                <a:latin typeface="Calibri" pitchFamily="34" charset="0"/>
                <a:ea typeface="Calibri" pitchFamily="34" charset="-122"/>
                <a:cs typeface="Calibri" pitchFamily="34" charset="-120"/>
              </a:rPr>
              <a:t>FILE ATTRIBUTES — COMING SOON</a:t>
            </a:r>
            <a:endParaRPr lang="en-US" sz="950" dirty="0"/>
          </a:p>
        </p:txBody>
      </p:sp>
      <p:sp>
        <p:nvSpPr>
          <p:cNvPr id="34" name="Text 31"/>
          <p:cNvSpPr txBox="1"/>
          <p:nvPr/>
        </p:nvSpPr>
        <p:spPr>
          <a:xfrm>
            <a:off x="1014984" y="4809744"/>
            <a:ext cx="5294376" cy="91440"/>
          </a:xfrm>
          <a:prstGeom prst="rect">
            <a:avLst/>
          </a:prstGeom>
          <a:noFill/>
          <a:ln/>
        </p:spPr>
        <p:txBody>
          <a:bodyPr wrap="square" lIns="0" tIns="0" rIns="0" bIns="0" rtlCol="0" anchor="ctr"/>
          <a:lstStyle/>
          <a:p>
            <a:pPr indent="0" marL="0">
              <a:lnSpc>
                <a:spcPts val="1200"/>
              </a:lnSpc>
              <a:buNone/>
            </a:pPr>
            <a:endParaRPr lang="en-US" sz="950" dirty="0"/>
          </a:p>
        </p:txBody>
      </p:sp>
      <p:sp>
        <p:nvSpPr>
          <p:cNvPr id="35" name="Shape 32"/>
          <p:cNvSpPr/>
          <p:nvPr/>
        </p:nvSpPr>
        <p:spPr>
          <a:xfrm>
            <a:off x="704088" y="5010912"/>
            <a:ext cx="5733288" cy="384048"/>
          </a:xfrm>
          <a:prstGeom prst="roundRect">
            <a:avLst>
              <a:gd name="adj" fmla="val 14286"/>
            </a:avLst>
          </a:prstGeom>
          <a:solidFill>
            <a:srgbClr val="0C1A30"/>
          </a:solidFill>
          <a:ln w="12700">
            <a:solidFill>
              <a:srgbClr val="4A4326"/>
            </a:solidFill>
            <a:prstDash val="dash"/>
          </a:ln>
        </p:spPr>
      </p:sp>
      <p:sp>
        <p:nvSpPr>
          <p:cNvPr id="36" name="Shape 33"/>
          <p:cNvSpPr/>
          <p:nvPr/>
        </p:nvSpPr>
        <p:spPr>
          <a:xfrm>
            <a:off x="832104" y="5120640"/>
            <a:ext cx="109728" cy="109728"/>
          </a:xfrm>
          <a:prstGeom prst="ellipse">
            <a:avLst/>
          </a:prstGeom>
          <a:solidFill>
            <a:srgbClr val="F5A524"/>
          </a:solidFill>
          <a:ln w="12700">
            <a:solidFill>
              <a:srgbClr val="333333"/>
            </a:solidFill>
            <a:prstDash val="solid"/>
          </a:ln>
        </p:spPr>
      </p:sp>
      <p:sp>
        <p:nvSpPr>
          <p:cNvPr id="37" name="Text 34"/>
          <p:cNvSpPr txBox="1"/>
          <p:nvPr/>
        </p:nvSpPr>
        <p:spPr>
          <a:xfrm>
            <a:off x="1014984" y="5047488"/>
            <a:ext cx="3657600" cy="237744"/>
          </a:xfrm>
          <a:prstGeom prst="rect">
            <a:avLst/>
          </a:prstGeom>
          <a:noFill/>
          <a:ln/>
        </p:spPr>
        <p:txBody>
          <a:bodyPr wrap="square" lIns="0" tIns="0" rIns="0" bIns="0" rtlCol="0" anchor="ctr"/>
          <a:lstStyle/>
          <a:p>
            <a:pPr indent="0" marL="0">
              <a:buNone/>
            </a:pPr>
            <a:r>
              <a:rPr lang="en-US" sz="950" b="1" spc="100" kern="0" dirty="0">
                <a:solidFill>
                  <a:srgbClr val="F5A524"/>
                </a:solidFill>
                <a:latin typeface="Calibri" pitchFamily="34" charset="0"/>
                <a:ea typeface="Calibri" pitchFamily="34" charset="-122"/>
                <a:cs typeface="Calibri" pitchFamily="34" charset="-120"/>
              </a:rPr>
              <a:t>CLOUD-SYNC DETECTION — COMING SOON</a:t>
            </a:r>
            <a:endParaRPr lang="en-US" sz="950" dirty="0"/>
          </a:p>
        </p:txBody>
      </p:sp>
      <p:sp>
        <p:nvSpPr>
          <p:cNvPr id="38" name="Text 35"/>
          <p:cNvSpPr txBox="1"/>
          <p:nvPr/>
        </p:nvSpPr>
        <p:spPr>
          <a:xfrm>
            <a:off x="1014984" y="5266944"/>
            <a:ext cx="5294376" cy="91440"/>
          </a:xfrm>
          <a:prstGeom prst="rect">
            <a:avLst/>
          </a:prstGeom>
          <a:noFill/>
          <a:ln/>
        </p:spPr>
        <p:txBody>
          <a:bodyPr wrap="square" lIns="0" tIns="0" rIns="0" bIns="0" rtlCol="0" anchor="ctr"/>
          <a:lstStyle/>
          <a:p>
            <a:pPr indent="0" marL="0">
              <a:lnSpc>
                <a:spcPts val="1200"/>
              </a:lnSpc>
              <a:buNone/>
            </a:pPr>
            <a:endParaRPr lang="en-US" sz="950" dirty="0"/>
          </a:p>
        </p:txBody>
      </p:sp>
      <p:sp>
        <p:nvSpPr>
          <p:cNvPr id="39" name="Shape 36"/>
          <p:cNvSpPr/>
          <p:nvPr/>
        </p:nvSpPr>
        <p:spPr>
          <a:xfrm>
            <a:off x="704088" y="5468112"/>
            <a:ext cx="5733288" cy="384048"/>
          </a:xfrm>
          <a:prstGeom prst="roundRect">
            <a:avLst>
              <a:gd name="adj" fmla="val 14286"/>
            </a:avLst>
          </a:prstGeom>
          <a:solidFill>
            <a:srgbClr val="0C1A30"/>
          </a:solidFill>
          <a:ln w="12700">
            <a:solidFill>
              <a:srgbClr val="2A4374"/>
            </a:solidFill>
            <a:prstDash val="solid"/>
          </a:ln>
        </p:spPr>
      </p:sp>
      <p:sp>
        <p:nvSpPr>
          <p:cNvPr id="40" name="Shape 37"/>
          <p:cNvSpPr/>
          <p:nvPr/>
        </p:nvSpPr>
        <p:spPr>
          <a:xfrm>
            <a:off x="832104" y="5577840"/>
            <a:ext cx="109728" cy="109728"/>
          </a:xfrm>
          <a:prstGeom prst="ellipse">
            <a:avLst/>
          </a:prstGeom>
          <a:solidFill>
            <a:srgbClr val="2DD4A7"/>
          </a:solidFill>
          <a:ln w="12700">
            <a:solidFill>
              <a:srgbClr val="333333"/>
            </a:solidFill>
            <a:prstDash val="solid"/>
          </a:ln>
        </p:spPr>
      </p:sp>
      <p:sp>
        <p:nvSpPr>
          <p:cNvPr id="41" name="Text 38"/>
          <p:cNvSpPr txBox="1"/>
          <p:nvPr/>
        </p:nvSpPr>
        <p:spPr>
          <a:xfrm>
            <a:off x="1014984" y="5504688"/>
            <a:ext cx="3657600" cy="237744"/>
          </a:xfrm>
          <a:prstGeom prst="rect">
            <a:avLst/>
          </a:prstGeom>
          <a:noFill/>
          <a:ln/>
        </p:spPr>
        <p:txBody>
          <a:bodyPr wrap="square" lIns="0" tIns="0" rIns="0" bIns="0" rtlCol="0" anchor="ctr"/>
          <a:lstStyle/>
          <a:p>
            <a:pPr indent="0" marL="0">
              <a:buNone/>
            </a:pPr>
            <a:r>
              <a:rPr lang="en-US" sz="950" b="1" spc="100" kern="0" dirty="0">
                <a:solidFill>
                  <a:srgbClr val="2DD4A7"/>
                </a:solidFill>
                <a:latin typeface="Calibri" pitchFamily="34" charset="0"/>
                <a:ea typeface="Calibri" pitchFamily="34" charset="-122"/>
                <a:cs typeface="Calibri" pitchFamily="34" charset="-120"/>
              </a:rPr>
              <a:t>RECOMMENDATION</a:t>
            </a:r>
            <a:endParaRPr lang="en-US" sz="950" dirty="0"/>
          </a:p>
        </p:txBody>
      </p:sp>
      <p:sp>
        <p:nvSpPr>
          <p:cNvPr id="42" name="Text 39"/>
          <p:cNvSpPr txBox="1"/>
          <p:nvPr/>
        </p:nvSpPr>
        <p:spPr>
          <a:xfrm>
            <a:off x="1014984" y="5724144"/>
            <a:ext cx="5294376" cy="91440"/>
          </a:xfrm>
          <a:prstGeom prst="rect">
            <a:avLst/>
          </a:prstGeom>
          <a:noFill/>
          <a:ln/>
        </p:spPr>
        <p:txBody>
          <a:bodyPr wrap="square" lIns="0" tIns="0" rIns="0" bIns="0" rtlCol="0" anchor="ctr"/>
          <a:lstStyle/>
          <a:p>
            <a:pPr indent="0" marL="0">
              <a:lnSpc>
                <a:spcPts val="1200"/>
              </a:lnSpc>
              <a:buNone/>
            </a:pPr>
            <a:endParaRPr lang="en-US" sz="950" dirty="0"/>
          </a:p>
        </p:txBody>
      </p:sp>
      <p:sp>
        <p:nvSpPr>
          <p:cNvPr id="43" name="Text 40"/>
          <p:cNvSpPr txBox="1"/>
          <p:nvPr/>
        </p:nvSpPr>
        <p:spPr>
          <a:xfrm>
            <a:off x="3355848" y="5486400"/>
            <a:ext cx="2926080" cy="237744"/>
          </a:xfrm>
          <a:prstGeom prst="rect">
            <a:avLst/>
          </a:prstGeom>
          <a:noFill/>
          <a:ln/>
        </p:spPr>
        <p:txBody>
          <a:bodyPr wrap="square" lIns="0" tIns="0" rIns="0" bIns="0" rtlCol="0" anchor="ctr"/>
          <a:lstStyle/>
          <a:p>
            <a:pPr indent="0" marL="0">
              <a:buNone/>
            </a:pPr>
            <a:r>
              <a:rPr lang="en-US" sz="950" dirty="0">
                <a:solidFill>
                  <a:srgbClr val="A9BCDB"/>
                </a:solidFill>
                <a:latin typeface="Calibri" pitchFamily="34" charset="0"/>
                <a:ea typeface="Calibri" pitchFamily="34" charset="-122"/>
                <a:cs typeface="Calibri" pitchFamily="34" charset="-120"/>
              </a:rPr>
              <a:t>Safe next action</a:t>
            </a:r>
            <a:endParaRPr lang="en-US" sz="950" dirty="0"/>
          </a:p>
        </p:txBody>
      </p:sp>
      <p:sp>
        <p:nvSpPr>
          <p:cNvPr id="44" name="Shape 41"/>
          <p:cNvSpPr/>
          <p:nvPr/>
        </p:nvSpPr>
        <p:spPr>
          <a:xfrm>
            <a:off x="7333488" y="1298448"/>
            <a:ext cx="4352544" cy="2103120"/>
          </a:xfrm>
          <a:prstGeom prst="roundRect">
            <a:avLst>
              <a:gd name="adj" fmla="val 3478"/>
            </a:avLst>
          </a:prstGeom>
          <a:solidFill>
            <a:srgbClr val="16294A"/>
          </a:solidFill>
          <a:ln w="12700">
            <a:solidFill>
              <a:srgbClr val="4F8EF7"/>
            </a:solidFill>
            <a:prstDash val="solid"/>
          </a:ln>
        </p:spPr>
      </p:sp>
      <p:sp>
        <p:nvSpPr>
          <p:cNvPr id="45" name="Text 42"/>
          <p:cNvSpPr txBox="1"/>
          <p:nvPr/>
        </p:nvSpPr>
        <p:spPr>
          <a:xfrm>
            <a:off x="7552944" y="1481328"/>
            <a:ext cx="3931920" cy="256032"/>
          </a:xfrm>
          <a:prstGeom prst="rect">
            <a:avLst/>
          </a:prstGeom>
          <a:noFill/>
          <a:ln/>
        </p:spPr>
        <p:txBody>
          <a:bodyPr wrap="square" lIns="0" tIns="0" rIns="0" bIns="0" rtlCol="0" anchor="ctr"/>
          <a:lstStyle/>
          <a:p>
            <a:pPr indent="0" marL="0">
              <a:buNone/>
            </a:pPr>
            <a:r>
              <a:rPr lang="en-US" sz="1100" b="1" spc="100" kern="0" dirty="0">
                <a:solidFill>
                  <a:srgbClr val="4F8EF7"/>
                </a:solidFill>
                <a:latin typeface="Calibri" pitchFamily="34" charset="0"/>
                <a:ea typeface="Calibri" pitchFamily="34" charset="-122"/>
                <a:cs typeface="Calibri" pitchFamily="34" charset="-120"/>
              </a:rPr>
              <a:t>GUI IS A PRESENTATION LAYER</a:t>
            </a:r>
            <a:endParaRPr lang="en-US" sz="1100" dirty="0"/>
          </a:p>
        </p:txBody>
      </p:sp>
      <p:sp>
        <p:nvSpPr>
          <p:cNvPr id="46" name="Text 43"/>
          <p:cNvSpPr txBox="1"/>
          <p:nvPr/>
        </p:nvSpPr>
        <p:spPr>
          <a:xfrm>
            <a:off x="7552944" y="1792224"/>
            <a:ext cx="3931920" cy="1481328"/>
          </a:xfrm>
          <a:prstGeom prst="rect">
            <a:avLst/>
          </a:prstGeom>
          <a:noFill/>
          <a:ln/>
        </p:spPr>
        <p:txBody>
          <a:bodyPr wrap="square" lIns="0" tIns="0" rIns="0" bIns="0" rtlCol="0" anchor="ctr"/>
          <a:lstStyle/>
          <a:p>
            <a:pPr indent="0" marL="0">
              <a:lnSpc>
                <a:spcPts val="1700"/>
              </a:lnSpc>
              <a:buNone/>
            </a:pPr>
            <a:r>
              <a:rPr lang="en-US" sz="1150" dirty="0">
                <a:solidFill>
                  <a:srgbClr val="FFFFFF"/>
                </a:solidFill>
                <a:latin typeface="Calibri" pitchFamily="34" charset="0"/>
                <a:ea typeface="Calibri" pitchFamily="34" charset="-122"/>
                <a:cs typeface="Calibri" pitchFamily="34" charset="-120"/>
              </a:rPr>
              <a:t>The GUI collects the file path and the requested operation, calls the existing Diagnosis Engine, and renders the structured result it receives.</a:t>
            </a:r>
            <a:endParaRPr lang="en-US" sz="1150" dirty="0"/>
          </a:p>
          <a:p>
            <a:pPr indent="0" marL="0">
              <a:lnSpc>
                <a:spcPts val="1700"/>
              </a:lnSpc>
              <a:buNone/>
            </a:pPr>
            <a:endParaRPr lang="en-US" sz="1150" dirty="0"/>
          </a:p>
          <a:p>
            <a:pPr indent="0" marL="0">
              <a:lnSpc>
                <a:spcPts val="1700"/>
              </a:lnSpc>
              <a:buNone/>
            </a:pPr>
            <a:r>
              <a:rPr lang="en-US" sz="1150" dirty="0">
                <a:solidFill>
                  <a:srgbClr val="FFFFFF"/>
                </a:solidFill>
                <a:latin typeface="Calibri" pitchFamily="34" charset="0"/>
                <a:ea typeface="Calibri" pitchFamily="34" charset="-122"/>
                <a:cs typeface="Calibri" pitchFamily="34" charset="-120"/>
              </a:rPr>
              <a:t>It does not reimplement or perform OS-level diagnosis itself.</a:t>
            </a:r>
            <a:endParaRPr lang="en-US" sz="1150" dirty="0"/>
          </a:p>
        </p:txBody>
      </p:sp>
      <p:sp>
        <p:nvSpPr>
          <p:cNvPr id="47" name="Shape 44"/>
          <p:cNvSpPr/>
          <p:nvPr/>
        </p:nvSpPr>
        <p:spPr>
          <a:xfrm>
            <a:off x="7333488" y="3584448"/>
            <a:ext cx="4352544" cy="2377440"/>
          </a:xfrm>
          <a:prstGeom prst="roundRect">
            <a:avLst>
              <a:gd name="adj" fmla="val 3077"/>
            </a:avLst>
          </a:prstGeom>
          <a:solidFill>
            <a:srgbClr val="0C1A30"/>
          </a:solidFill>
          <a:ln w="12700">
            <a:solidFill>
              <a:srgbClr val="2A4374"/>
            </a:solidFill>
            <a:prstDash val="solid"/>
          </a:ln>
        </p:spPr>
      </p:sp>
      <p:sp>
        <p:nvSpPr>
          <p:cNvPr id="48" name="Text 45"/>
          <p:cNvSpPr txBox="1"/>
          <p:nvPr/>
        </p:nvSpPr>
        <p:spPr>
          <a:xfrm>
            <a:off x="7552944" y="3749040"/>
            <a:ext cx="3931920" cy="256032"/>
          </a:xfrm>
          <a:prstGeom prst="rect">
            <a:avLst/>
          </a:prstGeom>
          <a:noFill/>
          <a:ln/>
        </p:spPr>
        <p:txBody>
          <a:bodyPr wrap="square" lIns="0" tIns="0" rIns="0" bIns="0" rtlCol="0" anchor="ctr"/>
          <a:lstStyle/>
          <a:p>
            <a:pPr indent="0" marL="0">
              <a:buNone/>
            </a:pPr>
            <a:r>
              <a:rPr lang="en-US" sz="1100" b="1" spc="100" kern="0" dirty="0">
                <a:solidFill>
                  <a:srgbClr val="A9BCDB"/>
                </a:solidFill>
                <a:latin typeface="Calibri" pitchFamily="34" charset="0"/>
                <a:ea typeface="Calibri" pitchFamily="34" charset="-122"/>
                <a:cs typeface="Calibri" pitchFamily="34" charset="-120"/>
              </a:rPr>
              <a:t>INTERFACE COMPONENTS</a:t>
            </a:r>
            <a:endParaRPr lang="en-US" sz="1100" dirty="0"/>
          </a:p>
        </p:txBody>
      </p:sp>
      <p:sp>
        <p:nvSpPr>
          <p:cNvPr id="49" name="Shape 46"/>
          <p:cNvSpPr/>
          <p:nvPr/>
        </p:nvSpPr>
        <p:spPr>
          <a:xfrm>
            <a:off x="7589520" y="4078224"/>
            <a:ext cx="100584" cy="100584"/>
          </a:xfrm>
          <a:prstGeom prst="ellipse">
            <a:avLst/>
          </a:prstGeom>
          <a:solidFill>
            <a:srgbClr val="2DD4A7"/>
          </a:solidFill>
          <a:ln w="12700">
            <a:solidFill>
              <a:srgbClr val="333333"/>
            </a:solidFill>
            <a:prstDash val="solid"/>
          </a:ln>
        </p:spPr>
      </p:sp>
      <p:sp>
        <p:nvSpPr>
          <p:cNvPr id="50" name="Text 47"/>
          <p:cNvSpPr txBox="1"/>
          <p:nvPr/>
        </p:nvSpPr>
        <p:spPr>
          <a:xfrm>
            <a:off x="7772400" y="4005072"/>
            <a:ext cx="1901952"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File input + Browse</a:t>
            </a:r>
            <a:endParaRPr lang="en-US" sz="1000" dirty="0"/>
          </a:p>
        </p:txBody>
      </p:sp>
      <p:sp>
        <p:nvSpPr>
          <p:cNvPr id="51" name="Shape 48"/>
          <p:cNvSpPr/>
          <p:nvPr/>
        </p:nvSpPr>
        <p:spPr>
          <a:xfrm>
            <a:off x="9674352" y="4078224"/>
            <a:ext cx="100584" cy="100584"/>
          </a:xfrm>
          <a:prstGeom prst="ellipse">
            <a:avLst/>
          </a:prstGeom>
          <a:solidFill>
            <a:srgbClr val="2DD4A7"/>
          </a:solidFill>
          <a:ln w="12700">
            <a:solidFill>
              <a:srgbClr val="333333"/>
            </a:solidFill>
            <a:prstDash val="solid"/>
          </a:ln>
        </p:spPr>
      </p:sp>
      <p:sp>
        <p:nvSpPr>
          <p:cNvPr id="52" name="Text 49"/>
          <p:cNvSpPr txBox="1"/>
          <p:nvPr/>
        </p:nvSpPr>
        <p:spPr>
          <a:xfrm>
            <a:off x="9857232" y="4005072"/>
            <a:ext cx="1901952"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Operation selection</a:t>
            </a:r>
            <a:endParaRPr lang="en-US" sz="1000" dirty="0"/>
          </a:p>
        </p:txBody>
      </p:sp>
      <p:sp>
        <p:nvSpPr>
          <p:cNvPr id="53" name="Shape 50"/>
          <p:cNvSpPr/>
          <p:nvPr/>
        </p:nvSpPr>
        <p:spPr>
          <a:xfrm>
            <a:off x="7589520" y="4407408"/>
            <a:ext cx="100584" cy="100584"/>
          </a:xfrm>
          <a:prstGeom prst="ellipse">
            <a:avLst/>
          </a:prstGeom>
          <a:solidFill>
            <a:srgbClr val="2DD4A7"/>
          </a:solidFill>
          <a:ln w="12700">
            <a:solidFill>
              <a:srgbClr val="333333"/>
            </a:solidFill>
            <a:prstDash val="solid"/>
          </a:ln>
        </p:spPr>
      </p:sp>
      <p:sp>
        <p:nvSpPr>
          <p:cNvPr id="54" name="Text 51"/>
          <p:cNvSpPr txBox="1"/>
          <p:nvPr/>
        </p:nvSpPr>
        <p:spPr>
          <a:xfrm>
            <a:off x="7772400" y="4334256"/>
            <a:ext cx="1901952"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Diagnose File button</a:t>
            </a:r>
            <a:endParaRPr lang="en-US" sz="1000" dirty="0"/>
          </a:p>
        </p:txBody>
      </p:sp>
      <p:sp>
        <p:nvSpPr>
          <p:cNvPr id="55" name="Shape 52"/>
          <p:cNvSpPr/>
          <p:nvPr/>
        </p:nvSpPr>
        <p:spPr>
          <a:xfrm>
            <a:off x="9674352" y="4407408"/>
            <a:ext cx="100584" cy="100584"/>
          </a:xfrm>
          <a:prstGeom prst="ellipse">
            <a:avLst/>
          </a:prstGeom>
          <a:solidFill>
            <a:srgbClr val="2DD4A7"/>
          </a:solidFill>
          <a:ln w="12700">
            <a:solidFill>
              <a:srgbClr val="333333"/>
            </a:solidFill>
            <a:prstDash val="solid"/>
          </a:ln>
        </p:spPr>
      </p:sp>
      <p:sp>
        <p:nvSpPr>
          <p:cNvPr id="56" name="Text 53"/>
          <p:cNvSpPr txBox="1"/>
          <p:nvPr/>
        </p:nvSpPr>
        <p:spPr>
          <a:xfrm>
            <a:off x="9857232" y="4334256"/>
            <a:ext cx="1901952"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Status panel</a:t>
            </a:r>
            <a:endParaRPr lang="en-US" sz="1000" dirty="0"/>
          </a:p>
        </p:txBody>
      </p:sp>
      <p:sp>
        <p:nvSpPr>
          <p:cNvPr id="57" name="Shape 54"/>
          <p:cNvSpPr/>
          <p:nvPr/>
        </p:nvSpPr>
        <p:spPr>
          <a:xfrm>
            <a:off x="7589520" y="4736592"/>
            <a:ext cx="100584" cy="100584"/>
          </a:xfrm>
          <a:prstGeom prst="ellipse">
            <a:avLst/>
          </a:prstGeom>
          <a:solidFill>
            <a:srgbClr val="2DD4A7"/>
          </a:solidFill>
          <a:ln w="12700">
            <a:solidFill>
              <a:srgbClr val="333333"/>
            </a:solidFill>
            <a:prstDash val="solid"/>
          </a:ln>
        </p:spPr>
      </p:sp>
      <p:sp>
        <p:nvSpPr>
          <p:cNvPr id="58" name="Text 55"/>
          <p:cNvSpPr txBox="1"/>
          <p:nvPr/>
        </p:nvSpPr>
        <p:spPr>
          <a:xfrm>
            <a:off x="7772400" y="4663440"/>
            <a:ext cx="1901952"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Process list</a:t>
            </a:r>
            <a:endParaRPr lang="en-US" sz="1000" dirty="0"/>
          </a:p>
        </p:txBody>
      </p:sp>
      <p:sp>
        <p:nvSpPr>
          <p:cNvPr id="59" name="Shape 56"/>
          <p:cNvSpPr/>
          <p:nvPr/>
        </p:nvSpPr>
        <p:spPr>
          <a:xfrm>
            <a:off x="9674352" y="4736592"/>
            <a:ext cx="100584" cy="100584"/>
          </a:xfrm>
          <a:prstGeom prst="ellipse">
            <a:avLst/>
          </a:prstGeom>
          <a:solidFill>
            <a:srgbClr val="2DD4A7"/>
          </a:solidFill>
          <a:ln w="12700">
            <a:solidFill>
              <a:srgbClr val="333333"/>
            </a:solidFill>
            <a:prstDash val="solid"/>
          </a:ln>
        </p:spPr>
      </p:sp>
      <p:sp>
        <p:nvSpPr>
          <p:cNvPr id="60" name="Text 57"/>
          <p:cNvSpPr txBox="1"/>
          <p:nvPr/>
        </p:nvSpPr>
        <p:spPr>
          <a:xfrm>
            <a:off x="9857232" y="4663440"/>
            <a:ext cx="1901952"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Permission panel</a:t>
            </a:r>
            <a:endParaRPr lang="en-US" sz="1000" dirty="0"/>
          </a:p>
        </p:txBody>
      </p:sp>
      <p:sp>
        <p:nvSpPr>
          <p:cNvPr id="61" name="Shape 58"/>
          <p:cNvSpPr/>
          <p:nvPr/>
        </p:nvSpPr>
        <p:spPr>
          <a:xfrm>
            <a:off x="7589520" y="5065776"/>
            <a:ext cx="100584" cy="100584"/>
          </a:xfrm>
          <a:prstGeom prst="ellipse">
            <a:avLst/>
          </a:prstGeom>
          <a:solidFill>
            <a:srgbClr val="2DD4A7"/>
          </a:solidFill>
          <a:ln w="12700">
            <a:solidFill>
              <a:srgbClr val="333333"/>
            </a:solidFill>
            <a:prstDash val="solid"/>
          </a:ln>
        </p:spPr>
      </p:sp>
      <p:sp>
        <p:nvSpPr>
          <p:cNvPr id="62" name="Text 59"/>
          <p:cNvSpPr txBox="1"/>
          <p:nvPr/>
        </p:nvSpPr>
        <p:spPr>
          <a:xfrm>
            <a:off x="7772400" y="4992624"/>
            <a:ext cx="1901952" cy="25603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Recommendation panel</a:t>
            </a:r>
            <a:endParaRPr lang="en-US" sz="1000" dirty="0"/>
          </a:p>
        </p:txBody>
      </p:sp>
      <p:sp>
        <p:nvSpPr>
          <p:cNvPr id="63" name="Shape 60"/>
          <p:cNvSpPr/>
          <p:nvPr/>
        </p:nvSpPr>
        <p:spPr>
          <a:xfrm>
            <a:off x="9674352" y="5065776"/>
            <a:ext cx="100584" cy="100584"/>
          </a:xfrm>
          <a:prstGeom prst="ellipse">
            <a:avLst/>
          </a:prstGeom>
          <a:solidFill>
            <a:srgbClr val="F5A524"/>
          </a:solidFill>
          <a:ln w="12700">
            <a:solidFill>
              <a:srgbClr val="333333"/>
            </a:solidFill>
            <a:prstDash val="solid"/>
          </a:ln>
        </p:spPr>
      </p:sp>
      <p:sp>
        <p:nvSpPr>
          <p:cNvPr id="64" name="Text 61"/>
          <p:cNvSpPr txBox="1"/>
          <p:nvPr/>
        </p:nvSpPr>
        <p:spPr>
          <a:xfrm>
            <a:off x="9857232" y="4992624"/>
            <a:ext cx="1901952" cy="256032"/>
          </a:xfrm>
          <a:prstGeom prst="rect">
            <a:avLst/>
          </a:prstGeom>
          <a:noFill/>
          <a:ln/>
        </p:spPr>
        <p:txBody>
          <a:bodyPr wrap="square" lIns="0" tIns="0" rIns="0" bIns="0" rtlCol="0" anchor="ctr"/>
          <a:lstStyle/>
          <a:p>
            <a:pPr indent="0" marL="0">
              <a:buNone/>
            </a:pPr>
            <a:r>
              <a:rPr lang="en-US" sz="1000" dirty="0">
                <a:solidFill>
                  <a:srgbClr val="F5A524"/>
                </a:solidFill>
                <a:latin typeface="Calibri" pitchFamily="34" charset="0"/>
                <a:ea typeface="Calibri" pitchFamily="34" charset="-122"/>
                <a:cs typeface="Calibri" pitchFamily="34" charset="-120"/>
              </a:rPr>
              <a:t>File attribute section</a:t>
            </a:r>
            <a:endParaRPr lang="en-US" sz="1000" dirty="0"/>
          </a:p>
        </p:txBody>
      </p:sp>
      <p:sp>
        <p:nvSpPr>
          <p:cNvPr id="65" name="Shape 62"/>
          <p:cNvSpPr/>
          <p:nvPr/>
        </p:nvSpPr>
        <p:spPr>
          <a:xfrm>
            <a:off x="7589520" y="5394960"/>
            <a:ext cx="100584" cy="100584"/>
          </a:xfrm>
          <a:prstGeom prst="ellipse">
            <a:avLst/>
          </a:prstGeom>
          <a:solidFill>
            <a:srgbClr val="F5A524"/>
          </a:solidFill>
          <a:ln w="12700">
            <a:solidFill>
              <a:srgbClr val="333333"/>
            </a:solidFill>
            <a:prstDash val="solid"/>
          </a:ln>
        </p:spPr>
      </p:sp>
      <p:sp>
        <p:nvSpPr>
          <p:cNvPr id="66" name="Text 63"/>
          <p:cNvSpPr txBox="1"/>
          <p:nvPr/>
        </p:nvSpPr>
        <p:spPr>
          <a:xfrm>
            <a:off x="7772400" y="5321808"/>
            <a:ext cx="1901952" cy="256032"/>
          </a:xfrm>
          <a:prstGeom prst="rect">
            <a:avLst/>
          </a:prstGeom>
          <a:noFill/>
          <a:ln/>
        </p:spPr>
        <p:txBody>
          <a:bodyPr wrap="square" lIns="0" tIns="0" rIns="0" bIns="0" rtlCol="0" anchor="ctr"/>
          <a:lstStyle/>
          <a:p>
            <a:pPr indent="0" marL="0">
              <a:buNone/>
            </a:pPr>
            <a:r>
              <a:rPr lang="en-US" sz="1000" dirty="0">
                <a:solidFill>
                  <a:srgbClr val="F5A524"/>
                </a:solidFill>
                <a:latin typeface="Calibri" pitchFamily="34" charset="0"/>
                <a:ea typeface="Calibri" pitchFamily="34" charset="-122"/>
                <a:cs typeface="Calibri" pitchFamily="34" charset="-120"/>
              </a:rPr>
              <a:t>Cloud-sync section</a:t>
            </a:r>
            <a:endParaRPr lang="en-US" sz="1000" dirty="0"/>
          </a:p>
        </p:txBody>
      </p:sp>
      <p:sp>
        <p:nvSpPr>
          <p:cNvPr id="67" name="Text 64"/>
          <p:cNvSpPr txBox="1"/>
          <p:nvPr/>
        </p:nvSpPr>
        <p:spPr>
          <a:xfrm>
            <a:off x="7552944" y="5632704"/>
            <a:ext cx="3931920" cy="256032"/>
          </a:xfrm>
          <a:prstGeom prst="rect">
            <a:avLst/>
          </a:prstGeom>
          <a:noFill/>
          <a:ln/>
        </p:spPr>
        <p:txBody>
          <a:bodyPr wrap="square" lIns="0" tIns="0" rIns="0" bIns="0" rtlCol="0" anchor="ctr"/>
          <a:lstStyle/>
          <a:p>
            <a:pPr indent="0" marL="0">
              <a:buNone/>
            </a:pPr>
            <a:r>
              <a:rPr lang="en-US" sz="900" i="1" dirty="0">
                <a:solidFill>
                  <a:srgbClr val="6E86AE"/>
                </a:solidFill>
                <a:latin typeface="Calibri" pitchFamily="34" charset="0"/>
                <a:ea typeface="Calibri" pitchFamily="34" charset="-122"/>
                <a:cs typeface="Calibri" pitchFamily="34" charset="-120"/>
              </a:rPr>
              <a:t>Coming Soon sections appear in the layout, never populated.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1A30"/>
        </a:solidFill>
      </p:bgPr>
    </p:bg>
    <p:spTree>
      <p:nvGrpSpPr>
        <p:cNvPr id="1" name=""/>
        <p:cNvGrpSpPr/>
        <p:nvPr/>
      </p:nvGrpSpPr>
      <p:grpSpPr>
        <a:xfrm>
          <a:off x="0" y="0"/>
          <a:ext cx="0" cy="0"/>
          <a:chOff x="0" y="0"/>
          <a:chExt cx="0" cy="0"/>
        </a:xfrm>
      </p:grpSpPr>
      <p:sp>
        <p:nvSpPr>
          <p:cNvPr id="3" name="Text 0"/>
          <p:cNvSpPr txBox="1"/>
          <p:nvPr/>
        </p:nvSpPr>
        <p:spPr>
          <a:xfrm>
            <a:off x="502920" y="292608"/>
            <a:ext cx="10058400" cy="237744"/>
          </a:xfrm>
          <a:prstGeom prst="rect">
            <a:avLst/>
          </a:prstGeom>
          <a:noFill/>
          <a:ln/>
        </p:spPr>
        <p:txBody>
          <a:bodyPr wrap="square" lIns="0" tIns="0" rIns="0" bIns="0" rtlCol="0" anchor="ctr"/>
          <a:lstStyle/>
          <a:p>
            <a:pPr indent="0" marL="0">
              <a:buNone/>
            </a:pPr>
            <a:r>
              <a:rPr lang="en-US" sz="1100" b="1" spc="200" kern="0" dirty="0">
                <a:solidFill>
                  <a:srgbClr val="4F8EF7"/>
                </a:solidFill>
                <a:latin typeface="Calibri" pitchFamily="34" charset="0"/>
                <a:ea typeface="Calibri" pitchFamily="34" charset="-122"/>
                <a:cs typeface="Calibri" pitchFamily="34" charset="-120"/>
              </a:rPr>
              <a:t>SLIDE 9</a:t>
            </a:r>
            <a:endParaRPr lang="en-US" sz="1100" dirty="0"/>
          </a:p>
        </p:txBody>
      </p:sp>
      <p:sp>
        <p:nvSpPr>
          <p:cNvPr id="4"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Current Implementation — Coding Status</a:t>
            </a:r>
            <a:endParaRPr lang="en-US" sz="3000" dirty="0"/>
          </a:p>
        </p:txBody>
      </p:sp>
      <p:sp>
        <p:nvSpPr>
          <p:cNvPr id="5" name="Shape 2"/>
          <p:cNvSpPr/>
          <p:nvPr/>
        </p:nvSpPr>
        <p:spPr>
          <a:xfrm>
            <a:off x="502920" y="1298448"/>
            <a:ext cx="6903720" cy="4663440"/>
          </a:xfrm>
          <a:prstGeom prst="roundRect">
            <a:avLst>
              <a:gd name="adj" fmla="val 1569"/>
            </a:avLst>
          </a:prstGeom>
          <a:solidFill>
            <a:srgbClr val="16294A"/>
          </a:solidFill>
          <a:ln w="12700">
            <a:solidFill>
              <a:srgbClr val="2DD4A7"/>
            </a:solidFill>
            <a:prstDash val="solid"/>
          </a:ln>
          <a:effectLst>
            <a:outerShdw sx="100000" sy="100000" kx="0" ky="0" algn="bl" rotWithShape="0" blurRad="101600" dist="25400" dir="5400000">
              <a:srgbClr val="000000">
                <a:alpha val="35000"/>
              </a:srgbClr>
            </a:outerShdw>
          </a:effectLst>
        </p:spPr>
      </p:sp>
      <p:sp>
        <p:nvSpPr>
          <p:cNvPr id="6" name="Shape 3"/>
          <p:cNvSpPr/>
          <p:nvPr/>
        </p:nvSpPr>
        <p:spPr>
          <a:xfrm>
            <a:off x="758952" y="1517904"/>
            <a:ext cx="146304" cy="146304"/>
          </a:xfrm>
          <a:prstGeom prst="ellipse">
            <a:avLst/>
          </a:prstGeom>
          <a:solidFill>
            <a:srgbClr val="2DD4A7"/>
          </a:solidFill>
          <a:ln w="12700">
            <a:solidFill>
              <a:srgbClr val="333333"/>
            </a:solidFill>
            <a:prstDash val="solid"/>
          </a:ln>
        </p:spPr>
      </p:sp>
      <p:sp>
        <p:nvSpPr>
          <p:cNvPr id="7" name="Text 4"/>
          <p:cNvSpPr txBox="1"/>
          <p:nvPr/>
        </p:nvSpPr>
        <p:spPr>
          <a:xfrm>
            <a:off x="996696" y="1435608"/>
            <a:ext cx="2743200" cy="274320"/>
          </a:xfrm>
          <a:prstGeom prst="rect">
            <a:avLst/>
          </a:prstGeom>
          <a:noFill/>
          <a:ln/>
        </p:spPr>
        <p:txBody>
          <a:bodyPr wrap="square" lIns="0" tIns="0" rIns="0" bIns="0" rtlCol="0" anchor="ctr"/>
          <a:lstStyle/>
          <a:p>
            <a:pPr indent="0" marL="0">
              <a:buNone/>
            </a:pPr>
            <a:r>
              <a:rPr lang="en-US" sz="1250" b="1" spc="100" kern="0" dirty="0">
                <a:solidFill>
                  <a:srgbClr val="2DD4A7"/>
                </a:solidFill>
                <a:latin typeface="Calibri" pitchFamily="34" charset="0"/>
                <a:ea typeface="Calibri" pitchFamily="34" charset="-122"/>
                <a:cs typeface="Calibri" pitchFamily="34" charset="-120"/>
              </a:rPr>
              <a:t>IMPLEMENTED</a:t>
            </a:r>
            <a:endParaRPr lang="en-US" sz="1250" dirty="0"/>
          </a:p>
        </p:txBody>
      </p:sp>
      <p:sp>
        <p:nvSpPr>
          <p:cNvPr id="8" name="Text 5"/>
          <p:cNvSpPr txBox="1"/>
          <p:nvPr/>
        </p:nvSpPr>
        <p:spPr>
          <a:xfrm>
            <a:off x="5623560" y="1444752"/>
            <a:ext cx="1554480" cy="274320"/>
          </a:xfrm>
          <a:prstGeom prst="rect">
            <a:avLst/>
          </a:prstGeom>
          <a:noFill/>
          <a:ln/>
        </p:spPr>
        <p:txBody>
          <a:bodyPr wrap="square" lIns="0" tIns="0" rIns="0" bIns="0" rtlCol="0" anchor="ctr"/>
          <a:lstStyle/>
          <a:p>
            <a:pPr algn="r" indent="0" marL="0">
              <a:buNone/>
            </a:pPr>
            <a:r>
              <a:rPr lang="en-US" sz="1100" dirty="0">
                <a:solidFill>
                  <a:srgbClr val="6E86AE"/>
                </a:solidFill>
                <a:latin typeface="Calibri" pitchFamily="34" charset="0"/>
                <a:ea typeface="Calibri" pitchFamily="34" charset="-122"/>
                <a:cs typeface="Calibri" pitchFamily="34" charset="-120"/>
              </a:rPr>
              <a:t>5 components</a:t>
            </a:r>
            <a:endParaRPr lang="en-US" sz="1100" dirty="0"/>
          </a:p>
        </p:txBody>
      </p:sp>
      <p:sp>
        <p:nvSpPr>
          <p:cNvPr id="9" name="Shape 6"/>
          <p:cNvSpPr/>
          <p:nvPr/>
        </p:nvSpPr>
        <p:spPr>
          <a:xfrm>
            <a:off x="758952" y="1883664"/>
            <a:ext cx="6391656" cy="658368"/>
          </a:xfrm>
          <a:prstGeom prst="roundRect">
            <a:avLst>
              <a:gd name="adj" fmla="val 8333"/>
            </a:avLst>
          </a:prstGeom>
          <a:solidFill>
            <a:srgbClr val="0C1A30"/>
          </a:solidFill>
          <a:ln w="12700">
            <a:solidFill>
              <a:srgbClr val="2A4374"/>
            </a:solidFill>
            <a:prstDash val="solid"/>
          </a:ln>
        </p:spPr>
      </p:sp>
      <p:sp>
        <p:nvSpPr>
          <p:cNvPr id="10" name="Shape 7"/>
          <p:cNvSpPr/>
          <p:nvPr/>
        </p:nvSpPr>
        <p:spPr>
          <a:xfrm>
            <a:off x="923544" y="2103120"/>
            <a:ext cx="219456" cy="219456"/>
          </a:xfrm>
          <a:prstGeom prst="ellipse">
            <a:avLst/>
          </a:prstGeom>
          <a:solidFill>
            <a:srgbClr val="2DD4A7"/>
          </a:solidFill>
          <a:ln w="12700">
            <a:solidFill>
              <a:srgbClr val="333333"/>
            </a:solidFill>
            <a:prstDash val="solid"/>
          </a:ln>
        </p:spPr>
      </p:sp>
      <p:sp>
        <p:nvSpPr>
          <p:cNvPr id="11" name="Text 8"/>
          <p:cNvSpPr txBox="1"/>
          <p:nvPr/>
        </p:nvSpPr>
        <p:spPr>
          <a:xfrm>
            <a:off x="923544" y="2103120"/>
            <a:ext cx="219456" cy="219456"/>
          </a:xfrm>
          <a:prstGeom prst="rect">
            <a:avLst/>
          </a:prstGeom>
          <a:noFill/>
          <a:ln/>
        </p:spPr>
        <p:txBody>
          <a:bodyPr wrap="square" lIns="0" tIns="0" rIns="0" bIns="0" rtlCol="0" anchor="ctr"/>
          <a:lstStyle/>
          <a:p>
            <a:pPr algn="ctr" indent="0" marL="0">
              <a:buNone/>
            </a:pPr>
            <a:r>
              <a:rPr lang="en-US" sz="1000" b="1" dirty="0">
                <a:solidFill>
                  <a:srgbClr val="0C1A30"/>
                </a:solidFill>
                <a:latin typeface="Calibri" pitchFamily="34" charset="0"/>
                <a:ea typeface="Calibri" pitchFamily="34" charset="-122"/>
                <a:cs typeface="Calibri" pitchFamily="34" charset="-120"/>
              </a:rPr>
              <a:t>✓</a:t>
            </a:r>
            <a:endParaRPr lang="en-US" sz="1000" dirty="0"/>
          </a:p>
        </p:txBody>
      </p:sp>
      <p:sp>
        <p:nvSpPr>
          <p:cNvPr id="12" name="Text 9"/>
          <p:cNvSpPr txBox="1"/>
          <p:nvPr/>
        </p:nvSpPr>
        <p:spPr>
          <a:xfrm>
            <a:off x="1271016" y="1956816"/>
            <a:ext cx="566928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Process / Lock Analyzer</a:t>
            </a:r>
            <a:endParaRPr lang="en-US" sz="1250" dirty="0"/>
          </a:p>
        </p:txBody>
      </p:sp>
      <p:sp>
        <p:nvSpPr>
          <p:cNvPr id="13" name="Text 10"/>
          <p:cNvSpPr txBox="1"/>
          <p:nvPr/>
        </p:nvSpPr>
        <p:spPr>
          <a:xfrm>
            <a:off x="1271016" y="2212848"/>
            <a:ext cx="5669280" cy="274320"/>
          </a:xfrm>
          <a:prstGeom prst="rect">
            <a:avLst/>
          </a:prstGeom>
          <a:noFill/>
          <a:ln/>
        </p:spPr>
        <p:txBody>
          <a:bodyPr wrap="square" lIns="0" tIns="0" rIns="0" bIns="0" rtlCol="0" anchor="ctr"/>
          <a:lstStyle/>
          <a:p>
            <a:pPr indent="0" marL="0">
              <a:buNone/>
            </a:pPr>
            <a:r>
              <a:rPr lang="en-US" sz="950" dirty="0">
                <a:solidFill>
                  <a:srgbClr val="A9BCDB"/>
                </a:solidFill>
                <a:latin typeface="Calibri" pitchFamily="34" charset="0"/>
                <a:ea typeface="Calibri" pitchFamily="34" charset="-122"/>
                <a:cs typeface="Calibri" pitchFamily="34" charset="-120"/>
              </a:rPr>
              <a:t>Windows Restart Manager API via ctypes (Rstrtmgr.dll); psutil enrichment</a:t>
            </a:r>
            <a:endParaRPr lang="en-US" sz="950" dirty="0"/>
          </a:p>
        </p:txBody>
      </p:sp>
      <p:sp>
        <p:nvSpPr>
          <p:cNvPr id="14" name="Shape 11"/>
          <p:cNvSpPr/>
          <p:nvPr/>
        </p:nvSpPr>
        <p:spPr>
          <a:xfrm>
            <a:off x="758952" y="2670048"/>
            <a:ext cx="6391656" cy="658368"/>
          </a:xfrm>
          <a:prstGeom prst="roundRect">
            <a:avLst>
              <a:gd name="adj" fmla="val 8333"/>
            </a:avLst>
          </a:prstGeom>
          <a:solidFill>
            <a:srgbClr val="0C1A30"/>
          </a:solidFill>
          <a:ln w="12700">
            <a:solidFill>
              <a:srgbClr val="2A4374"/>
            </a:solidFill>
            <a:prstDash val="solid"/>
          </a:ln>
        </p:spPr>
      </p:sp>
      <p:sp>
        <p:nvSpPr>
          <p:cNvPr id="15" name="Shape 12"/>
          <p:cNvSpPr/>
          <p:nvPr/>
        </p:nvSpPr>
        <p:spPr>
          <a:xfrm>
            <a:off x="923544" y="2889504"/>
            <a:ext cx="219456" cy="219456"/>
          </a:xfrm>
          <a:prstGeom prst="ellipse">
            <a:avLst/>
          </a:prstGeom>
          <a:solidFill>
            <a:srgbClr val="2DD4A7"/>
          </a:solidFill>
          <a:ln w="12700">
            <a:solidFill>
              <a:srgbClr val="333333"/>
            </a:solidFill>
            <a:prstDash val="solid"/>
          </a:ln>
        </p:spPr>
      </p:sp>
      <p:sp>
        <p:nvSpPr>
          <p:cNvPr id="16" name="Text 13"/>
          <p:cNvSpPr txBox="1"/>
          <p:nvPr/>
        </p:nvSpPr>
        <p:spPr>
          <a:xfrm>
            <a:off x="923544" y="2889504"/>
            <a:ext cx="219456" cy="219456"/>
          </a:xfrm>
          <a:prstGeom prst="rect">
            <a:avLst/>
          </a:prstGeom>
          <a:noFill/>
          <a:ln/>
        </p:spPr>
        <p:txBody>
          <a:bodyPr wrap="square" lIns="0" tIns="0" rIns="0" bIns="0" rtlCol="0" anchor="ctr"/>
          <a:lstStyle/>
          <a:p>
            <a:pPr algn="ctr" indent="0" marL="0">
              <a:buNone/>
            </a:pPr>
            <a:r>
              <a:rPr lang="en-US" sz="1000" b="1" dirty="0">
                <a:solidFill>
                  <a:srgbClr val="0C1A30"/>
                </a:solidFill>
                <a:latin typeface="Calibri" pitchFamily="34" charset="0"/>
                <a:ea typeface="Calibri" pitchFamily="34" charset="-122"/>
                <a:cs typeface="Calibri" pitchFamily="34" charset="-120"/>
              </a:rPr>
              <a:t>✓</a:t>
            </a:r>
            <a:endParaRPr lang="en-US" sz="1000" dirty="0"/>
          </a:p>
        </p:txBody>
      </p:sp>
      <p:sp>
        <p:nvSpPr>
          <p:cNvPr id="17" name="Text 14"/>
          <p:cNvSpPr txBox="1"/>
          <p:nvPr/>
        </p:nvSpPr>
        <p:spPr>
          <a:xfrm>
            <a:off x="1271016" y="2743200"/>
            <a:ext cx="566928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Permission / Ownership Analyzer</a:t>
            </a:r>
            <a:endParaRPr lang="en-US" sz="1250" dirty="0"/>
          </a:p>
        </p:txBody>
      </p:sp>
      <p:sp>
        <p:nvSpPr>
          <p:cNvPr id="18" name="Text 15"/>
          <p:cNvSpPr txBox="1"/>
          <p:nvPr/>
        </p:nvSpPr>
        <p:spPr>
          <a:xfrm>
            <a:off x="1271016" y="2999232"/>
            <a:ext cx="5669280" cy="274320"/>
          </a:xfrm>
          <a:prstGeom prst="rect">
            <a:avLst/>
          </a:prstGeom>
          <a:noFill/>
          <a:ln/>
        </p:spPr>
        <p:txBody>
          <a:bodyPr wrap="square" lIns="0" tIns="0" rIns="0" bIns="0" rtlCol="0" anchor="ctr"/>
          <a:lstStyle/>
          <a:p>
            <a:pPr indent="0" marL="0">
              <a:buNone/>
            </a:pPr>
            <a:r>
              <a:rPr lang="en-US" sz="950" dirty="0">
                <a:solidFill>
                  <a:srgbClr val="A9BCDB"/>
                </a:solidFill>
                <a:latin typeface="Calibri" pitchFamily="34" charset="0"/>
                <a:ea typeface="Calibri" pitchFamily="34" charset="-122"/>
                <a:cs typeface="Calibri" pitchFamily="34" charset="-120"/>
              </a:rPr>
              <a:t>os.access() and Windows security APIs via ctypes (advapi32.dll)</a:t>
            </a:r>
            <a:endParaRPr lang="en-US" sz="950" dirty="0"/>
          </a:p>
        </p:txBody>
      </p:sp>
      <p:sp>
        <p:nvSpPr>
          <p:cNvPr id="19" name="Shape 16"/>
          <p:cNvSpPr/>
          <p:nvPr/>
        </p:nvSpPr>
        <p:spPr>
          <a:xfrm>
            <a:off x="758952" y="3456432"/>
            <a:ext cx="6391656" cy="658368"/>
          </a:xfrm>
          <a:prstGeom prst="roundRect">
            <a:avLst>
              <a:gd name="adj" fmla="val 8333"/>
            </a:avLst>
          </a:prstGeom>
          <a:solidFill>
            <a:srgbClr val="0C1A30"/>
          </a:solidFill>
          <a:ln w="12700">
            <a:solidFill>
              <a:srgbClr val="2A4374"/>
            </a:solidFill>
            <a:prstDash val="solid"/>
          </a:ln>
        </p:spPr>
      </p:sp>
      <p:sp>
        <p:nvSpPr>
          <p:cNvPr id="20" name="Shape 17"/>
          <p:cNvSpPr/>
          <p:nvPr/>
        </p:nvSpPr>
        <p:spPr>
          <a:xfrm>
            <a:off x="923544" y="3675888"/>
            <a:ext cx="219456" cy="219456"/>
          </a:xfrm>
          <a:prstGeom prst="ellipse">
            <a:avLst/>
          </a:prstGeom>
          <a:solidFill>
            <a:srgbClr val="2DD4A7"/>
          </a:solidFill>
          <a:ln w="12700">
            <a:solidFill>
              <a:srgbClr val="333333"/>
            </a:solidFill>
            <a:prstDash val="solid"/>
          </a:ln>
        </p:spPr>
      </p:sp>
      <p:sp>
        <p:nvSpPr>
          <p:cNvPr id="21" name="Text 18"/>
          <p:cNvSpPr txBox="1"/>
          <p:nvPr/>
        </p:nvSpPr>
        <p:spPr>
          <a:xfrm>
            <a:off x="923544" y="3675888"/>
            <a:ext cx="219456" cy="219456"/>
          </a:xfrm>
          <a:prstGeom prst="rect">
            <a:avLst/>
          </a:prstGeom>
          <a:noFill/>
          <a:ln/>
        </p:spPr>
        <p:txBody>
          <a:bodyPr wrap="square" lIns="0" tIns="0" rIns="0" bIns="0" rtlCol="0" anchor="ctr"/>
          <a:lstStyle/>
          <a:p>
            <a:pPr algn="ctr" indent="0" marL="0">
              <a:buNone/>
            </a:pPr>
            <a:r>
              <a:rPr lang="en-US" sz="1000" b="1" dirty="0">
                <a:solidFill>
                  <a:srgbClr val="0C1A30"/>
                </a:solidFill>
                <a:latin typeface="Calibri" pitchFamily="34" charset="0"/>
                <a:ea typeface="Calibri" pitchFamily="34" charset="-122"/>
                <a:cs typeface="Calibri" pitchFamily="34" charset="-120"/>
              </a:rPr>
              <a:t>✓</a:t>
            </a:r>
            <a:endParaRPr lang="en-US" sz="1000" dirty="0"/>
          </a:p>
        </p:txBody>
      </p:sp>
      <p:sp>
        <p:nvSpPr>
          <p:cNvPr id="22" name="Text 19"/>
          <p:cNvSpPr txBox="1"/>
          <p:nvPr/>
        </p:nvSpPr>
        <p:spPr>
          <a:xfrm>
            <a:off x="1271016" y="3529584"/>
            <a:ext cx="566928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Diagnosis Engine</a:t>
            </a:r>
            <a:endParaRPr lang="en-US" sz="1250" dirty="0"/>
          </a:p>
        </p:txBody>
      </p:sp>
      <p:sp>
        <p:nvSpPr>
          <p:cNvPr id="23" name="Text 20"/>
          <p:cNvSpPr txBox="1"/>
          <p:nvPr/>
        </p:nvSpPr>
        <p:spPr>
          <a:xfrm>
            <a:off x="1271016" y="3785616"/>
            <a:ext cx="5669280" cy="274320"/>
          </a:xfrm>
          <a:prstGeom prst="rect">
            <a:avLst/>
          </a:prstGeom>
          <a:noFill/>
          <a:ln/>
        </p:spPr>
        <p:txBody>
          <a:bodyPr wrap="square" lIns="0" tIns="0" rIns="0" bIns="0" rtlCol="0" anchor="ctr"/>
          <a:lstStyle/>
          <a:p>
            <a:pPr indent="0" marL="0">
              <a:buNone/>
            </a:pPr>
            <a:r>
              <a:rPr lang="en-US" sz="950" dirty="0">
                <a:solidFill>
                  <a:srgbClr val="A9BCDB"/>
                </a:solidFill>
                <a:latin typeface="Calibri" pitchFamily="34" charset="0"/>
                <a:ea typeface="Calibri" pitchFamily="34" charset="-122"/>
                <a:cs typeface="Calibri" pitchFamily="34" charset="-120"/>
              </a:rPr>
              <a:t>Validation, analyzer coordination, deterministic decision flow</a:t>
            </a:r>
            <a:endParaRPr lang="en-US" sz="950" dirty="0"/>
          </a:p>
        </p:txBody>
      </p:sp>
      <p:sp>
        <p:nvSpPr>
          <p:cNvPr id="24" name="Shape 21"/>
          <p:cNvSpPr/>
          <p:nvPr/>
        </p:nvSpPr>
        <p:spPr>
          <a:xfrm>
            <a:off x="758952" y="4242816"/>
            <a:ext cx="6391656" cy="658368"/>
          </a:xfrm>
          <a:prstGeom prst="roundRect">
            <a:avLst>
              <a:gd name="adj" fmla="val 8333"/>
            </a:avLst>
          </a:prstGeom>
          <a:solidFill>
            <a:srgbClr val="0C1A30"/>
          </a:solidFill>
          <a:ln w="12700">
            <a:solidFill>
              <a:srgbClr val="2A4374"/>
            </a:solidFill>
            <a:prstDash val="solid"/>
          </a:ln>
        </p:spPr>
      </p:sp>
      <p:sp>
        <p:nvSpPr>
          <p:cNvPr id="25" name="Shape 22"/>
          <p:cNvSpPr/>
          <p:nvPr/>
        </p:nvSpPr>
        <p:spPr>
          <a:xfrm>
            <a:off x="923544" y="4462272"/>
            <a:ext cx="219456" cy="219456"/>
          </a:xfrm>
          <a:prstGeom prst="ellipse">
            <a:avLst/>
          </a:prstGeom>
          <a:solidFill>
            <a:srgbClr val="2DD4A7"/>
          </a:solidFill>
          <a:ln w="12700">
            <a:solidFill>
              <a:srgbClr val="333333"/>
            </a:solidFill>
            <a:prstDash val="solid"/>
          </a:ln>
        </p:spPr>
      </p:sp>
      <p:sp>
        <p:nvSpPr>
          <p:cNvPr id="26" name="Text 23"/>
          <p:cNvSpPr txBox="1"/>
          <p:nvPr/>
        </p:nvSpPr>
        <p:spPr>
          <a:xfrm>
            <a:off x="923544" y="4462272"/>
            <a:ext cx="219456" cy="219456"/>
          </a:xfrm>
          <a:prstGeom prst="rect">
            <a:avLst/>
          </a:prstGeom>
          <a:noFill/>
          <a:ln/>
        </p:spPr>
        <p:txBody>
          <a:bodyPr wrap="square" lIns="0" tIns="0" rIns="0" bIns="0" rtlCol="0" anchor="ctr"/>
          <a:lstStyle/>
          <a:p>
            <a:pPr algn="ctr" indent="0" marL="0">
              <a:buNone/>
            </a:pPr>
            <a:r>
              <a:rPr lang="en-US" sz="1000" b="1" dirty="0">
                <a:solidFill>
                  <a:srgbClr val="0C1A30"/>
                </a:solidFill>
                <a:latin typeface="Calibri" pitchFamily="34" charset="0"/>
                <a:ea typeface="Calibri" pitchFamily="34" charset="-122"/>
                <a:cs typeface="Calibri" pitchFamily="34" charset="-120"/>
              </a:rPr>
              <a:t>✓</a:t>
            </a:r>
            <a:endParaRPr lang="en-US" sz="1000" dirty="0"/>
          </a:p>
        </p:txBody>
      </p:sp>
      <p:sp>
        <p:nvSpPr>
          <p:cNvPr id="27" name="Text 24"/>
          <p:cNvSpPr txBox="1"/>
          <p:nvPr/>
        </p:nvSpPr>
        <p:spPr>
          <a:xfrm>
            <a:off x="1271016" y="4315968"/>
            <a:ext cx="566928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Suggested-action / recommendation output</a:t>
            </a:r>
            <a:endParaRPr lang="en-US" sz="1250" dirty="0"/>
          </a:p>
        </p:txBody>
      </p:sp>
      <p:sp>
        <p:nvSpPr>
          <p:cNvPr id="28" name="Text 25"/>
          <p:cNvSpPr txBox="1"/>
          <p:nvPr/>
        </p:nvSpPr>
        <p:spPr>
          <a:xfrm>
            <a:off x="1271016" y="4572000"/>
            <a:ext cx="5669280" cy="274320"/>
          </a:xfrm>
          <a:prstGeom prst="rect">
            <a:avLst/>
          </a:prstGeom>
          <a:noFill/>
          <a:ln/>
        </p:spPr>
        <p:txBody>
          <a:bodyPr wrap="square" lIns="0" tIns="0" rIns="0" bIns="0" rtlCol="0" anchor="ctr"/>
          <a:lstStyle/>
          <a:p>
            <a:pPr indent="0" marL="0">
              <a:buNone/>
            </a:pPr>
            <a:r>
              <a:rPr lang="en-US" sz="950" dirty="0">
                <a:solidFill>
                  <a:srgbClr val="A9BCDB"/>
                </a:solidFill>
                <a:latin typeface="Calibri" pitchFamily="34" charset="0"/>
                <a:ea typeface="Calibri" pitchFamily="34" charset="-122"/>
                <a:cs typeface="Calibri" pitchFamily="34" charset="-120"/>
              </a:rPr>
              <a:t>Safe next action returned as part of the diagnosis result</a:t>
            </a:r>
            <a:endParaRPr lang="en-US" sz="950" dirty="0"/>
          </a:p>
        </p:txBody>
      </p:sp>
      <p:sp>
        <p:nvSpPr>
          <p:cNvPr id="29" name="Shape 26"/>
          <p:cNvSpPr/>
          <p:nvPr/>
        </p:nvSpPr>
        <p:spPr>
          <a:xfrm>
            <a:off x="758952" y="5029200"/>
            <a:ext cx="6391656" cy="658368"/>
          </a:xfrm>
          <a:prstGeom prst="roundRect">
            <a:avLst>
              <a:gd name="adj" fmla="val 8333"/>
            </a:avLst>
          </a:prstGeom>
          <a:solidFill>
            <a:srgbClr val="0C1A30"/>
          </a:solidFill>
          <a:ln w="12700">
            <a:solidFill>
              <a:srgbClr val="2A4374"/>
            </a:solidFill>
            <a:prstDash val="solid"/>
          </a:ln>
        </p:spPr>
      </p:sp>
      <p:sp>
        <p:nvSpPr>
          <p:cNvPr id="30" name="Shape 27"/>
          <p:cNvSpPr/>
          <p:nvPr/>
        </p:nvSpPr>
        <p:spPr>
          <a:xfrm>
            <a:off x="923544" y="5248656"/>
            <a:ext cx="219456" cy="219456"/>
          </a:xfrm>
          <a:prstGeom prst="ellipse">
            <a:avLst/>
          </a:prstGeom>
          <a:solidFill>
            <a:srgbClr val="2DD4A7"/>
          </a:solidFill>
          <a:ln w="12700">
            <a:solidFill>
              <a:srgbClr val="333333"/>
            </a:solidFill>
            <a:prstDash val="solid"/>
          </a:ln>
        </p:spPr>
      </p:sp>
      <p:sp>
        <p:nvSpPr>
          <p:cNvPr id="31" name="Text 28"/>
          <p:cNvSpPr txBox="1"/>
          <p:nvPr/>
        </p:nvSpPr>
        <p:spPr>
          <a:xfrm>
            <a:off x="923544" y="5248656"/>
            <a:ext cx="219456" cy="219456"/>
          </a:xfrm>
          <a:prstGeom prst="rect">
            <a:avLst/>
          </a:prstGeom>
          <a:noFill/>
          <a:ln/>
        </p:spPr>
        <p:txBody>
          <a:bodyPr wrap="square" lIns="0" tIns="0" rIns="0" bIns="0" rtlCol="0" anchor="ctr"/>
          <a:lstStyle/>
          <a:p>
            <a:pPr algn="ctr" indent="0" marL="0">
              <a:buNone/>
            </a:pPr>
            <a:r>
              <a:rPr lang="en-US" sz="1000" b="1" dirty="0">
                <a:solidFill>
                  <a:srgbClr val="0C1A30"/>
                </a:solidFill>
                <a:latin typeface="Calibri" pitchFamily="34" charset="0"/>
                <a:ea typeface="Calibri" pitchFamily="34" charset="-122"/>
                <a:cs typeface="Calibri" pitchFamily="34" charset="-120"/>
              </a:rPr>
              <a:t>✓</a:t>
            </a:r>
            <a:endParaRPr lang="en-US" sz="1000" dirty="0"/>
          </a:p>
        </p:txBody>
      </p:sp>
      <p:sp>
        <p:nvSpPr>
          <p:cNvPr id="32" name="Text 29"/>
          <p:cNvSpPr txBox="1"/>
          <p:nvPr/>
        </p:nvSpPr>
        <p:spPr>
          <a:xfrm>
            <a:off x="1271016" y="5102352"/>
            <a:ext cx="5669280"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Tkinter Desktop GUI</a:t>
            </a:r>
            <a:endParaRPr lang="en-US" sz="1250" dirty="0"/>
          </a:p>
        </p:txBody>
      </p:sp>
      <p:sp>
        <p:nvSpPr>
          <p:cNvPr id="33" name="Text 30"/>
          <p:cNvSpPr txBox="1"/>
          <p:nvPr/>
        </p:nvSpPr>
        <p:spPr>
          <a:xfrm>
            <a:off x="1271016" y="5358384"/>
            <a:ext cx="5669280" cy="274320"/>
          </a:xfrm>
          <a:prstGeom prst="rect">
            <a:avLst/>
          </a:prstGeom>
          <a:noFill/>
          <a:ln/>
        </p:spPr>
        <p:txBody>
          <a:bodyPr wrap="square" lIns="0" tIns="0" rIns="0" bIns="0" rtlCol="0" anchor="ctr"/>
          <a:lstStyle/>
          <a:p>
            <a:pPr indent="0" marL="0">
              <a:buNone/>
            </a:pPr>
            <a:r>
              <a:rPr lang="en-US" sz="950" dirty="0">
                <a:solidFill>
                  <a:srgbClr val="A9BCDB"/>
                </a:solidFill>
                <a:latin typeface="Calibri" pitchFamily="34" charset="0"/>
                <a:ea typeface="Calibri" pitchFamily="34" charset="-122"/>
                <a:cs typeface="Calibri" pitchFamily="34" charset="-120"/>
              </a:rPr>
              <a:t>File input, operation selection, status, process, permission and recommendation panels</a:t>
            </a:r>
            <a:endParaRPr lang="en-US" sz="950" dirty="0"/>
          </a:p>
        </p:txBody>
      </p:sp>
      <p:sp>
        <p:nvSpPr>
          <p:cNvPr id="34" name="Shape 31"/>
          <p:cNvSpPr/>
          <p:nvPr/>
        </p:nvSpPr>
        <p:spPr>
          <a:xfrm>
            <a:off x="7699248" y="1298448"/>
            <a:ext cx="3986784" cy="2487168"/>
          </a:xfrm>
          <a:prstGeom prst="roundRect">
            <a:avLst>
              <a:gd name="adj" fmla="val 2941"/>
            </a:avLst>
          </a:prstGeom>
          <a:solidFill>
            <a:srgbClr val="0C1A30"/>
          </a:solidFill>
          <a:ln w="12700">
            <a:solidFill>
              <a:srgbClr val="F5A524"/>
            </a:solidFill>
            <a:prstDash val="dash"/>
          </a:ln>
        </p:spPr>
      </p:sp>
      <p:sp>
        <p:nvSpPr>
          <p:cNvPr id="35" name="Shape 32"/>
          <p:cNvSpPr/>
          <p:nvPr/>
        </p:nvSpPr>
        <p:spPr>
          <a:xfrm>
            <a:off x="7955280" y="1517904"/>
            <a:ext cx="146304" cy="146304"/>
          </a:xfrm>
          <a:prstGeom prst="ellipse">
            <a:avLst/>
          </a:prstGeom>
          <a:solidFill>
            <a:srgbClr val="F5A524"/>
          </a:solidFill>
          <a:ln w="12700">
            <a:solidFill>
              <a:srgbClr val="333333"/>
            </a:solidFill>
            <a:prstDash val="solid"/>
          </a:ln>
        </p:spPr>
      </p:sp>
      <p:sp>
        <p:nvSpPr>
          <p:cNvPr id="36" name="Text 33"/>
          <p:cNvSpPr txBox="1"/>
          <p:nvPr/>
        </p:nvSpPr>
        <p:spPr>
          <a:xfrm>
            <a:off x="8193024" y="1435608"/>
            <a:ext cx="2926080" cy="274320"/>
          </a:xfrm>
          <a:prstGeom prst="rect">
            <a:avLst/>
          </a:prstGeom>
          <a:noFill/>
          <a:ln/>
        </p:spPr>
        <p:txBody>
          <a:bodyPr wrap="square" lIns="0" tIns="0" rIns="0" bIns="0" rtlCol="0" anchor="ctr"/>
          <a:lstStyle/>
          <a:p>
            <a:pPr indent="0" marL="0">
              <a:buNone/>
            </a:pPr>
            <a:r>
              <a:rPr lang="en-US" sz="1250" b="1" spc="100" kern="0" dirty="0">
                <a:solidFill>
                  <a:srgbClr val="F5A524"/>
                </a:solidFill>
                <a:latin typeface="Calibri" pitchFamily="34" charset="0"/>
                <a:ea typeface="Calibri" pitchFamily="34" charset="-122"/>
                <a:cs typeface="Calibri" pitchFamily="34" charset="-120"/>
              </a:rPr>
              <a:t>COMING SOON</a:t>
            </a:r>
            <a:endParaRPr lang="en-US" sz="1250" dirty="0"/>
          </a:p>
        </p:txBody>
      </p:sp>
      <p:sp>
        <p:nvSpPr>
          <p:cNvPr id="37" name="Shape 34"/>
          <p:cNvSpPr/>
          <p:nvPr/>
        </p:nvSpPr>
        <p:spPr>
          <a:xfrm>
            <a:off x="7955280" y="1883664"/>
            <a:ext cx="3474720" cy="749808"/>
          </a:xfrm>
          <a:prstGeom prst="roundRect">
            <a:avLst>
              <a:gd name="adj" fmla="val 7317"/>
            </a:avLst>
          </a:prstGeom>
          <a:solidFill>
            <a:srgbClr val="16294A"/>
          </a:solidFill>
          <a:ln w="12700">
            <a:solidFill>
              <a:srgbClr val="4A4326"/>
            </a:solidFill>
            <a:prstDash val="dash"/>
          </a:ln>
        </p:spPr>
      </p:sp>
      <p:sp>
        <p:nvSpPr>
          <p:cNvPr id="38" name="Text 35"/>
          <p:cNvSpPr txBox="1"/>
          <p:nvPr/>
        </p:nvSpPr>
        <p:spPr>
          <a:xfrm>
            <a:off x="8138160" y="1975104"/>
            <a:ext cx="3108960" cy="256032"/>
          </a:xfrm>
          <a:prstGeom prst="rect">
            <a:avLst/>
          </a:prstGeom>
          <a:noFill/>
          <a:ln/>
        </p:spPr>
        <p:txBody>
          <a:bodyPr wrap="square" lIns="0" tIns="0" rIns="0" bIns="0" rtlCol="0" anchor="ctr"/>
          <a:lstStyle/>
          <a:p>
            <a:pPr indent="0" marL="0">
              <a:buNone/>
            </a:pPr>
            <a:r>
              <a:rPr lang="en-US" sz="1200" b="1" dirty="0">
                <a:solidFill>
                  <a:srgbClr val="F5A524"/>
                </a:solidFill>
                <a:latin typeface="Calibri" pitchFamily="34" charset="0"/>
                <a:ea typeface="Calibri" pitchFamily="34" charset="-122"/>
                <a:cs typeface="Calibri" pitchFamily="34" charset="-120"/>
              </a:rPr>
              <a:t>File Attribute Analyzer</a:t>
            </a:r>
            <a:endParaRPr lang="en-US" sz="1200" dirty="0"/>
          </a:p>
        </p:txBody>
      </p:sp>
      <p:sp>
        <p:nvSpPr>
          <p:cNvPr id="39" name="Text 36"/>
          <p:cNvSpPr txBox="1"/>
          <p:nvPr/>
        </p:nvSpPr>
        <p:spPr>
          <a:xfrm>
            <a:off x="8138160" y="2231136"/>
            <a:ext cx="3108960" cy="329184"/>
          </a:xfrm>
          <a:prstGeom prst="rect">
            <a:avLst/>
          </a:prstGeom>
          <a:noFill/>
          <a:ln/>
        </p:spPr>
        <p:txBody>
          <a:bodyPr wrap="square" lIns="0" tIns="0" rIns="0" bIns="0" rtlCol="0" anchor="ctr"/>
          <a:lstStyle/>
          <a:p>
            <a:pPr indent="0" marL="0">
              <a:lnSpc>
                <a:spcPts val="1200"/>
              </a:lnSpc>
              <a:buNone/>
            </a:pPr>
            <a:r>
              <a:rPr lang="en-US" sz="950" dirty="0">
                <a:solidFill>
                  <a:srgbClr val="A9BCDB"/>
                </a:solidFill>
                <a:latin typeface="Calibri" pitchFamily="34" charset="0"/>
                <a:ea typeface="Calibri" pitchFamily="34" charset="-122"/>
                <a:cs typeface="Calibri" pitchFamily="34" charset="-120"/>
              </a:rPr>
              <a:t>Read-only · Hidden · System · Archive and related metadata</a:t>
            </a:r>
            <a:endParaRPr lang="en-US" sz="950" dirty="0"/>
          </a:p>
        </p:txBody>
      </p:sp>
      <p:sp>
        <p:nvSpPr>
          <p:cNvPr id="40" name="Shape 37"/>
          <p:cNvSpPr/>
          <p:nvPr/>
        </p:nvSpPr>
        <p:spPr>
          <a:xfrm>
            <a:off x="7955280" y="2761488"/>
            <a:ext cx="3474720" cy="749808"/>
          </a:xfrm>
          <a:prstGeom prst="roundRect">
            <a:avLst>
              <a:gd name="adj" fmla="val 7317"/>
            </a:avLst>
          </a:prstGeom>
          <a:solidFill>
            <a:srgbClr val="16294A"/>
          </a:solidFill>
          <a:ln w="12700">
            <a:solidFill>
              <a:srgbClr val="4A4326"/>
            </a:solidFill>
            <a:prstDash val="dash"/>
          </a:ln>
        </p:spPr>
      </p:sp>
      <p:sp>
        <p:nvSpPr>
          <p:cNvPr id="41" name="Text 38"/>
          <p:cNvSpPr txBox="1"/>
          <p:nvPr/>
        </p:nvSpPr>
        <p:spPr>
          <a:xfrm>
            <a:off x="8138160" y="2852928"/>
            <a:ext cx="3108960" cy="256032"/>
          </a:xfrm>
          <a:prstGeom prst="rect">
            <a:avLst/>
          </a:prstGeom>
          <a:noFill/>
          <a:ln/>
        </p:spPr>
        <p:txBody>
          <a:bodyPr wrap="square" lIns="0" tIns="0" rIns="0" bIns="0" rtlCol="0" anchor="ctr"/>
          <a:lstStyle/>
          <a:p>
            <a:pPr indent="0" marL="0">
              <a:buNone/>
            </a:pPr>
            <a:r>
              <a:rPr lang="en-US" sz="1200" b="1" dirty="0">
                <a:solidFill>
                  <a:srgbClr val="F5A524"/>
                </a:solidFill>
                <a:latin typeface="Calibri" pitchFamily="34" charset="0"/>
                <a:ea typeface="Calibri" pitchFamily="34" charset="-122"/>
                <a:cs typeface="Calibri" pitchFamily="34" charset="-120"/>
              </a:rPr>
              <a:t>Cloud-Sync Analyzer</a:t>
            </a:r>
            <a:endParaRPr lang="en-US" sz="1200" dirty="0"/>
          </a:p>
        </p:txBody>
      </p:sp>
      <p:sp>
        <p:nvSpPr>
          <p:cNvPr id="42" name="Text 39"/>
          <p:cNvSpPr txBox="1"/>
          <p:nvPr/>
        </p:nvSpPr>
        <p:spPr>
          <a:xfrm>
            <a:off x="8138160" y="3108960"/>
            <a:ext cx="3108960" cy="329184"/>
          </a:xfrm>
          <a:prstGeom prst="rect">
            <a:avLst/>
          </a:prstGeom>
          <a:noFill/>
          <a:ln/>
        </p:spPr>
        <p:txBody>
          <a:bodyPr wrap="square" lIns="0" tIns="0" rIns="0" bIns="0" rtlCol="0" anchor="ctr"/>
          <a:lstStyle/>
          <a:p>
            <a:pPr indent="0" marL="0">
              <a:lnSpc>
                <a:spcPts val="1200"/>
              </a:lnSpc>
              <a:buNone/>
            </a:pPr>
            <a:r>
              <a:rPr lang="en-US" sz="950" dirty="0">
                <a:solidFill>
                  <a:srgbClr val="A9BCDB"/>
                </a:solidFill>
                <a:latin typeface="Calibri" pitchFamily="34" charset="0"/>
                <a:ea typeface="Calibri" pitchFamily="34" charset="-122"/>
                <a:cs typeface="Calibri" pitchFamily="34" charset="-120"/>
              </a:rPr>
              <a:t>OneDrive and Google Drive synchronisation activity</a:t>
            </a:r>
            <a:endParaRPr lang="en-US" sz="950" dirty="0"/>
          </a:p>
        </p:txBody>
      </p:sp>
      <p:sp>
        <p:nvSpPr>
          <p:cNvPr id="43" name="Shape 40"/>
          <p:cNvSpPr/>
          <p:nvPr/>
        </p:nvSpPr>
        <p:spPr>
          <a:xfrm>
            <a:off x="7699248" y="3968496"/>
            <a:ext cx="3986784" cy="1993392"/>
          </a:xfrm>
          <a:prstGeom prst="roundRect">
            <a:avLst>
              <a:gd name="adj" fmla="val 3670"/>
            </a:avLst>
          </a:prstGeom>
          <a:solidFill>
            <a:srgbClr val="16294A"/>
          </a:solidFill>
          <a:ln w="12700">
            <a:solidFill>
              <a:srgbClr val="4F8EF7"/>
            </a:solidFill>
            <a:prstDash val="solid"/>
          </a:ln>
        </p:spPr>
      </p:sp>
      <p:sp>
        <p:nvSpPr>
          <p:cNvPr id="44" name="Text 41"/>
          <p:cNvSpPr txBox="1"/>
          <p:nvPr/>
        </p:nvSpPr>
        <p:spPr>
          <a:xfrm>
            <a:off x="7918704" y="4151376"/>
            <a:ext cx="3566160" cy="256032"/>
          </a:xfrm>
          <a:prstGeom prst="rect">
            <a:avLst/>
          </a:prstGeom>
          <a:noFill/>
          <a:ln/>
        </p:spPr>
        <p:txBody>
          <a:bodyPr wrap="square" lIns="0" tIns="0" rIns="0" bIns="0" rtlCol="0" anchor="ctr"/>
          <a:lstStyle/>
          <a:p>
            <a:pPr indent="0" marL="0">
              <a:buNone/>
            </a:pPr>
            <a:r>
              <a:rPr lang="en-US" sz="1100" b="1" spc="100" kern="0" dirty="0">
                <a:solidFill>
                  <a:srgbClr val="4F8EF7"/>
                </a:solidFill>
                <a:latin typeface="Calibri" pitchFamily="34" charset="0"/>
                <a:ea typeface="Calibri" pitchFamily="34" charset="-122"/>
                <a:cs typeface="Calibri" pitchFamily="34" charset="-120"/>
              </a:rPr>
              <a:t>ARCHITECTURE NOTE</a:t>
            </a:r>
            <a:endParaRPr lang="en-US" sz="1100" dirty="0"/>
          </a:p>
        </p:txBody>
      </p:sp>
      <p:sp>
        <p:nvSpPr>
          <p:cNvPr id="45" name="Text 42"/>
          <p:cNvSpPr txBox="1"/>
          <p:nvPr/>
        </p:nvSpPr>
        <p:spPr>
          <a:xfrm>
            <a:off x="7918704" y="4462272"/>
            <a:ext cx="3566160" cy="1371600"/>
          </a:xfrm>
          <a:prstGeom prst="rect">
            <a:avLst/>
          </a:prstGeom>
          <a:noFill/>
          <a:ln/>
        </p:spPr>
        <p:txBody>
          <a:bodyPr wrap="square" lIns="0" tIns="0" rIns="0" bIns="0" rtlCol="0" anchor="ctr"/>
          <a:lstStyle/>
          <a:p>
            <a:pPr indent="0" marL="0">
              <a:lnSpc>
                <a:spcPts val="1400"/>
              </a:lnSpc>
              <a:buNone/>
            </a:pPr>
            <a:r>
              <a:rPr lang="en-US" sz="1050" dirty="0">
                <a:solidFill>
                  <a:srgbClr val="FFFFFF"/>
                </a:solidFill>
                <a:latin typeface="Calibri" pitchFamily="34" charset="0"/>
                <a:ea typeface="Calibri" pitchFamily="34" charset="-122"/>
                <a:cs typeface="Calibri" pitchFamily="34" charset="-120"/>
              </a:rPr>
              <a:t>The current prototype demonstrates the implemented backend and GUI path; the remaining analyzers are part of the complete proposed system.</a:t>
            </a:r>
            <a:endParaRPr lang="en-US" sz="1050" dirty="0"/>
          </a:p>
          <a:p>
            <a:pPr indent="0" marL="0">
              <a:lnSpc>
                <a:spcPts val="1400"/>
              </a:lnSpc>
              <a:buNone/>
            </a:pPr>
            <a:endParaRPr lang="en-US" sz="1050" dirty="0"/>
          </a:p>
          <a:p>
            <a:pPr indent="0" marL="0">
              <a:lnSpc>
                <a:spcPts val="1400"/>
              </a:lnSpc>
              <a:buNone/>
            </a:pPr>
            <a:r>
              <a:rPr lang="en-US" sz="1050" dirty="0">
                <a:solidFill>
                  <a:srgbClr val="FFFFFF"/>
                </a:solidFill>
                <a:latin typeface="Calibri" pitchFamily="34" charset="0"/>
                <a:ea typeface="Calibri" pitchFamily="34" charset="-122"/>
                <a:cs typeface="Calibri" pitchFamily="34" charset="-120"/>
              </a:rPr>
              <a:t>No fabricated process names, PIDs, permissions or diagnoses appear in the GUI — every displayed value is a real backend result.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1A30"/>
        </a:solidFill>
      </p:bgPr>
    </p:bg>
    <p:spTree>
      <p:nvGrpSpPr>
        <p:cNvPr id="1" name=""/>
        <p:cNvGrpSpPr/>
        <p:nvPr/>
      </p:nvGrpSpPr>
      <p:grpSpPr>
        <a:xfrm>
          <a:off x="0" y="0"/>
          <a:ext cx="0" cy="0"/>
          <a:chOff x="0" y="0"/>
          <a:chExt cx="0" cy="0"/>
        </a:xfrm>
      </p:grpSpPr>
      <p:sp>
        <p:nvSpPr>
          <p:cNvPr id="3" name="Text 0"/>
          <p:cNvSpPr txBox="1"/>
          <p:nvPr/>
        </p:nvSpPr>
        <p:spPr>
          <a:xfrm>
            <a:off x="502920" y="292608"/>
            <a:ext cx="10058400" cy="237744"/>
          </a:xfrm>
          <a:prstGeom prst="rect">
            <a:avLst/>
          </a:prstGeom>
          <a:noFill/>
          <a:ln/>
        </p:spPr>
        <p:txBody>
          <a:bodyPr wrap="square" lIns="0" tIns="0" rIns="0" bIns="0" rtlCol="0" anchor="ctr"/>
          <a:lstStyle/>
          <a:p>
            <a:pPr indent="0" marL="0">
              <a:buNone/>
            </a:pPr>
            <a:r>
              <a:rPr lang="en-US" sz="1100" b="1" spc="200" kern="0" dirty="0">
                <a:solidFill>
                  <a:srgbClr val="4F8EF7"/>
                </a:solidFill>
                <a:latin typeface="Calibri" pitchFamily="34" charset="0"/>
                <a:ea typeface="Calibri" pitchFamily="34" charset="-122"/>
                <a:cs typeface="Calibri" pitchFamily="34" charset="-120"/>
              </a:rPr>
              <a:t>SLIDE 10</a:t>
            </a:r>
            <a:endParaRPr lang="en-US" sz="1100" dirty="0"/>
          </a:p>
        </p:txBody>
      </p:sp>
      <p:sp>
        <p:nvSpPr>
          <p:cNvPr id="4"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Testing &amp; Windows Validation</a:t>
            </a:r>
            <a:endParaRPr lang="en-US" sz="3000" dirty="0"/>
          </a:p>
        </p:txBody>
      </p:sp>
      <p:sp>
        <p:nvSpPr>
          <p:cNvPr id="5" name="Shape 2"/>
          <p:cNvSpPr/>
          <p:nvPr/>
        </p:nvSpPr>
        <p:spPr>
          <a:xfrm>
            <a:off x="502920" y="1371600"/>
            <a:ext cx="2724912" cy="2103120"/>
          </a:xfrm>
          <a:prstGeom prst="roundRect">
            <a:avLst>
              <a:gd name="adj" fmla="val 3478"/>
            </a:avLst>
          </a:prstGeom>
          <a:solidFill>
            <a:srgbClr val="16294A"/>
          </a:solidFill>
          <a:ln w="12700">
            <a:solidFill>
              <a:srgbClr val="4F8EF7"/>
            </a:solidFill>
            <a:prstDash val="solid"/>
          </a:ln>
          <a:effectLst>
            <a:outerShdw sx="100000" sy="100000" kx="0" ky="0" algn="bl" rotWithShape="0" blurRad="101600" dist="25400" dir="5400000">
              <a:srgbClr val="000000">
                <a:alpha val="35000"/>
              </a:srgbClr>
            </a:outerShdw>
          </a:effectLst>
        </p:spPr>
      </p:sp>
      <p:sp>
        <p:nvSpPr>
          <p:cNvPr id="6" name="Text 3"/>
          <p:cNvSpPr txBox="1"/>
          <p:nvPr/>
        </p:nvSpPr>
        <p:spPr>
          <a:xfrm>
            <a:off x="502920" y="1517904"/>
            <a:ext cx="2724912" cy="1188720"/>
          </a:xfrm>
          <a:prstGeom prst="rect">
            <a:avLst/>
          </a:prstGeom>
          <a:noFill/>
          <a:ln/>
        </p:spPr>
        <p:txBody>
          <a:bodyPr wrap="square" lIns="0" tIns="0" rIns="0" bIns="0" rtlCol="0" anchor="ctr"/>
          <a:lstStyle/>
          <a:p>
            <a:pPr algn="ctr" indent="0" marL="0">
              <a:buNone/>
            </a:pPr>
            <a:r>
              <a:rPr lang="en-US" sz="6600" b="1" dirty="0">
                <a:solidFill>
                  <a:srgbClr val="FFFFFF"/>
                </a:solidFill>
                <a:latin typeface="Cambria" pitchFamily="34" charset="0"/>
                <a:ea typeface="Cambria" pitchFamily="34" charset="-122"/>
                <a:cs typeface="Cambria" pitchFamily="34" charset="-120"/>
              </a:rPr>
              <a:t>72</a:t>
            </a:r>
            <a:endParaRPr lang="en-US" sz="6600" dirty="0"/>
          </a:p>
        </p:txBody>
      </p:sp>
      <p:sp>
        <p:nvSpPr>
          <p:cNvPr id="7" name="Text 4"/>
          <p:cNvSpPr txBox="1"/>
          <p:nvPr/>
        </p:nvSpPr>
        <p:spPr>
          <a:xfrm>
            <a:off x="502920" y="2761488"/>
            <a:ext cx="2724912" cy="274320"/>
          </a:xfrm>
          <a:prstGeom prst="rect">
            <a:avLst/>
          </a:prstGeom>
          <a:noFill/>
          <a:ln/>
        </p:spPr>
        <p:txBody>
          <a:bodyPr wrap="square" lIns="0" tIns="0" rIns="0" bIns="0" rtlCol="0" anchor="ctr"/>
          <a:lstStyle/>
          <a:p>
            <a:pPr algn="ctr" indent="0" marL="0">
              <a:buNone/>
            </a:pPr>
            <a:r>
              <a:rPr lang="en-US" sz="1200" b="1" spc="200" kern="0" dirty="0">
                <a:solidFill>
                  <a:srgbClr val="4F8EF7"/>
                </a:solidFill>
                <a:latin typeface="Calibri" pitchFamily="34" charset="0"/>
                <a:ea typeface="Calibri" pitchFamily="34" charset="-122"/>
                <a:cs typeface="Calibri" pitchFamily="34" charset="-120"/>
              </a:rPr>
              <a:t>TOTAL TESTS</a:t>
            </a:r>
            <a:endParaRPr lang="en-US" sz="1200" dirty="0"/>
          </a:p>
        </p:txBody>
      </p:sp>
      <p:sp>
        <p:nvSpPr>
          <p:cNvPr id="8" name="Shape 5"/>
          <p:cNvSpPr/>
          <p:nvPr/>
        </p:nvSpPr>
        <p:spPr>
          <a:xfrm>
            <a:off x="3483864" y="1371600"/>
            <a:ext cx="2724912" cy="2103120"/>
          </a:xfrm>
          <a:prstGeom prst="roundRect">
            <a:avLst>
              <a:gd name="adj" fmla="val 3478"/>
            </a:avLst>
          </a:prstGeom>
          <a:solidFill>
            <a:srgbClr val="16294A"/>
          </a:solidFill>
          <a:ln w="12700">
            <a:solidFill>
              <a:srgbClr val="2DD4A7"/>
            </a:solidFill>
            <a:prstDash val="solid"/>
          </a:ln>
          <a:effectLst>
            <a:outerShdw sx="100000" sy="100000" kx="0" ky="0" algn="bl" rotWithShape="0" blurRad="101600" dist="25400" dir="5400000">
              <a:srgbClr val="000000">
                <a:alpha val="35000"/>
              </a:srgbClr>
            </a:outerShdw>
          </a:effectLst>
        </p:spPr>
      </p:sp>
      <p:sp>
        <p:nvSpPr>
          <p:cNvPr id="9" name="Text 6"/>
          <p:cNvSpPr txBox="1"/>
          <p:nvPr/>
        </p:nvSpPr>
        <p:spPr>
          <a:xfrm>
            <a:off x="3483864" y="1517904"/>
            <a:ext cx="2724912" cy="1188720"/>
          </a:xfrm>
          <a:prstGeom prst="rect">
            <a:avLst/>
          </a:prstGeom>
          <a:noFill/>
          <a:ln/>
        </p:spPr>
        <p:txBody>
          <a:bodyPr wrap="square" lIns="0" tIns="0" rIns="0" bIns="0" rtlCol="0" anchor="ctr"/>
          <a:lstStyle/>
          <a:p>
            <a:pPr algn="ctr" indent="0" marL="0">
              <a:buNone/>
            </a:pPr>
            <a:r>
              <a:rPr lang="en-US" sz="6600" b="1" dirty="0">
                <a:solidFill>
                  <a:srgbClr val="2DD4A7"/>
                </a:solidFill>
                <a:latin typeface="Cambria" pitchFamily="34" charset="0"/>
                <a:ea typeface="Cambria" pitchFamily="34" charset="-122"/>
                <a:cs typeface="Cambria" pitchFamily="34" charset="-120"/>
              </a:rPr>
              <a:t>71</a:t>
            </a:r>
            <a:endParaRPr lang="en-US" sz="6600" dirty="0"/>
          </a:p>
        </p:txBody>
      </p:sp>
      <p:sp>
        <p:nvSpPr>
          <p:cNvPr id="10" name="Text 7"/>
          <p:cNvSpPr txBox="1"/>
          <p:nvPr/>
        </p:nvSpPr>
        <p:spPr>
          <a:xfrm>
            <a:off x="3483864" y="2761488"/>
            <a:ext cx="2724912" cy="274320"/>
          </a:xfrm>
          <a:prstGeom prst="rect">
            <a:avLst/>
          </a:prstGeom>
          <a:noFill/>
          <a:ln/>
        </p:spPr>
        <p:txBody>
          <a:bodyPr wrap="square" lIns="0" tIns="0" rIns="0" bIns="0" rtlCol="0" anchor="ctr"/>
          <a:lstStyle/>
          <a:p>
            <a:pPr algn="ctr" indent="0" marL="0">
              <a:buNone/>
            </a:pPr>
            <a:r>
              <a:rPr lang="en-US" sz="1200" b="1" spc="200" kern="0" dirty="0">
                <a:solidFill>
                  <a:srgbClr val="2DD4A7"/>
                </a:solidFill>
                <a:latin typeface="Calibri" pitchFamily="34" charset="0"/>
                <a:ea typeface="Calibri" pitchFamily="34" charset="-122"/>
                <a:cs typeface="Calibri" pitchFamily="34" charset="-120"/>
              </a:rPr>
              <a:t>PASSED</a:t>
            </a:r>
            <a:endParaRPr lang="en-US" sz="1200" dirty="0"/>
          </a:p>
        </p:txBody>
      </p:sp>
      <p:sp>
        <p:nvSpPr>
          <p:cNvPr id="11" name="Shape 8"/>
          <p:cNvSpPr/>
          <p:nvPr/>
        </p:nvSpPr>
        <p:spPr>
          <a:xfrm>
            <a:off x="6464808" y="1371600"/>
            <a:ext cx="2724912" cy="2103120"/>
          </a:xfrm>
          <a:prstGeom prst="roundRect">
            <a:avLst>
              <a:gd name="adj" fmla="val 3478"/>
            </a:avLst>
          </a:prstGeom>
          <a:solidFill>
            <a:srgbClr val="16294A"/>
          </a:solidFill>
          <a:ln w="12700">
            <a:solidFill>
              <a:srgbClr val="C0392B"/>
            </a:solidFill>
            <a:prstDash val="solid"/>
          </a:ln>
          <a:effectLst>
            <a:outerShdw sx="100000" sy="100000" kx="0" ky="0" algn="bl" rotWithShape="0" blurRad="101600" dist="25400" dir="5400000">
              <a:srgbClr val="000000">
                <a:alpha val="35000"/>
              </a:srgbClr>
            </a:outerShdw>
          </a:effectLst>
        </p:spPr>
      </p:sp>
      <p:sp>
        <p:nvSpPr>
          <p:cNvPr id="12" name="Text 9"/>
          <p:cNvSpPr txBox="1"/>
          <p:nvPr/>
        </p:nvSpPr>
        <p:spPr>
          <a:xfrm>
            <a:off x="6464808" y="1517904"/>
            <a:ext cx="2724912" cy="1188720"/>
          </a:xfrm>
          <a:prstGeom prst="rect">
            <a:avLst/>
          </a:prstGeom>
          <a:noFill/>
          <a:ln/>
        </p:spPr>
        <p:txBody>
          <a:bodyPr wrap="square" lIns="0" tIns="0" rIns="0" bIns="0" rtlCol="0" anchor="ctr"/>
          <a:lstStyle/>
          <a:p>
            <a:pPr algn="ctr" indent="0" marL="0">
              <a:buNone/>
            </a:pPr>
            <a:r>
              <a:rPr lang="en-US" sz="6600" b="1" dirty="0">
                <a:solidFill>
                  <a:srgbClr val="FFFFFF"/>
                </a:solidFill>
                <a:latin typeface="Cambria" pitchFamily="34" charset="0"/>
                <a:ea typeface="Cambria" pitchFamily="34" charset="-122"/>
                <a:cs typeface="Cambria" pitchFamily="34" charset="-120"/>
              </a:rPr>
              <a:t>0</a:t>
            </a:r>
            <a:endParaRPr lang="en-US" sz="6600" dirty="0"/>
          </a:p>
        </p:txBody>
      </p:sp>
      <p:sp>
        <p:nvSpPr>
          <p:cNvPr id="13" name="Text 10"/>
          <p:cNvSpPr txBox="1"/>
          <p:nvPr/>
        </p:nvSpPr>
        <p:spPr>
          <a:xfrm>
            <a:off x="6464808" y="2761488"/>
            <a:ext cx="2724912" cy="274320"/>
          </a:xfrm>
          <a:prstGeom prst="rect">
            <a:avLst/>
          </a:prstGeom>
          <a:noFill/>
          <a:ln/>
        </p:spPr>
        <p:txBody>
          <a:bodyPr wrap="square" lIns="0" tIns="0" rIns="0" bIns="0" rtlCol="0" anchor="ctr"/>
          <a:lstStyle/>
          <a:p>
            <a:pPr algn="ctr" indent="0" marL="0">
              <a:buNone/>
            </a:pPr>
            <a:r>
              <a:rPr lang="en-US" sz="1200" b="1" spc="200" kern="0" dirty="0">
                <a:solidFill>
                  <a:srgbClr val="C0392B"/>
                </a:solidFill>
                <a:latin typeface="Calibri" pitchFamily="34" charset="0"/>
                <a:ea typeface="Calibri" pitchFamily="34" charset="-122"/>
                <a:cs typeface="Calibri" pitchFamily="34" charset="-120"/>
              </a:rPr>
              <a:t>FAILED</a:t>
            </a:r>
            <a:endParaRPr lang="en-US" sz="1200" dirty="0"/>
          </a:p>
        </p:txBody>
      </p:sp>
      <p:sp>
        <p:nvSpPr>
          <p:cNvPr id="14" name="Shape 11"/>
          <p:cNvSpPr/>
          <p:nvPr/>
        </p:nvSpPr>
        <p:spPr>
          <a:xfrm>
            <a:off x="9445752" y="1371600"/>
            <a:ext cx="2724912" cy="2103120"/>
          </a:xfrm>
          <a:prstGeom prst="roundRect">
            <a:avLst>
              <a:gd name="adj" fmla="val 3478"/>
            </a:avLst>
          </a:prstGeom>
          <a:solidFill>
            <a:srgbClr val="16294A"/>
          </a:solidFill>
          <a:ln w="12700">
            <a:solidFill>
              <a:srgbClr val="F5A524"/>
            </a:solidFill>
            <a:prstDash val="solid"/>
          </a:ln>
          <a:effectLst>
            <a:outerShdw sx="100000" sy="100000" kx="0" ky="0" algn="bl" rotWithShape="0" blurRad="101600" dist="25400" dir="5400000">
              <a:srgbClr val="000000">
                <a:alpha val="35000"/>
              </a:srgbClr>
            </a:outerShdw>
          </a:effectLst>
        </p:spPr>
      </p:sp>
      <p:sp>
        <p:nvSpPr>
          <p:cNvPr id="15" name="Text 12"/>
          <p:cNvSpPr txBox="1"/>
          <p:nvPr/>
        </p:nvSpPr>
        <p:spPr>
          <a:xfrm>
            <a:off x="9445752" y="1517904"/>
            <a:ext cx="2724912" cy="1188720"/>
          </a:xfrm>
          <a:prstGeom prst="rect">
            <a:avLst/>
          </a:prstGeom>
          <a:noFill/>
          <a:ln/>
        </p:spPr>
        <p:txBody>
          <a:bodyPr wrap="square" lIns="0" tIns="0" rIns="0" bIns="0" rtlCol="0" anchor="ctr"/>
          <a:lstStyle/>
          <a:p>
            <a:pPr algn="ctr" indent="0" marL="0">
              <a:buNone/>
            </a:pPr>
            <a:r>
              <a:rPr lang="en-US" sz="6600" b="1" dirty="0">
                <a:solidFill>
                  <a:srgbClr val="F5A524"/>
                </a:solidFill>
                <a:latin typeface="Cambria" pitchFamily="34" charset="0"/>
                <a:ea typeface="Cambria" pitchFamily="34" charset="-122"/>
                <a:cs typeface="Cambria" pitchFamily="34" charset="-120"/>
              </a:rPr>
              <a:t>1</a:t>
            </a:r>
            <a:endParaRPr lang="en-US" sz="6600" dirty="0"/>
          </a:p>
        </p:txBody>
      </p:sp>
      <p:sp>
        <p:nvSpPr>
          <p:cNvPr id="16" name="Text 13"/>
          <p:cNvSpPr txBox="1"/>
          <p:nvPr/>
        </p:nvSpPr>
        <p:spPr>
          <a:xfrm>
            <a:off x="9445752" y="2761488"/>
            <a:ext cx="2724912" cy="274320"/>
          </a:xfrm>
          <a:prstGeom prst="rect">
            <a:avLst/>
          </a:prstGeom>
          <a:noFill/>
          <a:ln/>
        </p:spPr>
        <p:txBody>
          <a:bodyPr wrap="square" lIns="0" tIns="0" rIns="0" bIns="0" rtlCol="0" anchor="ctr"/>
          <a:lstStyle/>
          <a:p>
            <a:pPr algn="ctr" indent="0" marL="0">
              <a:buNone/>
            </a:pPr>
            <a:r>
              <a:rPr lang="en-US" sz="1200" b="1" spc="200" kern="0" dirty="0">
                <a:solidFill>
                  <a:srgbClr val="F5A524"/>
                </a:solidFill>
                <a:latin typeface="Calibri" pitchFamily="34" charset="0"/>
                <a:ea typeface="Calibri" pitchFamily="34" charset="-122"/>
                <a:cs typeface="Calibri" pitchFamily="34" charset="-120"/>
              </a:rPr>
              <a:t>SKIPPED</a:t>
            </a:r>
            <a:endParaRPr lang="en-US" sz="1200" dirty="0"/>
          </a:p>
        </p:txBody>
      </p:sp>
      <p:sp>
        <p:nvSpPr>
          <p:cNvPr id="17" name="Shape 14"/>
          <p:cNvSpPr/>
          <p:nvPr/>
        </p:nvSpPr>
        <p:spPr>
          <a:xfrm>
            <a:off x="502920" y="3712464"/>
            <a:ext cx="6903720" cy="2249424"/>
          </a:xfrm>
          <a:prstGeom prst="roundRect">
            <a:avLst>
              <a:gd name="adj" fmla="val 3252"/>
            </a:avLst>
          </a:prstGeom>
          <a:solidFill>
            <a:srgbClr val="1E3560"/>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18" name="Text 15"/>
          <p:cNvSpPr txBox="1"/>
          <p:nvPr/>
        </p:nvSpPr>
        <p:spPr>
          <a:xfrm>
            <a:off x="777240" y="3895344"/>
            <a:ext cx="4572000" cy="256032"/>
          </a:xfrm>
          <a:prstGeom prst="rect">
            <a:avLst/>
          </a:prstGeom>
          <a:noFill/>
          <a:ln/>
        </p:spPr>
        <p:txBody>
          <a:bodyPr wrap="square" lIns="0" tIns="0" rIns="0" bIns="0" rtlCol="0" anchor="ctr"/>
          <a:lstStyle/>
          <a:p>
            <a:pPr indent="0" marL="0">
              <a:buNone/>
            </a:pPr>
            <a:r>
              <a:rPr lang="en-US" sz="1100" b="1" spc="100" kern="0" dirty="0">
                <a:solidFill>
                  <a:srgbClr val="4F8EF7"/>
                </a:solidFill>
                <a:latin typeface="Calibri" pitchFamily="34" charset="0"/>
                <a:ea typeface="Calibri" pitchFamily="34" charset="-122"/>
                <a:cs typeface="Calibri" pitchFamily="34" charset="-120"/>
              </a:rPr>
              <a:t>WHAT WAS VERIFIED</a:t>
            </a:r>
            <a:endParaRPr lang="en-US" sz="1100" dirty="0"/>
          </a:p>
        </p:txBody>
      </p:sp>
      <p:sp>
        <p:nvSpPr>
          <p:cNvPr id="19" name="Shape 16"/>
          <p:cNvSpPr/>
          <p:nvPr/>
        </p:nvSpPr>
        <p:spPr>
          <a:xfrm>
            <a:off x="795528" y="4315968"/>
            <a:ext cx="201168" cy="201168"/>
          </a:xfrm>
          <a:prstGeom prst="ellipse">
            <a:avLst/>
          </a:prstGeom>
          <a:solidFill>
            <a:srgbClr val="2DD4A7"/>
          </a:solidFill>
          <a:ln w="12700">
            <a:solidFill>
              <a:srgbClr val="333333"/>
            </a:solidFill>
            <a:prstDash val="solid"/>
          </a:ln>
        </p:spPr>
      </p:sp>
      <p:sp>
        <p:nvSpPr>
          <p:cNvPr id="20" name="Text 17"/>
          <p:cNvSpPr txBox="1"/>
          <p:nvPr/>
        </p:nvSpPr>
        <p:spPr>
          <a:xfrm>
            <a:off x="795528" y="4315968"/>
            <a:ext cx="201168" cy="201168"/>
          </a:xfrm>
          <a:prstGeom prst="rect">
            <a:avLst/>
          </a:prstGeom>
          <a:noFill/>
          <a:ln/>
        </p:spPr>
        <p:txBody>
          <a:bodyPr wrap="square" lIns="0" tIns="0" rIns="0" bIns="0" rtlCol="0" anchor="ctr"/>
          <a:lstStyle/>
          <a:p>
            <a:pPr algn="ctr" indent="0" marL="0">
              <a:buNone/>
            </a:pPr>
            <a:r>
              <a:rPr lang="en-US" sz="950" b="1" dirty="0">
                <a:solidFill>
                  <a:srgbClr val="0C1A30"/>
                </a:solidFill>
                <a:latin typeface="Calibri" pitchFamily="34" charset="0"/>
                <a:ea typeface="Calibri" pitchFamily="34" charset="-122"/>
                <a:cs typeface="Calibri" pitchFamily="34" charset="-120"/>
              </a:rPr>
              <a:t>✓</a:t>
            </a:r>
            <a:endParaRPr lang="en-US" sz="950" dirty="0"/>
          </a:p>
        </p:txBody>
      </p:sp>
      <p:sp>
        <p:nvSpPr>
          <p:cNvPr id="21" name="Text 18"/>
          <p:cNvSpPr txBox="1"/>
          <p:nvPr/>
        </p:nvSpPr>
        <p:spPr>
          <a:xfrm>
            <a:off x="1124712" y="4261104"/>
            <a:ext cx="5943600" cy="31089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Windows environment</a:t>
            </a:r>
            <a:endParaRPr lang="en-US" sz="1300" dirty="0"/>
          </a:p>
        </p:txBody>
      </p:sp>
      <p:sp>
        <p:nvSpPr>
          <p:cNvPr id="22" name="Shape 19"/>
          <p:cNvSpPr/>
          <p:nvPr/>
        </p:nvSpPr>
        <p:spPr>
          <a:xfrm>
            <a:off x="795528" y="4718304"/>
            <a:ext cx="201168" cy="201168"/>
          </a:xfrm>
          <a:prstGeom prst="ellipse">
            <a:avLst/>
          </a:prstGeom>
          <a:solidFill>
            <a:srgbClr val="2DD4A7"/>
          </a:solidFill>
          <a:ln w="12700">
            <a:solidFill>
              <a:srgbClr val="333333"/>
            </a:solidFill>
            <a:prstDash val="solid"/>
          </a:ln>
        </p:spPr>
      </p:sp>
      <p:sp>
        <p:nvSpPr>
          <p:cNvPr id="23" name="Text 20"/>
          <p:cNvSpPr txBox="1"/>
          <p:nvPr/>
        </p:nvSpPr>
        <p:spPr>
          <a:xfrm>
            <a:off x="795528" y="4718304"/>
            <a:ext cx="201168" cy="201168"/>
          </a:xfrm>
          <a:prstGeom prst="rect">
            <a:avLst/>
          </a:prstGeom>
          <a:noFill/>
          <a:ln/>
        </p:spPr>
        <p:txBody>
          <a:bodyPr wrap="square" lIns="0" tIns="0" rIns="0" bIns="0" rtlCol="0" anchor="ctr"/>
          <a:lstStyle/>
          <a:p>
            <a:pPr algn="ctr" indent="0" marL="0">
              <a:buNone/>
            </a:pPr>
            <a:r>
              <a:rPr lang="en-US" sz="950" b="1" dirty="0">
                <a:solidFill>
                  <a:srgbClr val="0C1A30"/>
                </a:solidFill>
                <a:latin typeface="Calibri" pitchFamily="34" charset="0"/>
                <a:ea typeface="Calibri" pitchFamily="34" charset="-122"/>
                <a:cs typeface="Calibri" pitchFamily="34" charset="-120"/>
              </a:rPr>
              <a:t>✓</a:t>
            </a:r>
            <a:endParaRPr lang="en-US" sz="950" dirty="0"/>
          </a:p>
        </p:txBody>
      </p:sp>
      <p:sp>
        <p:nvSpPr>
          <p:cNvPr id="24" name="Text 21"/>
          <p:cNvSpPr txBox="1"/>
          <p:nvPr/>
        </p:nvSpPr>
        <p:spPr>
          <a:xfrm>
            <a:off x="1124712" y="4663440"/>
            <a:ext cx="5943600" cy="31089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Windows-specific lock detection verified</a:t>
            </a:r>
            <a:endParaRPr lang="en-US" sz="1300" dirty="0"/>
          </a:p>
        </p:txBody>
      </p:sp>
      <p:sp>
        <p:nvSpPr>
          <p:cNvPr id="25" name="Shape 22"/>
          <p:cNvSpPr/>
          <p:nvPr/>
        </p:nvSpPr>
        <p:spPr>
          <a:xfrm>
            <a:off x="795528" y="5120640"/>
            <a:ext cx="201168" cy="201168"/>
          </a:xfrm>
          <a:prstGeom prst="ellipse">
            <a:avLst/>
          </a:prstGeom>
          <a:solidFill>
            <a:srgbClr val="2DD4A7"/>
          </a:solidFill>
          <a:ln w="12700">
            <a:solidFill>
              <a:srgbClr val="333333"/>
            </a:solidFill>
            <a:prstDash val="solid"/>
          </a:ln>
        </p:spPr>
      </p:sp>
      <p:sp>
        <p:nvSpPr>
          <p:cNvPr id="26" name="Text 23"/>
          <p:cNvSpPr txBox="1"/>
          <p:nvPr/>
        </p:nvSpPr>
        <p:spPr>
          <a:xfrm>
            <a:off x="795528" y="5120640"/>
            <a:ext cx="201168" cy="201168"/>
          </a:xfrm>
          <a:prstGeom prst="rect">
            <a:avLst/>
          </a:prstGeom>
          <a:noFill/>
          <a:ln/>
        </p:spPr>
        <p:txBody>
          <a:bodyPr wrap="square" lIns="0" tIns="0" rIns="0" bIns="0" rtlCol="0" anchor="ctr"/>
          <a:lstStyle/>
          <a:p>
            <a:pPr algn="ctr" indent="0" marL="0">
              <a:buNone/>
            </a:pPr>
            <a:r>
              <a:rPr lang="en-US" sz="950" b="1" dirty="0">
                <a:solidFill>
                  <a:srgbClr val="0C1A30"/>
                </a:solidFill>
                <a:latin typeface="Calibri" pitchFamily="34" charset="0"/>
                <a:ea typeface="Calibri" pitchFamily="34" charset="-122"/>
                <a:cs typeface="Calibri" pitchFamily="34" charset="-120"/>
              </a:rPr>
              <a:t>✓</a:t>
            </a:r>
            <a:endParaRPr lang="en-US" sz="950" dirty="0"/>
          </a:p>
        </p:txBody>
      </p:sp>
      <p:sp>
        <p:nvSpPr>
          <p:cNvPr id="27" name="Text 24"/>
          <p:cNvSpPr txBox="1"/>
          <p:nvPr/>
        </p:nvSpPr>
        <p:spPr>
          <a:xfrm>
            <a:off x="1124712" y="5065776"/>
            <a:ext cx="5943600" cy="31089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Windows-specific permission / ownership checks verified</a:t>
            </a:r>
            <a:endParaRPr lang="en-US" sz="1300" dirty="0"/>
          </a:p>
        </p:txBody>
      </p:sp>
      <p:sp>
        <p:nvSpPr>
          <p:cNvPr id="28" name="Shape 25"/>
          <p:cNvSpPr/>
          <p:nvPr/>
        </p:nvSpPr>
        <p:spPr>
          <a:xfrm>
            <a:off x="795528" y="5522976"/>
            <a:ext cx="201168" cy="201168"/>
          </a:xfrm>
          <a:prstGeom prst="ellipse">
            <a:avLst/>
          </a:prstGeom>
          <a:solidFill>
            <a:srgbClr val="2DD4A7"/>
          </a:solidFill>
          <a:ln w="12700">
            <a:solidFill>
              <a:srgbClr val="333333"/>
            </a:solidFill>
            <a:prstDash val="solid"/>
          </a:ln>
        </p:spPr>
      </p:sp>
      <p:sp>
        <p:nvSpPr>
          <p:cNvPr id="29" name="Text 26"/>
          <p:cNvSpPr txBox="1"/>
          <p:nvPr/>
        </p:nvSpPr>
        <p:spPr>
          <a:xfrm>
            <a:off x="795528" y="5522976"/>
            <a:ext cx="201168" cy="201168"/>
          </a:xfrm>
          <a:prstGeom prst="rect">
            <a:avLst/>
          </a:prstGeom>
          <a:noFill/>
          <a:ln/>
        </p:spPr>
        <p:txBody>
          <a:bodyPr wrap="square" lIns="0" tIns="0" rIns="0" bIns="0" rtlCol="0" anchor="ctr"/>
          <a:lstStyle/>
          <a:p>
            <a:pPr algn="ctr" indent="0" marL="0">
              <a:buNone/>
            </a:pPr>
            <a:r>
              <a:rPr lang="en-US" sz="950" b="1" dirty="0">
                <a:solidFill>
                  <a:srgbClr val="0C1A30"/>
                </a:solidFill>
                <a:latin typeface="Calibri" pitchFamily="34" charset="0"/>
                <a:ea typeface="Calibri" pitchFamily="34" charset="-122"/>
                <a:cs typeface="Calibri" pitchFamily="34" charset="-120"/>
              </a:rPr>
              <a:t>✓</a:t>
            </a:r>
            <a:endParaRPr lang="en-US" sz="950" dirty="0"/>
          </a:p>
        </p:txBody>
      </p:sp>
      <p:sp>
        <p:nvSpPr>
          <p:cNvPr id="30" name="Text 27"/>
          <p:cNvSpPr txBox="1"/>
          <p:nvPr/>
        </p:nvSpPr>
        <p:spPr>
          <a:xfrm>
            <a:off x="1124712" y="5468112"/>
            <a:ext cx="5943600" cy="31089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Diagnosis Engine verified</a:t>
            </a:r>
            <a:endParaRPr lang="en-US" sz="1300" dirty="0"/>
          </a:p>
        </p:txBody>
      </p:sp>
      <p:sp>
        <p:nvSpPr>
          <p:cNvPr id="31" name="Shape 28"/>
          <p:cNvSpPr/>
          <p:nvPr/>
        </p:nvSpPr>
        <p:spPr>
          <a:xfrm>
            <a:off x="7699248" y="3712464"/>
            <a:ext cx="3986784" cy="2249424"/>
          </a:xfrm>
          <a:prstGeom prst="roundRect">
            <a:avLst>
              <a:gd name="adj" fmla="val 3252"/>
            </a:avLst>
          </a:prstGeom>
          <a:solidFill>
            <a:srgbClr val="0C1A30"/>
          </a:solidFill>
          <a:ln w="12700">
            <a:solidFill>
              <a:srgbClr val="F5A524"/>
            </a:solidFill>
            <a:prstDash val="dash"/>
          </a:ln>
        </p:spPr>
      </p:sp>
      <p:sp>
        <p:nvSpPr>
          <p:cNvPr id="32" name="Shape 29"/>
          <p:cNvSpPr/>
          <p:nvPr/>
        </p:nvSpPr>
        <p:spPr>
          <a:xfrm>
            <a:off x="7955280" y="3931920"/>
            <a:ext cx="146304" cy="146304"/>
          </a:xfrm>
          <a:prstGeom prst="ellipse">
            <a:avLst/>
          </a:prstGeom>
          <a:solidFill>
            <a:srgbClr val="F5A524"/>
          </a:solidFill>
          <a:ln w="12700">
            <a:solidFill>
              <a:srgbClr val="333333"/>
            </a:solidFill>
            <a:prstDash val="solid"/>
          </a:ln>
        </p:spPr>
      </p:sp>
      <p:sp>
        <p:nvSpPr>
          <p:cNvPr id="33" name="Text 30"/>
          <p:cNvSpPr txBox="1"/>
          <p:nvPr/>
        </p:nvSpPr>
        <p:spPr>
          <a:xfrm>
            <a:off x="8193024" y="3849624"/>
            <a:ext cx="3108960" cy="256032"/>
          </a:xfrm>
          <a:prstGeom prst="rect">
            <a:avLst/>
          </a:prstGeom>
          <a:noFill/>
          <a:ln/>
        </p:spPr>
        <p:txBody>
          <a:bodyPr wrap="square" lIns="0" tIns="0" rIns="0" bIns="0" rtlCol="0" anchor="ctr"/>
          <a:lstStyle/>
          <a:p>
            <a:pPr indent="0" marL="0">
              <a:buNone/>
            </a:pPr>
            <a:r>
              <a:rPr lang="en-US" sz="1100" b="1" spc="100" kern="0" dirty="0">
                <a:solidFill>
                  <a:srgbClr val="F5A524"/>
                </a:solidFill>
                <a:latin typeface="Calibri" pitchFamily="34" charset="0"/>
                <a:ea typeface="Calibri" pitchFamily="34" charset="-122"/>
                <a:cs typeface="Calibri" pitchFamily="34" charset="-120"/>
              </a:rPr>
              <a:t>WHY 1 TEST IS SKIPPED</a:t>
            </a:r>
            <a:endParaRPr lang="en-US" sz="1100" dirty="0"/>
          </a:p>
        </p:txBody>
      </p:sp>
      <p:sp>
        <p:nvSpPr>
          <p:cNvPr id="34" name="Text 31"/>
          <p:cNvSpPr txBox="1"/>
          <p:nvPr/>
        </p:nvSpPr>
        <p:spPr>
          <a:xfrm>
            <a:off x="7955280" y="4242816"/>
            <a:ext cx="3474720" cy="1463040"/>
          </a:xfrm>
          <a:prstGeom prst="rect">
            <a:avLst/>
          </a:prstGeom>
          <a:noFill/>
          <a:ln/>
        </p:spPr>
        <p:txBody>
          <a:bodyPr wrap="square" lIns="0" tIns="0" rIns="0" bIns="0" rtlCol="0" anchor="ctr"/>
          <a:lstStyle/>
          <a:p>
            <a:pPr indent="0" marL="0">
              <a:lnSpc>
                <a:spcPts val="1700"/>
              </a:lnSpc>
              <a:buNone/>
            </a:pPr>
            <a:r>
              <a:rPr lang="en-US" sz="1200" dirty="0">
                <a:solidFill>
                  <a:srgbClr val="FFFFFF"/>
                </a:solidFill>
                <a:latin typeface="Calibri" pitchFamily="34" charset="0"/>
                <a:ea typeface="Calibri" pitchFamily="34" charset="-122"/>
                <a:cs typeface="Calibri" pitchFamily="34" charset="-120"/>
              </a:rPr>
              <a:t>The skipped test checks non-Windows behaviour. Running the suite on Windows therefore skips it intentionally — it is not a failure and not an untested path.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1A30"/>
        </a:solidFill>
      </p:bgPr>
    </p:bg>
    <p:spTree>
      <p:nvGrpSpPr>
        <p:cNvPr id="1" name=""/>
        <p:cNvGrpSpPr/>
        <p:nvPr/>
      </p:nvGrpSpPr>
      <p:grpSpPr>
        <a:xfrm>
          <a:off x="0" y="0"/>
          <a:ext cx="0" cy="0"/>
          <a:chOff x="0" y="0"/>
          <a:chExt cx="0" cy="0"/>
        </a:xfrm>
      </p:grpSpPr>
      <p:sp>
        <p:nvSpPr>
          <p:cNvPr id="3" name="Text 0"/>
          <p:cNvSpPr txBox="1"/>
          <p:nvPr/>
        </p:nvSpPr>
        <p:spPr>
          <a:xfrm>
            <a:off x="502920" y="292608"/>
            <a:ext cx="10058400" cy="237744"/>
          </a:xfrm>
          <a:prstGeom prst="rect">
            <a:avLst/>
          </a:prstGeom>
          <a:noFill/>
          <a:ln/>
        </p:spPr>
        <p:txBody>
          <a:bodyPr wrap="square" lIns="0" tIns="0" rIns="0" bIns="0" rtlCol="0" anchor="ctr"/>
          <a:lstStyle/>
          <a:p>
            <a:pPr indent="0" marL="0">
              <a:buNone/>
            </a:pPr>
            <a:r>
              <a:rPr lang="en-US" sz="1100" b="1" spc="200" kern="0" dirty="0">
                <a:solidFill>
                  <a:srgbClr val="4F8EF7"/>
                </a:solidFill>
                <a:latin typeface="Calibri" pitchFamily="34" charset="0"/>
                <a:ea typeface="Calibri" pitchFamily="34" charset="-122"/>
                <a:cs typeface="Calibri" pitchFamily="34" charset="-120"/>
              </a:rPr>
              <a:t>SLIDE 11</a:t>
            </a:r>
            <a:endParaRPr lang="en-US" sz="1100" dirty="0"/>
          </a:p>
        </p:txBody>
      </p:sp>
      <p:sp>
        <p:nvSpPr>
          <p:cNvPr id="4"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Live Prototype — Demonstration Plan</a:t>
            </a:r>
            <a:endParaRPr lang="en-US" sz="3000" dirty="0"/>
          </a:p>
        </p:txBody>
      </p:sp>
      <p:sp>
        <p:nvSpPr>
          <p:cNvPr id="5" name="Shape 2"/>
          <p:cNvSpPr/>
          <p:nvPr/>
        </p:nvSpPr>
        <p:spPr>
          <a:xfrm>
            <a:off x="502920" y="1325880"/>
            <a:ext cx="5522976" cy="2084832"/>
          </a:xfrm>
          <a:prstGeom prst="roundRect">
            <a:avLst>
              <a:gd name="adj" fmla="val 3509"/>
            </a:avLst>
          </a:prstGeom>
          <a:solidFill>
            <a:srgbClr val="16294A"/>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6" name="Shape 3"/>
          <p:cNvSpPr/>
          <p:nvPr/>
        </p:nvSpPr>
        <p:spPr>
          <a:xfrm>
            <a:off x="740664" y="1545336"/>
            <a:ext cx="402336" cy="402336"/>
          </a:xfrm>
          <a:prstGeom prst="roundRect">
            <a:avLst>
              <a:gd name="adj" fmla="val 18182"/>
            </a:avLst>
          </a:prstGeom>
          <a:solidFill>
            <a:srgbClr val="2B5FC4"/>
          </a:solidFill>
          <a:ln w="12700">
            <a:solidFill>
              <a:srgbClr val="333333"/>
            </a:solidFill>
            <a:prstDash val="solid"/>
          </a:ln>
        </p:spPr>
      </p:sp>
      <p:sp>
        <p:nvSpPr>
          <p:cNvPr id="7" name="Text 4"/>
          <p:cNvSpPr txBox="1"/>
          <p:nvPr/>
        </p:nvSpPr>
        <p:spPr>
          <a:xfrm>
            <a:off x="740664" y="154533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01</a:t>
            </a:r>
            <a:endParaRPr lang="en-US" sz="1100" dirty="0"/>
          </a:p>
        </p:txBody>
      </p:sp>
      <p:sp>
        <p:nvSpPr>
          <p:cNvPr id="8" name="Text 5"/>
          <p:cNvSpPr txBox="1"/>
          <p:nvPr/>
        </p:nvSpPr>
        <p:spPr>
          <a:xfrm>
            <a:off x="1271016" y="1581912"/>
            <a:ext cx="451713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NORMAL FILE</a:t>
            </a:r>
            <a:endParaRPr lang="en-US" sz="1400" dirty="0"/>
          </a:p>
        </p:txBody>
      </p:sp>
      <p:sp>
        <p:nvSpPr>
          <p:cNvPr id="9" name="Shape 6"/>
          <p:cNvSpPr/>
          <p:nvPr/>
        </p:nvSpPr>
        <p:spPr>
          <a:xfrm>
            <a:off x="740664" y="2093976"/>
            <a:ext cx="3712464" cy="384048"/>
          </a:xfrm>
          <a:prstGeom prst="roundRect">
            <a:avLst>
              <a:gd name="adj" fmla="val 14286"/>
            </a:avLst>
          </a:prstGeom>
          <a:solidFill>
            <a:srgbClr val="0C1A30"/>
          </a:solidFill>
          <a:ln w="12700">
            <a:solidFill>
              <a:srgbClr val="3A4F7A"/>
            </a:solidFill>
            <a:prstDash val="solid"/>
          </a:ln>
        </p:spPr>
      </p:sp>
      <p:sp>
        <p:nvSpPr>
          <p:cNvPr id="10" name="Text 7"/>
          <p:cNvSpPr txBox="1"/>
          <p:nvPr/>
        </p:nvSpPr>
        <p:spPr>
          <a:xfrm>
            <a:off x="850392" y="2093976"/>
            <a:ext cx="3520440" cy="384048"/>
          </a:xfrm>
          <a:prstGeom prst="rect">
            <a:avLst/>
          </a:prstGeom>
          <a:noFill/>
          <a:ln/>
        </p:spPr>
        <p:txBody>
          <a:bodyPr wrap="square" lIns="0" tIns="0" rIns="0" bIns="0" rtlCol="0" anchor="ctr"/>
          <a:lstStyle/>
          <a:p>
            <a:pPr indent="0" marL="0">
              <a:buNone/>
            </a:pPr>
            <a:r>
              <a:rPr lang="en-US" sz="1000" dirty="0">
                <a:solidFill>
                  <a:srgbClr val="A9BCDB"/>
                </a:solidFill>
                <a:latin typeface="Calibri" pitchFamily="34" charset="0"/>
                <a:ea typeface="Calibri" pitchFamily="34" charset="-122"/>
                <a:cs typeface="Calibri" pitchFamily="34" charset="-120"/>
              </a:rPr>
              <a:t>Existing file</a:t>
            </a:r>
            <a:endParaRPr lang="en-US" sz="1000" dirty="0"/>
          </a:p>
        </p:txBody>
      </p:sp>
      <p:sp>
        <p:nvSpPr>
          <p:cNvPr id="11" name="Shape 8"/>
          <p:cNvSpPr/>
          <p:nvPr/>
        </p:nvSpPr>
        <p:spPr>
          <a:xfrm>
            <a:off x="4544568" y="2093976"/>
            <a:ext cx="1243584" cy="384048"/>
          </a:xfrm>
          <a:prstGeom prst="roundRect">
            <a:avLst>
              <a:gd name="adj" fmla="val 14286"/>
            </a:avLst>
          </a:prstGeom>
          <a:solidFill>
            <a:srgbClr val="1E3560"/>
          </a:solidFill>
          <a:ln w="12700">
            <a:solidFill>
              <a:srgbClr val="4F8EF7"/>
            </a:solidFill>
            <a:prstDash val="solid"/>
          </a:ln>
        </p:spPr>
      </p:sp>
      <p:sp>
        <p:nvSpPr>
          <p:cNvPr id="12" name="Text 9"/>
          <p:cNvSpPr txBox="1"/>
          <p:nvPr/>
        </p:nvSpPr>
        <p:spPr>
          <a:xfrm>
            <a:off x="4544568" y="2093976"/>
            <a:ext cx="1243584"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READ</a:t>
            </a:r>
            <a:endParaRPr lang="en-US" sz="1000" dirty="0"/>
          </a:p>
        </p:txBody>
      </p:sp>
      <p:sp>
        <p:nvSpPr>
          <p:cNvPr id="13" name="Shape 10"/>
          <p:cNvSpPr/>
          <p:nvPr/>
        </p:nvSpPr>
        <p:spPr>
          <a:xfrm>
            <a:off x="740664" y="2569464"/>
            <a:ext cx="5047488" cy="420624"/>
          </a:xfrm>
          <a:prstGeom prst="roundRect">
            <a:avLst>
              <a:gd name="adj" fmla="val 13043"/>
            </a:avLst>
          </a:prstGeom>
          <a:solidFill>
            <a:srgbClr val="0C1A30"/>
          </a:solidFill>
          <a:ln w="12700">
            <a:solidFill>
              <a:srgbClr val="2DD4A7"/>
            </a:solidFill>
            <a:prstDash val="solid"/>
          </a:ln>
        </p:spPr>
      </p:sp>
      <p:sp>
        <p:nvSpPr>
          <p:cNvPr id="14" name="Text 11"/>
          <p:cNvSpPr txBox="1"/>
          <p:nvPr/>
        </p:nvSpPr>
        <p:spPr>
          <a:xfrm>
            <a:off x="740664" y="2569464"/>
            <a:ext cx="5047488" cy="420624"/>
          </a:xfrm>
          <a:prstGeom prst="rect">
            <a:avLst/>
          </a:prstGeom>
          <a:noFill/>
          <a:ln/>
        </p:spPr>
        <p:txBody>
          <a:bodyPr wrap="square" lIns="0" tIns="0" rIns="0" bIns="0" rtlCol="0" anchor="ctr"/>
          <a:lstStyle/>
          <a:p>
            <a:pPr algn="ctr" indent="0" marL="0">
              <a:buNone/>
            </a:pPr>
            <a:r>
              <a:rPr lang="en-US" sz="1150" b="1" dirty="0">
                <a:solidFill>
                  <a:srgbClr val="2DD4A7"/>
                </a:solidFill>
                <a:latin typeface="Courier New" pitchFamily="34" charset="0"/>
                <a:ea typeface="Courier New" pitchFamily="34" charset="-122"/>
                <a:cs typeface="Courier New" pitchFamily="34" charset="-120"/>
              </a:rPr>
              <a:t>OPERATION_ALLOWED</a:t>
            </a:r>
            <a:endParaRPr lang="en-US" sz="1150" dirty="0"/>
          </a:p>
        </p:txBody>
      </p:sp>
      <p:sp>
        <p:nvSpPr>
          <p:cNvPr id="15" name="Text 12"/>
          <p:cNvSpPr txBox="1"/>
          <p:nvPr/>
        </p:nvSpPr>
        <p:spPr>
          <a:xfrm>
            <a:off x="740664" y="3026664"/>
            <a:ext cx="5047488" cy="274320"/>
          </a:xfrm>
          <a:prstGeom prst="rect">
            <a:avLst/>
          </a:prstGeom>
          <a:noFill/>
          <a:ln/>
        </p:spPr>
        <p:txBody>
          <a:bodyPr wrap="square" lIns="0" tIns="0" rIns="0" bIns="0" rtlCol="0" anchor="ctr"/>
          <a:lstStyle/>
          <a:p>
            <a:pPr indent="0" marL="0">
              <a:buNone/>
            </a:pPr>
            <a:r>
              <a:rPr lang="en-US" sz="1000" i="1" dirty="0">
                <a:solidFill>
                  <a:srgbClr val="6E86AE"/>
                </a:solidFill>
                <a:latin typeface="Calibri" pitchFamily="34" charset="0"/>
                <a:ea typeface="Calibri" pitchFamily="34" charset="-122"/>
                <a:cs typeface="Calibri" pitchFamily="34" charset="-120"/>
              </a:rPr>
              <a:t>Baseline: the engine confirms the operation can proceed.</a:t>
            </a:r>
            <a:endParaRPr lang="en-US" sz="1000" dirty="0"/>
          </a:p>
        </p:txBody>
      </p:sp>
      <p:sp>
        <p:nvSpPr>
          <p:cNvPr id="16" name="Shape 13"/>
          <p:cNvSpPr/>
          <p:nvPr/>
        </p:nvSpPr>
        <p:spPr>
          <a:xfrm>
            <a:off x="6245352" y="1325880"/>
            <a:ext cx="5522976" cy="2084832"/>
          </a:xfrm>
          <a:prstGeom prst="roundRect">
            <a:avLst>
              <a:gd name="adj" fmla="val 3509"/>
            </a:avLst>
          </a:prstGeom>
          <a:solidFill>
            <a:srgbClr val="16294A"/>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17" name="Shape 14"/>
          <p:cNvSpPr/>
          <p:nvPr/>
        </p:nvSpPr>
        <p:spPr>
          <a:xfrm>
            <a:off x="6483096" y="1545336"/>
            <a:ext cx="402336" cy="402336"/>
          </a:xfrm>
          <a:prstGeom prst="roundRect">
            <a:avLst>
              <a:gd name="adj" fmla="val 18182"/>
            </a:avLst>
          </a:prstGeom>
          <a:solidFill>
            <a:srgbClr val="2B5FC4"/>
          </a:solidFill>
          <a:ln w="12700">
            <a:solidFill>
              <a:srgbClr val="333333"/>
            </a:solidFill>
            <a:prstDash val="solid"/>
          </a:ln>
        </p:spPr>
      </p:sp>
      <p:sp>
        <p:nvSpPr>
          <p:cNvPr id="18" name="Text 15"/>
          <p:cNvSpPr txBox="1"/>
          <p:nvPr/>
        </p:nvSpPr>
        <p:spPr>
          <a:xfrm>
            <a:off x="6483096" y="154533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02</a:t>
            </a:r>
            <a:endParaRPr lang="en-US" sz="1100" dirty="0"/>
          </a:p>
        </p:txBody>
      </p:sp>
      <p:sp>
        <p:nvSpPr>
          <p:cNvPr id="19" name="Text 16"/>
          <p:cNvSpPr txBox="1"/>
          <p:nvPr/>
        </p:nvSpPr>
        <p:spPr>
          <a:xfrm>
            <a:off x="7013448" y="1581912"/>
            <a:ext cx="451713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PERMISSION-RESTRICTED FILE</a:t>
            </a:r>
            <a:endParaRPr lang="en-US" sz="1400" dirty="0"/>
          </a:p>
        </p:txBody>
      </p:sp>
      <p:sp>
        <p:nvSpPr>
          <p:cNvPr id="20" name="Shape 17"/>
          <p:cNvSpPr/>
          <p:nvPr/>
        </p:nvSpPr>
        <p:spPr>
          <a:xfrm>
            <a:off x="6483096" y="2093976"/>
            <a:ext cx="3712464" cy="384048"/>
          </a:xfrm>
          <a:prstGeom prst="roundRect">
            <a:avLst>
              <a:gd name="adj" fmla="val 14286"/>
            </a:avLst>
          </a:prstGeom>
          <a:solidFill>
            <a:srgbClr val="0C1A30"/>
          </a:solidFill>
          <a:ln w="12700">
            <a:solidFill>
              <a:srgbClr val="3A4F7A"/>
            </a:solidFill>
            <a:prstDash val="solid"/>
          </a:ln>
        </p:spPr>
      </p:sp>
      <p:sp>
        <p:nvSpPr>
          <p:cNvPr id="21" name="Text 18"/>
          <p:cNvSpPr txBox="1"/>
          <p:nvPr/>
        </p:nvSpPr>
        <p:spPr>
          <a:xfrm>
            <a:off x="6592824" y="2093976"/>
            <a:ext cx="3520440" cy="384048"/>
          </a:xfrm>
          <a:prstGeom prst="rect">
            <a:avLst/>
          </a:prstGeom>
          <a:noFill/>
          <a:ln/>
        </p:spPr>
        <p:txBody>
          <a:bodyPr wrap="square" lIns="0" tIns="0" rIns="0" bIns="0" rtlCol="0" anchor="ctr"/>
          <a:lstStyle/>
          <a:p>
            <a:pPr indent="0" marL="0">
              <a:buNone/>
            </a:pPr>
            <a:r>
              <a:rPr lang="en-US" sz="1000" dirty="0">
                <a:solidFill>
                  <a:srgbClr val="A9BCDB"/>
                </a:solidFill>
                <a:latin typeface="Calibri" pitchFamily="34" charset="0"/>
                <a:ea typeface="Calibri" pitchFamily="34" charset="-122"/>
                <a:cs typeface="Calibri" pitchFamily="34" charset="-120"/>
              </a:rPr>
              <a:t>Restricted / read-only condition</a:t>
            </a:r>
            <a:endParaRPr lang="en-US" sz="1000" dirty="0"/>
          </a:p>
        </p:txBody>
      </p:sp>
      <p:sp>
        <p:nvSpPr>
          <p:cNvPr id="22" name="Shape 19"/>
          <p:cNvSpPr/>
          <p:nvPr/>
        </p:nvSpPr>
        <p:spPr>
          <a:xfrm>
            <a:off x="10287000" y="2093976"/>
            <a:ext cx="1243584" cy="384048"/>
          </a:xfrm>
          <a:prstGeom prst="roundRect">
            <a:avLst>
              <a:gd name="adj" fmla="val 14286"/>
            </a:avLst>
          </a:prstGeom>
          <a:solidFill>
            <a:srgbClr val="1E3560"/>
          </a:solidFill>
          <a:ln w="12700">
            <a:solidFill>
              <a:srgbClr val="4F8EF7"/>
            </a:solidFill>
            <a:prstDash val="solid"/>
          </a:ln>
        </p:spPr>
      </p:sp>
      <p:sp>
        <p:nvSpPr>
          <p:cNvPr id="23" name="Text 20"/>
          <p:cNvSpPr txBox="1"/>
          <p:nvPr/>
        </p:nvSpPr>
        <p:spPr>
          <a:xfrm>
            <a:off x="10287000" y="2093976"/>
            <a:ext cx="1243584"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WRITE</a:t>
            </a:r>
            <a:endParaRPr lang="en-US" sz="1000" dirty="0"/>
          </a:p>
        </p:txBody>
      </p:sp>
      <p:sp>
        <p:nvSpPr>
          <p:cNvPr id="24" name="Shape 21"/>
          <p:cNvSpPr/>
          <p:nvPr/>
        </p:nvSpPr>
        <p:spPr>
          <a:xfrm>
            <a:off x="6483096" y="2569464"/>
            <a:ext cx="5047488" cy="420624"/>
          </a:xfrm>
          <a:prstGeom prst="roundRect">
            <a:avLst>
              <a:gd name="adj" fmla="val 13043"/>
            </a:avLst>
          </a:prstGeom>
          <a:solidFill>
            <a:srgbClr val="0C1A30"/>
          </a:solidFill>
          <a:ln w="12700">
            <a:solidFill>
              <a:srgbClr val="E8756B"/>
            </a:solidFill>
            <a:prstDash val="solid"/>
          </a:ln>
        </p:spPr>
      </p:sp>
      <p:sp>
        <p:nvSpPr>
          <p:cNvPr id="25" name="Text 22"/>
          <p:cNvSpPr txBox="1"/>
          <p:nvPr/>
        </p:nvSpPr>
        <p:spPr>
          <a:xfrm>
            <a:off x="6483096" y="2569464"/>
            <a:ext cx="5047488" cy="420624"/>
          </a:xfrm>
          <a:prstGeom prst="rect">
            <a:avLst/>
          </a:prstGeom>
          <a:noFill/>
          <a:ln/>
        </p:spPr>
        <p:txBody>
          <a:bodyPr wrap="square" lIns="0" tIns="0" rIns="0" bIns="0" rtlCol="0" anchor="ctr"/>
          <a:lstStyle/>
          <a:p>
            <a:pPr algn="ctr" indent="0" marL="0">
              <a:buNone/>
            </a:pPr>
            <a:r>
              <a:rPr lang="en-US" sz="1150" b="1" dirty="0">
                <a:solidFill>
                  <a:srgbClr val="E8756B"/>
                </a:solidFill>
                <a:latin typeface="Courier New" pitchFamily="34" charset="0"/>
                <a:ea typeface="Courier New" pitchFamily="34" charset="-122"/>
                <a:cs typeface="Courier New" pitchFamily="34" charset="-120"/>
              </a:rPr>
              <a:t>PERMISSION_DENIED / READ_ONLY</a:t>
            </a:r>
            <a:endParaRPr lang="en-US" sz="1150" dirty="0"/>
          </a:p>
        </p:txBody>
      </p:sp>
      <p:sp>
        <p:nvSpPr>
          <p:cNvPr id="26" name="Text 23"/>
          <p:cNvSpPr txBox="1"/>
          <p:nvPr/>
        </p:nvSpPr>
        <p:spPr>
          <a:xfrm>
            <a:off x="6483096" y="3026664"/>
            <a:ext cx="5047488" cy="274320"/>
          </a:xfrm>
          <a:prstGeom prst="rect">
            <a:avLst/>
          </a:prstGeom>
          <a:noFill/>
          <a:ln/>
        </p:spPr>
        <p:txBody>
          <a:bodyPr wrap="square" lIns="0" tIns="0" rIns="0" bIns="0" rtlCol="0" anchor="ctr"/>
          <a:lstStyle/>
          <a:p>
            <a:pPr indent="0" marL="0">
              <a:buNone/>
            </a:pPr>
            <a:r>
              <a:rPr lang="en-US" sz="1000" i="1" dirty="0">
                <a:solidFill>
                  <a:srgbClr val="6E86AE"/>
                </a:solidFill>
                <a:latin typeface="Calibri" pitchFamily="34" charset="0"/>
                <a:ea typeface="Calibri" pitchFamily="34" charset="-122"/>
                <a:cs typeface="Calibri" pitchFamily="34" charset="-120"/>
              </a:rPr>
              <a:t>Permission Analyzer identifies the restriction as the cause.</a:t>
            </a:r>
            <a:endParaRPr lang="en-US" sz="1000" dirty="0"/>
          </a:p>
        </p:txBody>
      </p:sp>
      <p:sp>
        <p:nvSpPr>
          <p:cNvPr id="27" name="Shape 24"/>
          <p:cNvSpPr/>
          <p:nvPr/>
        </p:nvSpPr>
        <p:spPr>
          <a:xfrm>
            <a:off x="502920" y="3630168"/>
            <a:ext cx="5522976" cy="2084832"/>
          </a:xfrm>
          <a:prstGeom prst="roundRect">
            <a:avLst>
              <a:gd name="adj" fmla="val 3509"/>
            </a:avLst>
          </a:prstGeom>
          <a:solidFill>
            <a:srgbClr val="16294A"/>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28" name="Shape 25"/>
          <p:cNvSpPr/>
          <p:nvPr/>
        </p:nvSpPr>
        <p:spPr>
          <a:xfrm>
            <a:off x="740664" y="3849624"/>
            <a:ext cx="402336" cy="402336"/>
          </a:xfrm>
          <a:prstGeom prst="roundRect">
            <a:avLst>
              <a:gd name="adj" fmla="val 18182"/>
            </a:avLst>
          </a:prstGeom>
          <a:solidFill>
            <a:srgbClr val="2B5FC4"/>
          </a:solidFill>
          <a:ln w="12700">
            <a:solidFill>
              <a:srgbClr val="333333"/>
            </a:solidFill>
            <a:prstDash val="solid"/>
          </a:ln>
        </p:spPr>
      </p:sp>
      <p:sp>
        <p:nvSpPr>
          <p:cNvPr id="29" name="Text 26"/>
          <p:cNvSpPr txBox="1"/>
          <p:nvPr/>
        </p:nvSpPr>
        <p:spPr>
          <a:xfrm>
            <a:off x="740664" y="384962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03</a:t>
            </a:r>
            <a:endParaRPr lang="en-US" sz="1100" dirty="0"/>
          </a:p>
        </p:txBody>
      </p:sp>
      <p:sp>
        <p:nvSpPr>
          <p:cNvPr id="30" name="Text 27"/>
          <p:cNvSpPr txBox="1"/>
          <p:nvPr/>
        </p:nvSpPr>
        <p:spPr>
          <a:xfrm>
            <a:off x="1271016" y="3886200"/>
            <a:ext cx="451713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GENUINELY LOCKED FILE</a:t>
            </a:r>
            <a:endParaRPr lang="en-US" sz="1400" dirty="0"/>
          </a:p>
        </p:txBody>
      </p:sp>
      <p:sp>
        <p:nvSpPr>
          <p:cNvPr id="31" name="Shape 28"/>
          <p:cNvSpPr/>
          <p:nvPr/>
        </p:nvSpPr>
        <p:spPr>
          <a:xfrm>
            <a:off x="740664" y="4398264"/>
            <a:ext cx="3712464" cy="384048"/>
          </a:xfrm>
          <a:prstGeom prst="roundRect">
            <a:avLst>
              <a:gd name="adj" fmla="val 14286"/>
            </a:avLst>
          </a:prstGeom>
          <a:solidFill>
            <a:srgbClr val="0C1A30"/>
          </a:solidFill>
          <a:ln w="12700">
            <a:solidFill>
              <a:srgbClr val="3A4F7A"/>
            </a:solidFill>
            <a:prstDash val="solid"/>
          </a:ln>
        </p:spPr>
      </p:sp>
      <p:sp>
        <p:nvSpPr>
          <p:cNvPr id="32" name="Text 29"/>
          <p:cNvSpPr txBox="1"/>
          <p:nvPr/>
        </p:nvSpPr>
        <p:spPr>
          <a:xfrm>
            <a:off x="850392" y="4398264"/>
            <a:ext cx="3520440" cy="384048"/>
          </a:xfrm>
          <a:prstGeom prst="rect">
            <a:avLst/>
          </a:prstGeom>
          <a:noFill/>
          <a:ln/>
        </p:spPr>
        <p:txBody>
          <a:bodyPr wrap="square" lIns="0" tIns="0" rIns="0" bIns="0" rtlCol="0" anchor="ctr"/>
          <a:lstStyle/>
          <a:p>
            <a:pPr indent="0" marL="0">
              <a:buNone/>
            </a:pPr>
            <a:r>
              <a:rPr lang="en-US" sz="1000" dirty="0">
                <a:solidFill>
                  <a:srgbClr val="A9BCDB"/>
                </a:solidFill>
                <a:latin typeface="Calibri" pitchFamily="34" charset="0"/>
                <a:ea typeface="Calibri" pitchFamily="34" charset="-122"/>
                <a:cs typeface="Calibri" pitchFamily="34" charset="-120"/>
              </a:rPr>
              <a:t>File held by another process</a:t>
            </a:r>
            <a:endParaRPr lang="en-US" sz="1000" dirty="0"/>
          </a:p>
        </p:txBody>
      </p:sp>
      <p:sp>
        <p:nvSpPr>
          <p:cNvPr id="33" name="Shape 30"/>
          <p:cNvSpPr/>
          <p:nvPr/>
        </p:nvSpPr>
        <p:spPr>
          <a:xfrm>
            <a:off x="4544568" y="4398264"/>
            <a:ext cx="1243584" cy="384048"/>
          </a:xfrm>
          <a:prstGeom prst="roundRect">
            <a:avLst>
              <a:gd name="adj" fmla="val 14286"/>
            </a:avLst>
          </a:prstGeom>
          <a:solidFill>
            <a:srgbClr val="1E3560"/>
          </a:solidFill>
          <a:ln w="12700">
            <a:solidFill>
              <a:srgbClr val="4F8EF7"/>
            </a:solidFill>
            <a:prstDash val="solid"/>
          </a:ln>
        </p:spPr>
      </p:sp>
      <p:sp>
        <p:nvSpPr>
          <p:cNvPr id="34" name="Text 31"/>
          <p:cNvSpPr txBox="1"/>
          <p:nvPr/>
        </p:nvSpPr>
        <p:spPr>
          <a:xfrm>
            <a:off x="4544568" y="4398264"/>
            <a:ext cx="1243584"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WRITE</a:t>
            </a:r>
            <a:endParaRPr lang="en-US" sz="1000" dirty="0"/>
          </a:p>
        </p:txBody>
      </p:sp>
      <p:sp>
        <p:nvSpPr>
          <p:cNvPr id="35" name="Shape 32"/>
          <p:cNvSpPr/>
          <p:nvPr/>
        </p:nvSpPr>
        <p:spPr>
          <a:xfrm>
            <a:off x="740664" y="4873752"/>
            <a:ext cx="5047488" cy="420624"/>
          </a:xfrm>
          <a:prstGeom prst="roundRect">
            <a:avLst>
              <a:gd name="adj" fmla="val 13043"/>
            </a:avLst>
          </a:prstGeom>
          <a:solidFill>
            <a:srgbClr val="0C1A30"/>
          </a:solidFill>
          <a:ln w="12700">
            <a:solidFill>
              <a:srgbClr val="E8756B"/>
            </a:solidFill>
            <a:prstDash val="solid"/>
          </a:ln>
        </p:spPr>
      </p:sp>
      <p:sp>
        <p:nvSpPr>
          <p:cNvPr id="36" name="Text 33"/>
          <p:cNvSpPr txBox="1"/>
          <p:nvPr/>
        </p:nvSpPr>
        <p:spPr>
          <a:xfrm>
            <a:off x="740664" y="4873752"/>
            <a:ext cx="5047488" cy="420624"/>
          </a:xfrm>
          <a:prstGeom prst="rect">
            <a:avLst/>
          </a:prstGeom>
          <a:noFill/>
          <a:ln/>
        </p:spPr>
        <p:txBody>
          <a:bodyPr wrap="square" lIns="0" tIns="0" rIns="0" bIns="0" rtlCol="0" anchor="ctr"/>
          <a:lstStyle/>
          <a:p>
            <a:pPr algn="ctr" indent="0" marL="0">
              <a:buNone/>
            </a:pPr>
            <a:r>
              <a:rPr lang="en-US" sz="1150" b="1" dirty="0">
                <a:solidFill>
                  <a:srgbClr val="E8756B"/>
                </a:solidFill>
                <a:latin typeface="Courier New" pitchFamily="34" charset="0"/>
                <a:ea typeface="Courier New" pitchFamily="34" charset="-122"/>
                <a:cs typeface="Courier New" pitchFamily="34" charset="-120"/>
              </a:rPr>
              <a:t>FILE_LOCKED</a:t>
            </a:r>
            <a:endParaRPr lang="en-US" sz="1150" dirty="0"/>
          </a:p>
        </p:txBody>
      </p:sp>
      <p:sp>
        <p:nvSpPr>
          <p:cNvPr id="37" name="Text 34"/>
          <p:cNvSpPr txBox="1"/>
          <p:nvPr/>
        </p:nvSpPr>
        <p:spPr>
          <a:xfrm>
            <a:off x="740664" y="5330952"/>
            <a:ext cx="5047488" cy="274320"/>
          </a:xfrm>
          <a:prstGeom prst="rect">
            <a:avLst/>
          </a:prstGeom>
          <a:noFill/>
          <a:ln/>
        </p:spPr>
        <p:txBody>
          <a:bodyPr wrap="square" lIns="0" tIns="0" rIns="0" bIns="0" rtlCol="0" anchor="ctr"/>
          <a:lstStyle/>
          <a:p>
            <a:pPr indent="0" marL="0">
              <a:buNone/>
            </a:pPr>
            <a:r>
              <a:rPr lang="en-US" sz="1000" i="1" dirty="0">
                <a:solidFill>
                  <a:srgbClr val="6E86AE"/>
                </a:solidFill>
                <a:latin typeface="Calibri" pitchFamily="34" charset="0"/>
                <a:ea typeface="Calibri" pitchFamily="34" charset="-122"/>
                <a:cs typeface="Calibri" pitchFamily="34" charset="-120"/>
              </a:rPr>
              <a:t>Process name, PID and executable path shown when returned.</a:t>
            </a:r>
            <a:endParaRPr lang="en-US" sz="1000" dirty="0"/>
          </a:p>
        </p:txBody>
      </p:sp>
      <p:sp>
        <p:nvSpPr>
          <p:cNvPr id="38" name="Shape 35"/>
          <p:cNvSpPr/>
          <p:nvPr/>
        </p:nvSpPr>
        <p:spPr>
          <a:xfrm>
            <a:off x="6245352" y="3630168"/>
            <a:ext cx="5522976" cy="2084832"/>
          </a:xfrm>
          <a:prstGeom prst="roundRect">
            <a:avLst>
              <a:gd name="adj" fmla="val 3509"/>
            </a:avLst>
          </a:prstGeom>
          <a:solidFill>
            <a:srgbClr val="16294A"/>
          </a:solidFill>
          <a:ln w="12700">
            <a:solidFill>
              <a:srgbClr val="2A4374"/>
            </a:solidFill>
            <a:prstDash val="solid"/>
          </a:ln>
          <a:effectLst>
            <a:outerShdw sx="100000" sy="100000" kx="0" ky="0" algn="bl" rotWithShape="0" blurRad="101600" dist="25400" dir="5400000">
              <a:srgbClr val="000000">
                <a:alpha val="35000"/>
              </a:srgbClr>
            </a:outerShdw>
          </a:effectLst>
        </p:spPr>
      </p:sp>
      <p:sp>
        <p:nvSpPr>
          <p:cNvPr id="39" name="Shape 36"/>
          <p:cNvSpPr/>
          <p:nvPr/>
        </p:nvSpPr>
        <p:spPr>
          <a:xfrm>
            <a:off x="6483096" y="3849624"/>
            <a:ext cx="402336" cy="402336"/>
          </a:xfrm>
          <a:prstGeom prst="roundRect">
            <a:avLst>
              <a:gd name="adj" fmla="val 18182"/>
            </a:avLst>
          </a:prstGeom>
          <a:solidFill>
            <a:srgbClr val="2B5FC4"/>
          </a:solidFill>
          <a:ln w="12700">
            <a:solidFill>
              <a:srgbClr val="333333"/>
            </a:solidFill>
            <a:prstDash val="solid"/>
          </a:ln>
        </p:spPr>
      </p:sp>
      <p:sp>
        <p:nvSpPr>
          <p:cNvPr id="40" name="Text 37"/>
          <p:cNvSpPr txBox="1"/>
          <p:nvPr/>
        </p:nvSpPr>
        <p:spPr>
          <a:xfrm>
            <a:off x="6483096" y="384962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04</a:t>
            </a:r>
            <a:endParaRPr lang="en-US" sz="1100" dirty="0"/>
          </a:p>
        </p:txBody>
      </p:sp>
      <p:sp>
        <p:nvSpPr>
          <p:cNvPr id="41" name="Text 38"/>
          <p:cNvSpPr txBox="1"/>
          <p:nvPr/>
        </p:nvSpPr>
        <p:spPr>
          <a:xfrm>
            <a:off x="7013448" y="3886200"/>
            <a:ext cx="451713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NONEXISTENT FILE</a:t>
            </a:r>
            <a:endParaRPr lang="en-US" sz="1400" dirty="0"/>
          </a:p>
        </p:txBody>
      </p:sp>
      <p:sp>
        <p:nvSpPr>
          <p:cNvPr id="42" name="Shape 39"/>
          <p:cNvSpPr/>
          <p:nvPr/>
        </p:nvSpPr>
        <p:spPr>
          <a:xfrm>
            <a:off x="6483096" y="4398264"/>
            <a:ext cx="3712464" cy="384048"/>
          </a:xfrm>
          <a:prstGeom prst="roundRect">
            <a:avLst>
              <a:gd name="adj" fmla="val 14286"/>
            </a:avLst>
          </a:prstGeom>
          <a:solidFill>
            <a:srgbClr val="0C1A30"/>
          </a:solidFill>
          <a:ln w="12700">
            <a:solidFill>
              <a:srgbClr val="3A4F7A"/>
            </a:solidFill>
            <a:prstDash val="solid"/>
          </a:ln>
        </p:spPr>
      </p:sp>
      <p:sp>
        <p:nvSpPr>
          <p:cNvPr id="43" name="Text 40"/>
          <p:cNvSpPr txBox="1"/>
          <p:nvPr/>
        </p:nvSpPr>
        <p:spPr>
          <a:xfrm>
            <a:off x="6592824" y="4398264"/>
            <a:ext cx="3520440" cy="384048"/>
          </a:xfrm>
          <a:prstGeom prst="rect">
            <a:avLst/>
          </a:prstGeom>
          <a:noFill/>
          <a:ln/>
        </p:spPr>
        <p:txBody>
          <a:bodyPr wrap="square" lIns="0" tIns="0" rIns="0" bIns="0" rtlCol="0" anchor="ctr"/>
          <a:lstStyle/>
          <a:p>
            <a:pPr indent="0" marL="0">
              <a:buNone/>
            </a:pPr>
            <a:r>
              <a:rPr lang="en-US" sz="1000" dirty="0">
                <a:solidFill>
                  <a:srgbClr val="A9BCDB"/>
                </a:solidFill>
                <a:latin typeface="Calibri" pitchFamily="34" charset="0"/>
                <a:ea typeface="Calibri" pitchFamily="34" charset="-122"/>
                <a:cs typeface="Calibri" pitchFamily="34" charset="-120"/>
              </a:rPr>
              <a:t>Invalid / nonexistent path</a:t>
            </a:r>
            <a:endParaRPr lang="en-US" sz="1000" dirty="0"/>
          </a:p>
        </p:txBody>
      </p:sp>
      <p:sp>
        <p:nvSpPr>
          <p:cNvPr id="44" name="Shape 41"/>
          <p:cNvSpPr/>
          <p:nvPr/>
        </p:nvSpPr>
        <p:spPr>
          <a:xfrm>
            <a:off x="10287000" y="4398264"/>
            <a:ext cx="1243584" cy="384048"/>
          </a:xfrm>
          <a:prstGeom prst="roundRect">
            <a:avLst>
              <a:gd name="adj" fmla="val 14286"/>
            </a:avLst>
          </a:prstGeom>
          <a:solidFill>
            <a:srgbClr val="1E3560"/>
          </a:solidFill>
          <a:ln w="12700">
            <a:solidFill>
              <a:srgbClr val="4F8EF7"/>
            </a:solidFill>
            <a:prstDash val="solid"/>
          </a:ln>
        </p:spPr>
      </p:sp>
      <p:sp>
        <p:nvSpPr>
          <p:cNvPr id="45" name="Text 42"/>
          <p:cNvSpPr txBox="1"/>
          <p:nvPr/>
        </p:nvSpPr>
        <p:spPr>
          <a:xfrm>
            <a:off x="10287000" y="4398264"/>
            <a:ext cx="1243584"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a:t>
            </a:r>
            <a:endParaRPr lang="en-US" sz="1000" dirty="0"/>
          </a:p>
        </p:txBody>
      </p:sp>
      <p:sp>
        <p:nvSpPr>
          <p:cNvPr id="46" name="Shape 43"/>
          <p:cNvSpPr/>
          <p:nvPr/>
        </p:nvSpPr>
        <p:spPr>
          <a:xfrm>
            <a:off x="6483096" y="4873752"/>
            <a:ext cx="5047488" cy="420624"/>
          </a:xfrm>
          <a:prstGeom prst="roundRect">
            <a:avLst>
              <a:gd name="adj" fmla="val 13043"/>
            </a:avLst>
          </a:prstGeom>
          <a:solidFill>
            <a:srgbClr val="0C1A30"/>
          </a:solidFill>
          <a:ln w="12700">
            <a:solidFill>
              <a:srgbClr val="F5A524"/>
            </a:solidFill>
            <a:prstDash val="solid"/>
          </a:ln>
        </p:spPr>
      </p:sp>
      <p:sp>
        <p:nvSpPr>
          <p:cNvPr id="47" name="Text 44"/>
          <p:cNvSpPr txBox="1"/>
          <p:nvPr/>
        </p:nvSpPr>
        <p:spPr>
          <a:xfrm>
            <a:off x="6483096" y="4873752"/>
            <a:ext cx="5047488" cy="420624"/>
          </a:xfrm>
          <a:prstGeom prst="rect">
            <a:avLst/>
          </a:prstGeom>
          <a:noFill/>
          <a:ln/>
        </p:spPr>
        <p:txBody>
          <a:bodyPr wrap="square" lIns="0" tIns="0" rIns="0" bIns="0" rtlCol="0" anchor="ctr"/>
          <a:lstStyle/>
          <a:p>
            <a:pPr algn="ctr" indent="0" marL="0">
              <a:buNone/>
            </a:pPr>
            <a:r>
              <a:rPr lang="en-US" sz="1150" b="1" dirty="0">
                <a:solidFill>
                  <a:srgbClr val="F5A524"/>
                </a:solidFill>
                <a:latin typeface="Courier New" pitchFamily="34" charset="0"/>
                <a:ea typeface="Courier New" pitchFamily="34" charset="-122"/>
                <a:cs typeface="Courier New" pitchFamily="34" charset="-120"/>
              </a:rPr>
              <a:t>FILE_NOT_FOUND</a:t>
            </a:r>
            <a:endParaRPr lang="en-US" sz="1150" dirty="0"/>
          </a:p>
        </p:txBody>
      </p:sp>
      <p:sp>
        <p:nvSpPr>
          <p:cNvPr id="48" name="Text 45"/>
          <p:cNvSpPr txBox="1"/>
          <p:nvPr/>
        </p:nvSpPr>
        <p:spPr>
          <a:xfrm>
            <a:off x="6483096" y="5330952"/>
            <a:ext cx="5047488" cy="274320"/>
          </a:xfrm>
          <a:prstGeom prst="rect">
            <a:avLst/>
          </a:prstGeom>
          <a:noFill/>
          <a:ln/>
        </p:spPr>
        <p:txBody>
          <a:bodyPr wrap="square" lIns="0" tIns="0" rIns="0" bIns="0" rtlCol="0" anchor="ctr"/>
          <a:lstStyle/>
          <a:p>
            <a:pPr indent="0" marL="0">
              <a:buNone/>
            </a:pPr>
            <a:r>
              <a:rPr lang="en-US" sz="1000" i="1" dirty="0">
                <a:solidFill>
                  <a:srgbClr val="6E86AE"/>
                </a:solidFill>
                <a:latin typeface="Calibri" pitchFamily="34" charset="0"/>
                <a:ea typeface="Calibri" pitchFamily="34" charset="-122"/>
                <a:cs typeface="Calibri" pitchFamily="34" charset="-120"/>
              </a:rPr>
              <a:t>Validation stops the flow before any analyzer runs.</a:t>
            </a:r>
            <a:endParaRPr lang="en-US" sz="1000" dirty="0"/>
          </a:p>
        </p:txBody>
      </p:sp>
      <p:sp>
        <p:nvSpPr>
          <p:cNvPr id="49" name="Shape 46"/>
          <p:cNvSpPr/>
          <p:nvPr/>
        </p:nvSpPr>
        <p:spPr>
          <a:xfrm>
            <a:off x="502920" y="6144768"/>
            <a:ext cx="11185855" cy="420624"/>
          </a:xfrm>
          <a:prstGeom prst="roundRect">
            <a:avLst>
              <a:gd name="adj" fmla="val 17391"/>
            </a:avLst>
          </a:prstGeom>
          <a:solidFill>
            <a:srgbClr val="16294A"/>
          </a:solidFill>
          <a:ln w="12700">
            <a:solidFill>
              <a:srgbClr val="2B5FC4"/>
            </a:solidFill>
            <a:prstDash val="solid"/>
          </a:ln>
        </p:spPr>
      </p:sp>
      <p:sp>
        <p:nvSpPr>
          <p:cNvPr id="50" name="Text 47"/>
          <p:cNvSpPr txBox="1"/>
          <p:nvPr/>
        </p:nvSpPr>
        <p:spPr>
          <a:xfrm>
            <a:off x="667512" y="6144768"/>
            <a:ext cx="10856671" cy="420624"/>
          </a:xfrm>
          <a:prstGeom prst="rect">
            <a:avLst/>
          </a:prstGeom>
          <a:noFill/>
          <a:ln/>
        </p:spPr>
        <p:txBody>
          <a:bodyPr wrap="square" lIns="0" tIns="0" rIns="0" bIns="0" rtlCol="0" anchor="ctr"/>
          <a:lstStyle/>
          <a:p>
            <a:pPr indent="0" marL="0">
              <a:buNone/>
            </a:pPr>
            <a:r>
              <a:rPr lang="en-US" sz="1050" i="1" dirty="0">
                <a:solidFill>
                  <a:srgbClr val="A9BCDB"/>
                </a:solidFill>
                <a:latin typeface="Calibri" pitchFamily="34" charset="0"/>
                <a:ea typeface="Calibri" pitchFamily="34" charset="-122"/>
                <a:cs typeface="Calibri" pitchFamily="34" charset="-120"/>
              </a:rPr>
              <a:t>All four scenarios are demonstrated against real operating-system conditions on Windows — no mock data, no fabricated process names, PIDs or permission values.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1A30"/>
        </a:solidFill>
      </p:bgPr>
    </p:bg>
    <p:spTree>
      <p:nvGrpSpPr>
        <p:cNvPr id="1" name=""/>
        <p:cNvGrpSpPr/>
        <p:nvPr/>
      </p:nvGrpSpPr>
      <p:grpSpPr>
        <a:xfrm>
          <a:off x="0" y="0"/>
          <a:ext cx="0" cy="0"/>
          <a:chOff x="0" y="0"/>
          <a:chExt cx="0" cy="0"/>
        </a:xfrm>
      </p:grpSpPr>
      <p:sp>
        <p:nvSpPr>
          <p:cNvPr id="3" name="Text 0"/>
          <p:cNvSpPr txBox="1"/>
          <p:nvPr/>
        </p:nvSpPr>
        <p:spPr>
          <a:xfrm>
            <a:off x="502920" y="292608"/>
            <a:ext cx="10058400" cy="237744"/>
          </a:xfrm>
          <a:prstGeom prst="rect">
            <a:avLst/>
          </a:prstGeom>
          <a:noFill/>
          <a:ln/>
        </p:spPr>
        <p:txBody>
          <a:bodyPr wrap="square" lIns="0" tIns="0" rIns="0" bIns="0" rtlCol="0" anchor="ctr"/>
          <a:lstStyle/>
          <a:p>
            <a:pPr indent="0" marL="0">
              <a:buNone/>
            </a:pPr>
            <a:r>
              <a:rPr lang="en-US" sz="1100" b="1" spc="200" kern="0" dirty="0">
                <a:solidFill>
                  <a:srgbClr val="4F8EF7"/>
                </a:solidFill>
                <a:latin typeface="Calibri" pitchFamily="34" charset="0"/>
                <a:ea typeface="Calibri" pitchFamily="34" charset="-122"/>
                <a:cs typeface="Calibri" pitchFamily="34" charset="-120"/>
              </a:rPr>
              <a:t>SLIDE 12</a:t>
            </a:r>
            <a:endParaRPr lang="en-US" sz="1100" dirty="0"/>
          </a:p>
        </p:txBody>
      </p:sp>
      <p:sp>
        <p:nvSpPr>
          <p:cNvPr id="4" name="Text 1"/>
          <p:cNvSpPr txBox="1"/>
          <p:nvPr/>
        </p:nvSpPr>
        <p:spPr>
          <a:xfrm>
            <a:off x="502920" y="530352"/>
            <a:ext cx="11155680" cy="56692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 &amp; Next Work</a:t>
            </a:r>
            <a:endParaRPr lang="en-US" sz="3000" dirty="0"/>
          </a:p>
        </p:txBody>
      </p:sp>
      <p:sp>
        <p:nvSpPr>
          <p:cNvPr id="5" name="Shape 2"/>
          <p:cNvSpPr/>
          <p:nvPr/>
        </p:nvSpPr>
        <p:spPr>
          <a:xfrm>
            <a:off x="502920" y="1325880"/>
            <a:ext cx="5522976" cy="4041648"/>
          </a:xfrm>
          <a:prstGeom prst="roundRect">
            <a:avLst>
              <a:gd name="adj" fmla="val 1810"/>
            </a:avLst>
          </a:prstGeom>
          <a:solidFill>
            <a:srgbClr val="16294A"/>
          </a:solidFill>
          <a:ln w="12700">
            <a:solidFill>
              <a:srgbClr val="2DD4A7"/>
            </a:solidFill>
            <a:prstDash val="solid"/>
          </a:ln>
          <a:effectLst>
            <a:outerShdw sx="100000" sy="100000" kx="0" ky="0" algn="bl" rotWithShape="0" blurRad="101600" dist="25400" dir="5400000">
              <a:srgbClr val="000000">
                <a:alpha val="35000"/>
              </a:srgbClr>
            </a:outerShdw>
          </a:effectLst>
        </p:spPr>
      </p:sp>
      <p:sp>
        <p:nvSpPr>
          <p:cNvPr id="6" name="Shape 3"/>
          <p:cNvSpPr/>
          <p:nvPr/>
        </p:nvSpPr>
        <p:spPr>
          <a:xfrm>
            <a:off x="777240" y="1554480"/>
            <a:ext cx="146304" cy="146304"/>
          </a:xfrm>
          <a:prstGeom prst="ellipse">
            <a:avLst/>
          </a:prstGeom>
          <a:solidFill>
            <a:srgbClr val="2DD4A7"/>
          </a:solidFill>
          <a:ln w="12700">
            <a:solidFill>
              <a:srgbClr val="333333"/>
            </a:solidFill>
            <a:prstDash val="solid"/>
          </a:ln>
        </p:spPr>
      </p:sp>
      <p:sp>
        <p:nvSpPr>
          <p:cNvPr id="7" name="Text 4"/>
          <p:cNvSpPr txBox="1"/>
          <p:nvPr/>
        </p:nvSpPr>
        <p:spPr>
          <a:xfrm>
            <a:off x="1014984" y="1472184"/>
            <a:ext cx="3657600" cy="274320"/>
          </a:xfrm>
          <a:prstGeom prst="rect">
            <a:avLst/>
          </a:prstGeom>
          <a:noFill/>
          <a:ln/>
        </p:spPr>
        <p:txBody>
          <a:bodyPr wrap="square" lIns="0" tIns="0" rIns="0" bIns="0" rtlCol="0" anchor="ctr"/>
          <a:lstStyle/>
          <a:p>
            <a:pPr indent="0" marL="0">
              <a:buNone/>
            </a:pPr>
            <a:r>
              <a:rPr lang="en-US" sz="1250" b="1" spc="100" kern="0" dirty="0">
                <a:solidFill>
                  <a:srgbClr val="2DD4A7"/>
                </a:solidFill>
                <a:latin typeface="Calibri" pitchFamily="34" charset="0"/>
                <a:ea typeface="Calibri" pitchFamily="34" charset="-122"/>
                <a:cs typeface="Calibri" pitchFamily="34" charset="-120"/>
              </a:rPr>
              <a:t>DELIVERED SO FAR</a:t>
            </a:r>
            <a:endParaRPr lang="en-US" sz="1250" dirty="0"/>
          </a:p>
        </p:txBody>
      </p:sp>
      <p:sp>
        <p:nvSpPr>
          <p:cNvPr id="8" name="Shape 5"/>
          <p:cNvSpPr/>
          <p:nvPr/>
        </p:nvSpPr>
        <p:spPr>
          <a:xfrm>
            <a:off x="795528" y="2011680"/>
            <a:ext cx="201168" cy="201168"/>
          </a:xfrm>
          <a:prstGeom prst="ellipse">
            <a:avLst/>
          </a:prstGeom>
          <a:solidFill>
            <a:srgbClr val="2DD4A7"/>
          </a:solidFill>
          <a:ln w="12700">
            <a:solidFill>
              <a:srgbClr val="333333"/>
            </a:solidFill>
            <a:prstDash val="solid"/>
          </a:ln>
        </p:spPr>
      </p:sp>
      <p:sp>
        <p:nvSpPr>
          <p:cNvPr id="9" name="Text 6"/>
          <p:cNvSpPr txBox="1"/>
          <p:nvPr/>
        </p:nvSpPr>
        <p:spPr>
          <a:xfrm>
            <a:off x="795528" y="2011680"/>
            <a:ext cx="201168" cy="201168"/>
          </a:xfrm>
          <a:prstGeom prst="rect">
            <a:avLst/>
          </a:prstGeom>
          <a:noFill/>
          <a:ln/>
        </p:spPr>
        <p:txBody>
          <a:bodyPr wrap="square" lIns="0" tIns="0" rIns="0" bIns="0" rtlCol="0" anchor="ctr"/>
          <a:lstStyle/>
          <a:p>
            <a:pPr algn="ctr" indent="0" marL="0">
              <a:buNone/>
            </a:pPr>
            <a:r>
              <a:rPr lang="en-US" sz="950" b="1" dirty="0">
                <a:solidFill>
                  <a:srgbClr val="0C1A30"/>
                </a:solidFill>
                <a:latin typeface="Calibri" pitchFamily="34" charset="0"/>
                <a:ea typeface="Calibri" pitchFamily="34" charset="-122"/>
                <a:cs typeface="Calibri" pitchFamily="34" charset="-120"/>
              </a:rPr>
              <a:t>✓</a:t>
            </a:r>
            <a:endParaRPr lang="en-US" sz="950" dirty="0"/>
          </a:p>
        </p:txBody>
      </p:sp>
      <p:sp>
        <p:nvSpPr>
          <p:cNvPr id="10" name="Text 7"/>
          <p:cNvSpPr txBox="1"/>
          <p:nvPr/>
        </p:nvSpPr>
        <p:spPr>
          <a:xfrm>
            <a:off x="1124712" y="1956816"/>
            <a:ext cx="4663440" cy="31089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Modular OS-level diagnostic architecture</a:t>
            </a:r>
            <a:endParaRPr lang="en-US" sz="1300" dirty="0"/>
          </a:p>
        </p:txBody>
      </p:sp>
      <p:sp>
        <p:nvSpPr>
          <p:cNvPr id="11" name="Shape 8"/>
          <p:cNvSpPr/>
          <p:nvPr/>
        </p:nvSpPr>
        <p:spPr>
          <a:xfrm>
            <a:off x="795528" y="2414016"/>
            <a:ext cx="201168" cy="201168"/>
          </a:xfrm>
          <a:prstGeom prst="ellipse">
            <a:avLst/>
          </a:prstGeom>
          <a:solidFill>
            <a:srgbClr val="2DD4A7"/>
          </a:solidFill>
          <a:ln w="12700">
            <a:solidFill>
              <a:srgbClr val="333333"/>
            </a:solidFill>
            <a:prstDash val="solid"/>
          </a:ln>
        </p:spPr>
      </p:sp>
      <p:sp>
        <p:nvSpPr>
          <p:cNvPr id="12" name="Text 9"/>
          <p:cNvSpPr txBox="1"/>
          <p:nvPr/>
        </p:nvSpPr>
        <p:spPr>
          <a:xfrm>
            <a:off x="795528" y="2414016"/>
            <a:ext cx="201168" cy="201168"/>
          </a:xfrm>
          <a:prstGeom prst="rect">
            <a:avLst/>
          </a:prstGeom>
          <a:noFill/>
          <a:ln/>
        </p:spPr>
        <p:txBody>
          <a:bodyPr wrap="square" lIns="0" tIns="0" rIns="0" bIns="0" rtlCol="0" anchor="ctr"/>
          <a:lstStyle/>
          <a:p>
            <a:pPr algn="ctr" indent="0" marL="0">
              <a:buNone/>
            </a:pPr>
            <a:r>
              <a:rPr lang="en-US" sz="950" b="1" dirty="0">
                <a:solidFill>
                  <a:srgbClr val="0C1A30"/>
                </a:solidFill>
                <a:latin typeface="Calibri" pitchFamily="34" charset="0"/>
                <a:ea typeface="Calibri" pitchFamily="34" charset="-122"/>
                <a:cs typeface="Calibri" pitchFamily="34" charset="-120"/>
              </a:rPr>
              <a:t>✓</a:t>
            </a:r>
            <a:endParaRPr lang="en-US" sz="950" dirty="0"/>
          </a:p>
        </p:txBody>
      </p:sp>
      <p:sp>
        <p:nvSpPr>
          <p:cNvPr id="13" name="Text 10"/>
          <p:cNvSpPr txBox="1"/>
          <p:nvPr/>
        </p:nvSpPr>
        <p:spPr>
          <a:xfrm>
            <a:off x="1124712" y="2359152"/>
            <a:ext cx="4663440" cy="31089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Four peer analyzer design</a:t>
            </a:r>
            <a:endParaRPr lang="en-US" sz="1300" dirty="0"/>
          </a:p>
        </p:txBody>
      </p:sp>
      <p:sp>
        <p:nvSpPr>
          <p:cNvPr id="14" name="Shape 11"/>
          <p:cNvSpPr/>
          <p:nvPr/>
        </p:nvSpPr>
        <p:spPr>
          <a:xfrm>
            <a:off x="795528" y="2816352"/>
            <a:ext cx="201168" cy="201168"/>
          </a:xfrm>
          <a:prstGeom prst="ellipse">
            <a:avLst/>
          </a:prstGeom>
          <a:solidFill>
            <a:srgbClr val="2DD4A7"/>
          </a:solidFill>
          <a:ln w="12700">
            <a:solidFill>
              <a:srgbClr val="333333"/>
            </a:solidFill>
            <a:prstDash val="solid"/>
          </a:ln>
        </p:spPr>
      </p:sp>
      <p:sp>
        <p:nvSpPr>
          <p:cNvPr id="15" name="Text 12"/>
          <p:cNvSpPr txBox="1"/>
          <p:nvPr/>
        </p:nvSpPr>
        <p:spPr>
          <a:xfrm>
            <a:off x="795528" y="2816352"/>
            <a:ext cx="201168" cy="201168"/>
          </a:xfrm>
          <a:prstGeom prst="rect">
            <a:avLst/>
          </a:prstGeom>
          <a:noFill/>
          <a:ln/>
        </p:spPr>
        <p:txBody>
          <a:bodyPr wrap="square" lIns="0" tIns="0" rIns="0" bIns="0" rtlCol="0" anchor="ctr"/>
          <a:lstStyle/>
          <a:p>
            <a:pPr algn="ctr" indent="0" marL="0">
              <a:buNone/>
            </a:pPr>
            <a:r>
              <a:rPr lang="en-US" sz="950" b="1" dirty="0">
                <a:solidFill>
                  <a:srgbClr val="0C1A30"/>
                </a:solidFill>
                <a:latin typeface="Calibri" pitchFamily="34" charset="0"/>
                <a:ea typeface="Calibri" pitchFamily="34" charset="-122"/>
                <a:cs typeface="Calibri" pitchFamily="34" charset="-120"/>
              </a:rPr>
              <a:t>✓</a:t>
            </a:r>
            <a:endParaRPr lang="en-US" sz="950" dirty="0"/>
          </a:p>
        </p:txBody>
      </p:sp>
      <p:sp>
        <p:nvSpPr>
          <p:cNvPr id="16" name="Text 13"/>
          <p:cNvSpPr txBox="1"/>
          <p:nvPr/>
        </p:nvSpPr>
        <p:spPr>
          <a:xfrm>
            <a:off x="1124712" y="2761488"/>
            <a:ext cx="4663440" cy="31089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Real Windows API integration</a:t>
            </a:r>
            <a:endParaRPr lang="en-US" sz="1300" dirty="0"/>
          </a:p>
        </p:txBody>
      </p:sp>
      <p:sp>
        <p:nvSpPr>
          <p:cNvPr id="17" name="Shape 14"/>
          <p:cNvSpPr/>
          <p:nvPr/>
        </p:nvSpPr>
        <p:spPr>
          <a:xfrm>
            <a:off x="795528" y="3218688"/>
            <a:ext cx="201168" cy="201168"/>
          </a:xfrm>
          <a:prstGeom prst="ellipse">
            <a:avLst/>
          </a:prstGeom>
          <a:solidFill>
            <a:srgbClr val="2DD4A7"/>
          </a:solidFill>
          <a:ln w="12700">
            <a:solidFill>
              <a:srgbClr val="333333"/>
            </a:solidFill>
            <a:prstDash val="solid"/>
          </a:ln>
        </p:spPr>
      </p:sp>
      <p:sp>
        <p:nvSpPr>
          <p:cNvPr id="18" name="Text 15"/>
          <p:cNvSpPr txBox="1"/>
          <p:nvPr/>
        </p:nvSpPr>
        <p:spPr>
          <a:xfrm>
            <a:off x="795528" y="3218688"/>
            <a:ext cx="201168" cy="201168"/>
          </a:xfrm>
          <a:prstGeom prst="rect">
            <a:avLst/>
          </a:prstGeom>
          <a:noFill/>
          <a:ln/>
        </p:spPr>
        <p:txBody>
          <a:bodyPr wrap="square" lIns="0" tIns="0" rIns="0" bIns="0" rtlCol="0" anchor="ctr"/>
          <a:lstStyle/>
          <a:p>
            <a:pPr algn="ctr" indent="0" marL="0">
              <a:buNone/>
            </a:pPr>
            <a:r>
              <a:rPr lang="en-US" sz="950" b="1" dirty="0">
                <a:solidFill>
                  <a:srgbClr val="0C1A30"/>
                </a:solidFill>
                <a:latin typeface="Calibri" pitchFamily="34" charset="0"/>
                <a:ea typeface="Calibri" pitchFamily="34" charset="-122"/>
                <a:cs typeface="Calibri" pitchFamily="34" charset="-120"/>
              </a:rPr>
              <a:t>✓</a:t>
            </a:r>
            <a:endParaRPr lang="en-US" sz="950" dirty="0"/>
          </a:p>
        </p:txBody>
      </p:sp>
      <p:sp>
        <p:nvSpPr>
          <p:cNvPr id="19" name="Text 16"/>
          <p:cNvSpPr txBox="1"/>
          <p:nvPr/>
        </p:nvSpPr>
        <p:spPr>
          <a:xfrm>
            <a:off x="1124712" y="3163824"/>
            <a:ext cx="4663440" cy="31089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Real process-lock detection</a:t>
            </a:r>
            <a:endParaRPr lang="en-US" sz="1300" dirty="0"/>
          </a:p>
        </p:txBody>
      </p:sp>
      <p:sp>
        <p:nvSpPr>
          <p:cNvPr id="20" name="Shape 17"/>
          <p:cNvSpPr/>
          <p:nvPr/>
        </p:nvSpPr>
        <p:spPr>
          <a:xfrm>
            <a:off x="795528" y="3621024"/>
            <a:ext cx="201168" cy="201168"/>
          </a:xfrm>
          <a:prstGeom prst="ellipse">
            <a:avLst/>
          </a:prstGeom>
          <a:solidFill>
            <a:srgbClr val="2DD4A7"/>
          </a:solidFill>
          <a:ln w="12700">
            <a:solidFill>
              <a:srgbClr val="333333"/>
            </a:solidFill>
            <a:prstDash val="solid"/>
          </a:ln>
        </p:spPr>
      </p:sp>
      <p:sp>
        <p:nvSpPr>
          <p:cNvPr id="21" name="Text 18"/>
          <p:cNvSpPr txBox="1"/>
          <p:nvPr/>
        </p:nvSpPr>
        <p:spPr>
          <a:xfrm>
            <a:off x="795528" y="3621024"/>
            <a:ext cx="201168" cy="201168"/>
          </a:xfrm>
          <a:prstGeom prst="rect">
            <a:avLst/>
          </a:prstGeom>
          <a:noFill/>
          <a:ln/>
        </p:spPr>
        <p:txBody>
          <a:bodyPr wrap="square" lIns="0" tIns="0" rIns="0" bIns="0" rtlCol="0" anchor="ctr"/>
          <a:lstStyle/>
          <a:p>
            <a:pPr algn="ctr" indent="0" marL="0">
              <a:buNone/>
            </a:pPr>
            <a:r>
              <a:rPr lang="en-US" sz="950" b="1" dirty="0">
                <a:solidFill>
                  <a:srgbClr val="0C1A30"/>
                </a:solidFill>
                <a:latin typeface="Calibri" pitchFamily="34" charset="0"/>
                <a:ea typeface="Calibri" pitchFamily="34" charset="-122"/>
                <a:cs typeface="Calibri" pitchFamily="34" charset="-120"/>
              </a:rPr>
              <a:t>✓</a:t>
            </a:r>
            <a:endParaRPr lang="en-US" sz="950" dirty="0"/>
          </a:p>
        </p:txBody>
      </p:sp>
      <p:sp>
        <p:nvSpPr>
          <p:cNvPr id="22" name="Text 19"/>
          <p:cNvSpPr txBox="1"/>
          <p:nvPr/>
        </p:nvSpPr>
        <p:spPr>
          <a:xfrm>
            <a:off x="1124712" y="3566160"/>
            <a:ext cx="4663440" cy="31089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Real permission / ownership analysis</a:t>
            </a:r>
            <a:endParaRPr lang="en-US" sz="1300" dirty="0"/>
          </a:p>
        </p:txBody>
      </p:sp>
      <p:sp>
        <p:nvSpPr>
          <p:cNvPr id="23" name="Shape 20"/>
          <p:cNvSpPr/>
          <p:nvPr/>
        </p:nvSpPr>
        <p:spPr>
          <a:xfrm>
            <a:off x="795528" y="4023360"/>
            <a:ext cx="201168" cy="201168"/>
          </a:xfrm>
          <a:prstGeom prst="ellipse">
            <a:avLst/>
          </a:prstGeom>
          <a:solidFill>
            <a:srgbClr val="2DD4A7"/>
          </a:solidFill>
          <a:ln w="12700">
            <a:solidFill>
              <a:srgbClr val="333333"/>
            </a:solidFill>
            <a:prstDash val="solid"/>
          </a:ln>
        </p:spPr>
      </p:sp>
      <p:sp>
        <p:nvSpPr>
          <p:cNvPr id="24" name="Text 21"/>
          <p:cNvSpPr txBox="1"/>
          <p:nvPr/>
        </p:nvSpPr>
        <p:spPr>
          <a:xfrm>
            <a:off x="795528" y="4023360"/>
            <a:ext cx="201168" cy="201168"/>
          </a:xfrm>
          <a:prstGeom prst="rect">
            <a:avLst/>
          </a:prstGeom>
          <a:noFill/>
          <a:ln/>
        </p:spPr>
        <p:txBody>
          <a:bodyPr wrap="square" lIns="0" tIns="0" rIns="0" bIns="0" rtlCol="0" anchor="ctr"/>
          <a:lstStyle/>
          <a:p>
            <a:pPr algn="ctr" indent="0" marL="0">
              <a:buNone/>
            </a:pPr>
            <a:r>
              <a:rPr lang="en-US" sz="950" b="1" dirty="0">
                <a:solidFill>
                  <a:srgbClr val="0C1A30"/>
                </a:solidFill>
                <a:latin typeface="Calibri" pitchFamily="34" charset="0"/>
                <a:ea typeface="Calibri" pitchFamily="34" charset="-122"/>
                <a:cs typeface="Calibri" pitchFamily="34" charset="-120"/>
              </a:rPr>
              <a:t>✓</a:t>
            </a:r>
            <a:endParaRPr lang="en-US" sz="950" dirty="0"/>
          </a:p>
        </p:txBody>
      </p:sp>
      <p:sp>
        <p:nvSpPr>
          <p:cNvPr id="25" name="Text 22"/>
          <p:cNvSpPr txBox="1"/>
          <p:nvPr/>
        </p:nvSpPr>
        <p:spPr>
          <a:xfrm>
            <a:off x="1124712" y="3968496"/>
            <a:ext cx="4663440" cy="31089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Working Diagnosis Engine</a:t>
            </a:r>
            <a:endParaRPr lang="en-US" sz="1300" dirty="0"/>
          </a:p>
        </p:txBody>
      </p:sp>
      <p:sp>
        <p:nvSpPr>
          <p:cNvPr id="26" name="Shape 23"/>
          <p:cNvSpPr/>
          <p:nvPr/>
        </p:nvSpPr>
        <p:spPr>
          <a:xfrm>
            <a:off x="795528" y="4425696"/>
            <a:ext cx="201168" cy="201168"/>
          </a:xfrm>
          <a:prstGeom prst="ellipse">
            <a:avLst/>
          </a:prstGeom>
          <a:solidFill>
            <a:srgbClr val="2DD4A7"/>
          </a:solidFill>
          <a:ln w="12700">
            <a:solidFill>
              <a:srgbClr val="333333"/>
            </a:solidFill>
            <a:prstDash val="solid"/>
          </a:ln>
        </p:spPr>
      </p:sp>
      <p:sp>
        <p:nvSpPr>
          <p:cNvPr id="27" name="Text 24"/>
          <p:cNvSpPr txBox="1"/>
          <p:nvPr/>
        </p:nvSpPr>
        <p:spPr>
          <a:xfrm>
            <a:off x="795528" y="4425696"/>
            <a:ext cx="201168" cy="201168"/>
          </a:xfrm>
          <a:prstGeom prst="rect">
            <a:avLst/>
          </a:prstGeom>
          <a:noFill/>
          <a:ln/>
        </p:spPr>
        <p:txBody>
          <a:bodyPr wrap="square" lIns="0" tIns="0" rIns="0" bIns="0" rtlCol="0" anchor="ctr"/>
          <a:lstStyle/>
          <a:p>
            <a:pPr algn="ctr" indent="0" marL="0">
              <a:buNone/>
            </a:pPr>
            <a:r>
              <a:rPr lang="en-US" sz="950" b="1" dirty="0">
                <a:solidFill>
                  <a:srgbClr val="0C1A30"/>
                </a:solidFill>
                <a:latin typeface="Calibri" pitchFamily="34" charset="0"/>
                <a:ea typeface="Calibri" pitchFamily="34" charset="-122"/>
                <a:cs typeface="Calibri" pitchFamily="34" charset="-120"/>
              </a:rPr>
              <a:t>✓</a:t>
            </a:r>
            <a:endParaRPr lang="en-US" sz="950" dirty="0"/>
          </a:p>
        </p:txBody>
      </p:sp>
      <p:sp>
        <p:nvSpPr>
          <p:cNvPr id="28" name="Text 25"/>
          <p:cNvSpPr txBox="1"/>
          <p:nvPr/>
        </p:nvSpPr>
        <p:spPr>
          <a:xfrm>
            <a:off x="1124712" y="4370832"/>
            <a:ext cx="4663440" cy="31089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Working Tkinter desktop prototype</a:t>
            </a:r>
            <a:endParaRPr lang="en-US" sz="1300" dirty="0"/>
          </a:p>
        </p:txBody>
      </p:sp>
      <p:sp>
        <p:nvSpPr>
          <p:cNvPr id="29" name="Shape 26"/>
          <p:cNvSpPr/>
          <p:nvPr/>
        </p:nvSpPr>
        <p:spPr>
          <a:xfrm>
            <a:off x="795528" y="4828032"/>
            <a:ext cx="201168" cy="201168"/>
          </a:xfrm>
          <a:prstGeom prst="ellipse">
            <a:avLst/>
          </a:prstGeom>
          <a:solidFill>
            <a:srgbClr val="2DD4A7"/>
          </a:solidFill>
          <a:ln w="12700">
            <a:solidFill>
              <a:srgbClr val="333333"/>
            </a:solidFill>
            <a:prstDash val="solid"/>
          </a:ln>
        </p:spPr>
      </p:sp>
      <p:sp>
        <p:nvSpPr>
          <p:cNvPr id="30" name="Text 27"/>
          <p:cNvSpPr txBox="1"/>
          <p:nvPr/>
        </p:nvSpPr>
        <p:spPr>
          <a:xfrm>
            <a:off x="795528" y="4828032"/>
            <a:ext cx="201168" cy="201168"/>
          </a:xfrm>
          <a:prstGeom prst="rect">
            <a:avLst/>
          </a:prstGeom>
          <a:noFill/>
          <a:ln/>
        </p:spPr>
        <p:txBody>
          <a:bodyPr wrap="square" lIns="0" tIns="0" rIns="0" bIns="0" rtlCol="0" anchor="ctr"/>
          <a:lstStyle/>
          <a:p>
            <a:pPr algn="ctr" indent="0" marL="0">
              <a:buNone/>
            </a:pPr>
            <a:r>
              <a:rPr lang="en-US" sz="950" b="1" dirty="0">
                <a:solidFill>
                  <a:srgbClr val="0C1A30"/>
                </a:solidFill>
                <a:latin typeface="Calibri" pitchFamily="34" charset="0"/>
                <a:ea typeface="Calibri" pitchFamily="34" charset="-122"/>
                <a:cs typeface="Calibri" pitchFamily="34" charset="-120"/>
              </a:rPr>
              <a:t>✓</a:t>
            </a:r>
            <a:endParaRPr lang="en-US" sz="950" dirty="0"/>
          </a:p>
        </p:txBody>
      </p:sp>
      <p:sp>
        <p:nvSpPr>
          <p:cNvPr id="31" name="Text 28"/>
          <p:cNvSpPr txBox="1"/>
          <p:nvPr/>
        </p:nvSpPr>
        <p:spPr>
          <a:xfrm>
            <a:off x="1124712" y="4773168"/>
            <a:ext cx="4663440" cy="310896"/>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Safe recommendation output</a:t>
            </a:r>
            <a:endParaRPr lang="en-US" sz="1300" dirty="0"/>
          </a:p>
        </p:txBody>
      </p:sp>
      <p:sp>
        <p:nvSpPr>
          <p:cNvPr id="32" name="Shape 29"/>
          <p:cNvSpPr/>
          <p:nvPr/>
        </p:nvSpPr>
        <p:spPr>
          <a:xfrm>
            <a:off x="6245352" y="1325880"/>
            <a:ext cx="5440680" cy="4041648"/>
          </a:xfrm>
          <a:prstGeom prst="roundRect">
            <a:avLst>
              <a:gd name="adj" fmla="val 1810"/>
            </a:avLst>
          </a:prstGeom>
          <a:solidFill>
            <a:srgbClr val="0C1A30"/>
          </a:solidFill>
          <a:ln w="12700">
            <a:solidFill>
              <a:srgbClr val="F5A524"/>
            </a:solidFill>
            <a:prstDash val="dash"/>
          </a:ln>
        </p:spPr>
      </p:sp>
      <p:sp>
        <p:nvSpPr>
          <p:cNvPr id="33" name="Shape 30"/>
          <p:cNvSpPr/>
          <p:nvPr/>
        </p:nvSpPr>
        <p:spPr>
          <a:xfrm>
            <a:off x="6519672" y="1554480"/>
            <a:ext cx="146304" cy="146304"/>
          </a:xfrm>
          <a:prstGeom prst="ellipse">
            <a:avLst/>
          </a:prstGeom>
          <a:solidFill>
            <a:srgbClr val="F5A524"/>
          </a:solidFill>
          <a:ln w="12700">
            <a:solidFill>
              <a:srgbClr val="333333"/>
            </a:solidFill>
            <a:prstDash val="solid"/>
          </a:ln>
        </p:spPr>
      </p:sp>
      <p:sp>
        <p:nvSpPr>
          <p:cNvPr id="34" name="Text 31"/>
          <p:cNvSpPr txBox="1"/>
          <p:nvPr/>
        </p:nvSpPr>
        <p:spPr>
          <a:xfrm>
            <a:off x="6757416" y="1472184"/>
            <a:ext cx="3657600" cy="274320"/>
          </a:xfrm>
          <a:prstGeom prst="rect">
            <a:avLst/>
          </a:prstGeom>
          <a:noFill/>
          <a:ln/>
        </p:spPr>
        <p:txBody>
          <a:bodyPr wrap="square" lIns="0" tIns="0" rIns="0" bIns="0" rtlCol="0" anchor="ctr"/>
          <a:lstStyle/>
          <a:p>
            <a:pPr indent="0" marL="0">
              <a:buNone/>
            </a:pPr>
            <a:r>
              <a:rPr lang="en-US" sz="1250" b="1" spc="100" kern="0" dirty="0">
                <a:solidFill>
                  <a:srgbClr val="F5A524"/>
                </a:solidFill>
                <a:latin typeface="Calibri" pitchFamily="34" charset="0"/>
                <a:ea typeface="Calibri" pitchFamily="34" charset="-122"/>
                <a:cs typeface="Calibri" pitchFamily="34" charset="-120"/>
              </a:rPr>
              <a:t>REMAINING WORK</a:t>
            </a:r>
            <a:endParaRPr lang="en-US" sz="1250" dirty="0"/>
          </a:p>
        </p:txBody>
      </p:sp>
      <p:sp>
        <p:nvSpPr>
          <p:cNvPr id="35" name="Shape 32"/>
          <p:cNvSpPr/>
          <p:nvPr/>
        </p:nvSpPr>
        <p:spPr>
          <a:xfrm>
            <a:off x="6519672" y="1956816"/>
            <a:ext cx="4892040" cy="969264"/>
          </a:xfrm>
          <a:prstGeom prst="roundRect">
            <a:avLst>
              <a:gd name="adj" fmla="val 5660"/>
            </a:avLst>
          </a:prstGeom>
          <a:solidFill>
            <a:srgbClr val="16294A"/>
          </a:solidFill>
          <a:ln w="12700">
            <a:solidFill>
              <a:srgbClr val="4A4326"/>
            </a:solidFill>
            <a:prstDash val="dash"/>
          </a:ln>
        </p:spPr>
      </p:sp>
      <p:sp>
        <p:nvSpPr>
          <p:cNvPr id="36" name="Text 33"/>
          <p:cNvSpPr txBox="1"/>
          <p:nvPr/>
        </p:nvSpPr>
        <p:spPr>
          <a:xfrm>
            <a:off x="6720840" y="2048256"/>
            <a:ext cx="4480560" cy="274320"/>
          </a:xfrm>
          <a:prstGeom prst="rect">
            <a:avLst/>
          </a:prstGeom>
          <a:noFill/>
          <a:ln/>
        </p:spPr>
        <p:txBody>
          <a:bodyPr wrap="square" lIns="0" tIns="0" rIns="0" bIns="0" rtlCol="0" anchor="ctr"/>
          <a:lstStyle/>
          <a:p>
            <a:pPr indent="0" marL="0">
              <a:buNone/>
            </a:pPr>
            <a:r>
              <a:rPr lang="en-US" sz="1300" b="1" dirty="0">
                <a:solidFill>
                  <a:srgbClr val="F5A524"/>
                </a:solidFill>
                <a:latin typeface="Calibri" pitchFamily="34" charset="0"/>
                <a:ea typeface="Calibri" pitchFamily="34" charset="-122"/>
                <a:cs typeface="Calibri" pitchFamily="34" charset="-120"/>
              </a:rPr>
              <a:t>File Attribute Analyzer</a:t>
            </a:r>
            <a:endParaRPr lang="en-US" sz="1300" dirty="0"/>
          </a:p>
        </p:txBody>
      </p:sp>
      <p:sp>
        <p:nvSpPr>
          <p:cNvPr id="37" name="Text 34"/>
          <p:cNvSpPr txBox="1"/>
          <p:nvPr/>
        </p:nvSpPr>
        <p:spPr>
          <a:xfrm>
            <a:off x="6720840" y="2322576"/>
            <a:ext cx="4480560" cy="530352"/>
          </a:xfrm>
          <a:prstGeom prst="rect">
            <a:avLst/>
          </a:prstGeom>
          <a:noFill/>
          <a:ln/>
        </p:spPr>
        <p:txBody>
          <a:bodyPr wrap="square" lIns="0" tIns="0" rIns="0" bIns="0" rtlCol="0" anchor="ctr"/>
          <a:lstStyle/>
          <a:p>
            <a:pPr indent="0" marL="0">
              <a:lnSpc>
                <a:spcPts val="1400"/>
              </a:lnSpc>
              <a:buNone/>
            </a:pPr>
            <a:r>
              <a:rPr lang="en-US" sz="1050" dirty="0">
                <a:solidFill>
                  <a:srgbClr val="A9BCDB"/>
                </a:solidFill>
                <a:latin typeface="Calibri" pitchFamily="34" charset="0"/>
                <a:ea typeface="Calibri" pitchFamily="34" charset="-122"/>
                <a:cs typeface="Calibri" pitchFamily="34" charset="-120"/>
              </a:rPr>
              <a:t>Implement read-only, hidden, system and archive attribute analysis as the third peer analyzer.</a:t>
            </a:r>
            <a:endParaRPr lang="en-US" sz="1050" dirty="0"/>
          </a:p>
        </p:txBody>
      </p:sp>
      <p:sp>
        <p:nvSpPr>
          <p:cNvPr id="38" name="Shape 35"/>
          <p:cNvSpPr/>
          <p:nvPr/>
        </p:nvSpPr>
        <p:spPr>
          <a:xfrm>
            <a:off x="6519672" y="3072384"/>
            <a:ext cx="4892040" cy="969264"/>
          </a:xfrm>
          <a:prstGeom prst="roundRect">
            <a:avLst>
              <a:gd name="adj" fmla="val 5660"/>
            </a:avLst>
          </a:prstGeom>
          <a:solidFill>
            <a:srgbClr val="16294A"/>
          </a:solidFill>
          <a:ln w="12700">
            <a:solidFill>
              <a:srgbClr val="4A4326"/>
            </a:solidFill>
            <a:prstDash val="dash"/>
          </a:ln>
        </p:spPr>
      </p:sp>
      <p:sp>
        <p:nvSpPr>
          <p:cNvPr id="39" name="Text 36"/>
          <p:cNvSpPr txBox="1"/>
          <p:nvPr/>
        </p:nvSpPr>
        <p:spPr>
          <a:xfrm>
            <a:off x="6720840" y="3163824"/>
            <a:ext cx="4480560" cy="274320"/>
          </a:xfrm>
          <a:prstGeom prst="rect">
            <a:avLst/>
          </a:prstGeom>
          <a:noFill/>
          <a:ln/>
        </p:spPr>
        <p:txBody>
          <a:bodyPr wrap="square" lIns="0" tIns="0" rIns="0" bIns="0" rtlCol="0" anchor="ctr"/>
          <a:lstStyle/>
          <a:p>
            <a:pPr indent="0" marL="0">
              <a:buNone/>
            </a:pPr>
            <a:r>
              <a:rPr lang="en-US" sz="1300" b="1" dirty="0">
                <a:solidFill>
                  <a:srgbClr val="F5A524"/>
                </a:solidFill>
                <a:latin typeface="Calibri" pitchFamily="34" charset="0"/>
                <a:ea typeface="Calibri" pitchFamily="34" charset="-122"/>
                <a:cs typeface="Calibri" pitchFamily="34" charset="-120"/>
              </a:rPr>
              <a:t>Cloud-Sync Analyzer</a:t>
            </a:r>
            <a:endParaRPr lang="en-US" sz="1300" dirty="0"/>
          </a:p>
        </p:txBody>
      </p:sp>
      <p:sp>
        <p:nvSpPr>
          <p:cNvPr id="40" name="Text 37"/>
          <p:cNvSpPr txBox="1"/>
          <p:nvPr/>
        </p:nvSpPr>
        <p:spPr>
          <a:xfrm>
            <a:off x="6720840" y="3438144"/>
            <a:ext cx="4480560" cy="530352"/>
          </a:xfrm>
          <a:prstGeom prst="rect">
            <a:avLst/>
          </a:prstGeom>
          <a:noFill/>
          <a:ln/>
        </p:spPr>
        <p:txBody>
          <a:bodyPr wrap="square" lIns="0" tIns="0" rIns="0" bIns="0" rtlCol="0" anchor="ctr"/>
          <a:lstStyle/>
          <a:p>
            <a:pPr indent="0" marL="0">
              <a:lnSpc>
                <a:spcPts val="1400"/>
              </a:lnSpc>
              <a:buNone/>
            </a:pPr>
            <a:r>
              <a:rPr lang="en-US" sz="1050" dirty="0">
                <a:solidFill>
                  <a:srgbClr val="A9BCDB"/>
                </a:solidFill>
                <a:latin typeface="Calibri" pitchFamily="34" charset="0"/>
                <a:ea typeface="Calibri" pitchFamily="34" charset="-122"/>
                <a:cs typeface="Calibri" pitchFamily="34" charset="-120"/>
              </a:rPr>
              <a:t>Implement OneDrive and Google Drive synchronisation activity analysis as the fourth peer analyzer.</a:t>
            </a:r>
            <a:endParaRPr lang="en-US" sz="1050" dirty="0"/>
          </a:p>
        </p:txBody>
      </p:sp>
      <p:sp>
        <p:nvSpPr>
          <p:cNvPr id="41" name="Shape 38"/>
          <p:cNvSpPr/>
          <p:nvPr/>
        </p:nvSpPr>
        <p:spPr>
          <a:xfrm>
            <a:off x="6519672" y="4187952"/>
            <a:ext cx="4892040" cy="969264"/>
          </a:xfrm>
          <a:prstGeom prst="roundRect">
            <a:avLst>
              <a:gd name="adj" fmla="val 5660"/>
            </a:avLst>
          </a:prstGeom>
          <a:solidFill>
            <a:srgbClr val="16294A"/>
          </a:solidFill>
          <a:ln w="12700">
            <a:solidFill>
              <a:srgbClr val="4A4326"/>
            </a:solidFill>
            <a:prstDash val="dash"/>
          </a:ln>
        </p:spPr>
      </p:sp>
      <p:sp>
        <p:nvSpPr>
          <p:cNvPr id="42" name="Text 39"/>
          <p:cNvSpPr txBox="1"/>
          <p:nvPr/>
        </p:nvSpPr>
        <p:spPr>
          <a:xfrm>
            <a:off x="6720840" y="4279392"/>
            <a:ext cx="4480560" cy="274320"/>
          </a:xfrm>
          <a:prstGeom prst="rect">
            <a:avLst/>
          </a:prstGeom>
          <a:noFill/>
          <a:ln/>
        </p:spPr>
        <p:txBody>
          <a:bodyPr wrap="square" lIns="0" tIns="0" rIns="0" bIns="0" rtlCol="0" anchor="ctr"/>
          <a:lstStyle/>
          <a:p>
            <a:pPr indent="0" marL="0">
              <a:buNone/>
            </a:pPr>
            <a:r>
              <a:rPr lang="en-US" sz="1300" b="1" dirty="0">
                <a:solidFill>
                  <a:srgbClr val="F5A524"/>
                </a:solidFill>
                <a:latin typeface="Calibri" pitchFamily="34" charset="0"/>
                <a:ea typeface="Calibri" pitchFamily="34" charset="-122"/>
                <a:cs typeface="Calibri" pitchFamily="34" charset="-120"/>
              </a:rPr>
              <a:t>Full integration</a:t>
            </a:r>
            <a:endParaRPr lang="en-US" sz="1300" dirty="0"/>
          </a:p>
        </p:txBody>
      </p:sp>
      <p:sp>
        <p:nvSpPr>
          <p:cNvPr id="43" name="Text 40"/>
          <p:cNvSpPr txBox="1"/>
          <p:nvPr/>
        </p:nvSpPr>
        <p:spPr>
          <a:xfrm>
            <a:off x="6720840" y="4553712"/>
            <a:ext cx="4480560" cy="530352"/>
          </a:xfrm>
          <a:prstGeom prst="rect">
            <a:avLst/>
          </a:prstGeom>
          <a:noFill/>
          <a:ln/>
        </p:spPr>
        <p:txBody>
          <a:bodyPr wrap="square" lIns="0" tIns="0" rIns="0" bIns="0" rtlCol="0" anchor="ctr"/>
          <a:lstStyle/>
          <a:p>
            <a:pPr indent="0" marL="0">
              <a:lnSpc>
                <a:spcPts val="1400"/>
              </a:lnSpc>
              <a:buNone/>
            </a:pPr>
            <a:r>
              <a:rPr lang="en-US" sz="1050" dirty="0">
                <a:solidFill>
                  <a:srgbClr val="A9BCDB"/>
                </a:solidFill>
                <a:latin typeface="Calibri" pitchFamily="34" charset="0"/>
                <a:ea typeface="Calibri" pitchFamily="34" charset="-122"/>
                <a:cs typeface="Calibri" pitchFamily="34" charset="-120"/>
              </a:rPr>
              <a:t>Integrate all proposed components — four analyzers, broader result correlation and the Recommendation Engine — into the final desktop application.</a:t>
            </a:r>
            <a:endParaRPr lang="en-US" sz="1050" dirty="0"/>
          </a:p>
        </p:txBody>
      </p:sp>
      <p:sp>
        <p:nvSpPr>
          <p:cNvPr id="44" name="Shape 41"/>
          <p:cNvSpPr/>
          <p:nvPr/>
        </p:nvSpPr>
        <p:spPr>
          <a:xfrm>
            <a:off x="502920" y="6144768"/>
            <a:ext cx="11185855" cy="420624"/>
          </a:xfrm>
          <a:prstGeom prst="roundRect">
            <a:avLst>
              <a:gd name="adj" fmla="val 17391"/>
            </a:avLst>
          </a:prstGeom>
          <a:solidFill>
            <a:srgbClr val="16294A"/>
          </a:solidFill>
          <a:ln w="12700">
            <a:solidFill>
              <a:srgbClr val="2B5FC4"/>
            </a:solidFill>
            <a:prstDash val="solid"/>
          </a:ln>
        </p:spPr>
      </p:sp>
      <p:sp>
        <p:nvSpPr>
          <p:cNvPr id="45" name="Text 42"/>
          <p:cNvSpPr txBox="1"/>
          <p:nvPr/>
        </p:nvSpPr>
        <p:spPr>
          <a:xfrm>
            <a:off x="667512" y="6144768"/>
            <a:ext cx="10856671" cy="420624"/>
          </a:xfrm>
          <a:prstGeom prst="rect">
            <a:avLst/>
          </a:prstGeom>
          <a:noFill/>
          <a:ln/>
        </p:spPr>
        <p:txBody>
          <a:bodyPr wrap="square" lIns="0" tIns="0" rIns="0" bIns="0" rtlCol="0" anchor="ctr"/>
          <a:lstStyle/>
          <a:p>
            <a:pPr indent="0" marL="0">
              <a:buNone/>
            </a:pPr>
            <a:r>
              <a:rPr lang="en-US" sz="1050" i="1" dirty="0">
                <a:solidFill>
                  <a:srgbClr val="A9BCDB"/>
                </a:solidFill>
                <a:latin typeface="Calibri" pitchFamily="34" charset="0"/>
                <a:ea typeface="Calibri" pitchFamily="34" charset="-122"/>
                <a:cs typeface="Calibri" pitchFamily="34" charset="-120"/>
              </a:rPr>
              <a:t>Review 2 status: the implemented backend and GUI path are complete and Windows-verified; two of the four proposed analyzers remain to be built. The project is not yet complete.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 Operation Failure Diagnoser</dc:title>
  <dc:subject>PptxGenJS Presentation</dc:subject>
  <dc:creator>Yash Pradhan, Anjini Pandey, Dhruv Kothari</dc:creator>
  <cp:lastModifiedBy>Yash Pradhan, Anjini Pandey, Dhruv Kothari</cp:lastModifiedBy>
  <cp:revision>1</cp:revision>
  <dcterms:created xsi:type="dcterms:W3CDTF">2026-09-21T17:57:51Z</dcterms:created>
  <dcterms:modified xsi:type="dcterms:W3CDTF">2026-09-21T17:57:51Z</dcterms:modified>
</cp:coreProperties>
</file>