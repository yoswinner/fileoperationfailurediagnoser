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Final Review 3 presentation for BCSE303P – Operating Systems Lab.</a:t>
            </a:r>
          </a:p>
          <a:p>
            <a:r>
              <a:t>Our project is the File Operation Failure Diagnoser, developed by Yash Pradhan (24BCE0702), Anjini Pandey (24BCE0714), and Dhruv Kothari (24BCE0570) under the supervision of Dr. N. Narayanan Prasanth at the School of Computer Science and Engineering, VIT Vellore.</a:t>
            </a:r>
          </a:p>
          <a:p>
            <a:r>
              <a:t>In Review 2, we demonstrated the core lock and permission prototype. Today, we present the complete, verified desktop application with all four peer analyzers, deterministic evidence correlation, 157 automated regression tests, and 16 live Windows GUI scenario executions.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user tries to save, modify, or delete a file on Windows and a conflict occurs, the OS surfaces generic messages like 'Access is denied' or 'The file is in use'.</a:t>
            </a:r>
          </a:p>
          <a:p>
            <a:r>
              <a:t>While the kernel correctly enforces protection and mutual exclusion, its abstraction hides which process, permission, file attribute, or cloud-sync client is responsible.</a:t>
            </a:r>
          </a:p>
          <a:p>
            <a:r>
              <a:t>Existing tools leave a gap: Sysinternals Process Explorer and Handle are developer-centric and can dangerously close handles; PowerToys File Locksmith only checks processes; and LockHunter focuses on brute-force unlocking or killing processes.</a:t>
            </a:r>
          </a:p>
          <a:p>
            <a:r>
              <a:t>Our project bridges this gap by correlating four OS evidence sources into one plain-language diagnosis and a safe, strictly advisory next step.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summarizes what the final project actually delivers in Review 3.</a:t>
            </a:r>
          </a:p>
          <a:p>
            <a:r>
              <a:t>All seven core components are now fully implemented and verified — none of the analyzers remain 'proposed' or 'coming soon' as they were in Review 2.</a:t>
            </a:r>
          </a:p>
          <a:p>
            <a:r>
              <a:t>We support all four operations: READ, WRITE, EXECUTE, and DELETE.</a:t>
            </a:r>
          </a:p>
          <a:p>
            <a:r>
              <a:t>At the bottom, we clearly distinguish our completed diagnostic capabilities from deliberate architectural boundaries: the tool is 100% read-only and advisory, evaluates preliminary access via os.access() and Win32 owner lookup without full NTFS DACL inheritance parsing, and bounds cloud-sync discovery to local OneDrive and Google Drive state.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shows our final system architecture, corresponding to Figure 4.1 in the final report.</a:t>
            </a:r>
          </a:p>
          <a:p>
            <a:r>
              <a:t>The user selects a file path and intended operation in the Tkinter Desktop GUI, which acts strictly as the presentation layer.</a:t>
            </a:r>
          </a:p>
          <a:p>
            <a:r>
              <a:t>The GUI invokes the Diagnosis Engine, which normalizes the path, handles missing or directory targets, and coordinates four independent peer analyzers through exception-isolating wrappers.</a:t>
            </a:r>
          </a:p>
          <a:p>
            <a:r>
              <a:t>Crucially, all four analyzers — Process/Lock, Permission/Ownership, File Attribute, and Cloud-Sync — are equal peers extending BaseAnalyzer. None calls or depends on another.</a:t>
            </a:r>
          </a:p>
          <a:p>
            <a:r>
              <a:t>Each analyzer returns a typed dataclass back to the Diagnosis Engine, which correlates sync and lock evidence, runs the deterministic classification policy, invokes the Recommendation Engine, and returns the complete DiagnosisResult to refresh the GUI.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explains how a diagnosis is produced and states the exact classification order implemented in DiagnosisEngine._classify().</a:t>
            </a:r>
          </a:p>
          <a:p>
            <a:r>
              <a:t>On the left, when a user clicks Diagnose File, the GUI validates input and calls _reset_panels() so stale data from previous runs is cleared.</a:t>
            </a:r>
          </a:p>
          <a:p>
            <a:r>
              <a:t>Before the normal classification rules run, diagnose() handles two early cases: a missing path immediately returns FILE_NOT_FOUND without running downstream analyzers, and a directory target runs the analyzers and returns UNKNOWN_ERROR explaining that the path is a directory.</a:t>
            </a:r>
          </a:p>
          <a:p>
            <a:r>
              <a:t>For an existing regular file, all four peer analyzers execute inside _safe_analyze_* wrappers, correlate_sync_lock() checks whether any Restart Manager holder matches a sync daemon, and _classify() evaluates the 7 deterministic rules in exact order:</a:t>
            </a:r>
          </a:p>
          <a:p>
            <a:r>
              <a:t>1. SYNC_CONFLICT, 2. FILE_LOCKED, 3. READ_ONLY for WRITE or DELETE, 4. Proven PERMISSION_DENIED, 5. Critical inspection error UNKNOWN_ERROR, 6. Fallback PERMISSION_DENIED, and 7. OPERATION_ALLOWED.</a:t>
            </a:r>
          </a:p>
          <a:p>
            <a:r>
              <a:t>Secondary findings are appended to the reason and shown in their respective panels.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details the technical implementation and operating-system interfaces used by the application.</a:t>
            </a:r>
          </a:p>
          <a:p>
            <a:r>
              <a:t>First, ProcessLockAnalyzer uses the Windows Restart Manager API via ctypes (rstrtmgr.dll): RmStartSession, RmRegisterResources, the two-call RmGetList pattern handling ERROR_MORE_DATA (234), and RmEndSession in a finally block. Restart Manager is our primary lock detector, though as an installer-oriented interface it is not a universal enumeration of every open handle.</a:t>
            </a:r>
          </a:p>
          <a:p>
            <a:r>
              <a:t>Second, PermissionAnalyzer combines Python's os.access() with Win32 GetNamedSecurityInfoW and LookupAccountSidW (advapi32.dll) for preliminary access and owner SID resolution.</a:t>
            </a:r>
          </a:p>
          <a:p>
            <a:r>
              <a:t>Third, FileAttributeAnalyzer reads os.stat().st_file_attributes as its primary source with kernel32.GetFileAttributesW as fallback.</a:t>
            </a:r>
          </a:p>
          <a:p>
            <a:r>
              <a:t>Fourth, SyncConflictAnalyzer uses winreg, environment variables, and GetVolumeInformationW for sync-root discovery, while psutil is used strictly for executable-path enrichment, sync-client process discovery, and drive mounts — never as the core lock detector.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introduces the final Tkinter desktop application using genuine paired viewport captures from Scenario 01b in Review 3 Evidence Pack v5.</a:t>
            </a:r>
          </a:p>
          <a:p>
            <a:r>
              <a:t>Because the window contains six comprehensive telemetry panels inside a scrollable canvas, the evidence runner captures each execution natively at two scroll positions: the top viewport (showing the file input, operation selector, status badge, process list, and permissions) and the bottom viewport (showing file attributes, cloud synchronization, and the recommendation panel).</a:t>
            </a:r>
          </a:p>
          <a:p>
            <a:r>
              <a:t>In Scenario 01b, we diagnose a WRITE operation on a normal accessible file, returning OPERATION_ALLOWED.</a:t>
            </a:r>
          </a:p>
          <a:p>
            <a:r>
              <a:t>Crucially, the application only diagnoses the selected operation — it never writes to, executes, or deletes the target file.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demonstrates live process-lock detection and multi-finding evidence correlation using genuine screenshots from Scenarios 03 and 08.</a:t>
            </a:r>
          </a:p>
          <a:p>
            <a:r>
              <a:t>On the left, Scenario 03 tests WRITE on 05_locked_file.txt while a controlled helper process holds it open. Windows Restart Manager identifies Python with PID 5848, and psutil enriches the full executable path. The primary diagnosis is FILE_LOCKED, and the Recommendation Engine advises saving work in Python (PID 5848) and closing it before retrying.</a:t>
            </a:r>
          </a:p>
          <a:p>
            <a:r>
              <a:t>On the right, Scenario 08 tests WRITE on a file that is simultaneously held open by Python (PID 38060) and marked Read-only (bitmask 0x0021). Rule 2 selects FILE_LOCKED as the primary diagnosis because a live runtime handle takes precedence over a static attribute, while the read-only restriction is preserved in the Status reason ('File also has the read-only attribute set') and in the File Attributes and Permissions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demonstrates why file attributes must be evaluated alongside the user's intended operation.</a:t>
            </a:r>
          </a:p>
          <a:p>
            <a:r>
              <a:t>In Scenario 04a on the left, selecting WRITE on 02_read_only_file.txt (bitmask 0x0021) triggers Rule 3 and returns READ_ONLY, explaining that the read-only attribute prevents WRITE operations. Scenario 12 confirms that DELETE on the same read-only fixture also returns READ_ONLY.</a:t>
            </a:r>
          </a:p>
          <a:p>
            <a:r>
              <a:t>In Scenario 04b in the center, selecting READ on the exact same read-only file returns OPERATION_ALLOWED. The File Attributes panel still displays Read-only = Yes, but its operation-aware effect text explains that Read-only does not block READ operations.</a:t>
            </a:r>
          </a:p>
          <a:p>
            <a:r>
              <a:t>In Scenario 06 on the right, a file with Hidden and Archive attributes (bitmask 0x0022) — and similarly Scenario 13 with System attribute 0x0024 — returns OPERATION_ALLOWED, proving that informational flags do not trigger false failure diagnoses.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explains our Cloud-Sync Analyzer and states the honest verification boundary.</a:t>
            </a:r>
          </a:p>
          <a:p>
            <a:r>
              <a:t>SyncConflictAnalyzer supports local discovery for Microsoft OneDrive and Google Drive only, checking environment variables, Windows registry keys, DriveFS volumes, placeholder attributes, and running client processes via psutil.</a:t>
            </a:r>
          </a:p>
          <a:p>
            <a:r>
              <a:t>Because a file sitting inside OneDrive or a running sync client is normal everyday state, we use four conservative evidence tiers: none, path_only, potential_contention, and confirmed_lock.</a:t>
            </a:r>
          </a:p>
          <a:p>
            <a:r>
              <a:t>Only when Restart Manager reports an active lock whose process name matches a known sync daemon does correlate_sync_lock() upgrade the evidence to confirmed_lock and trigger SYNC_CONFLICT.</a:t>
            </a:r>
          </a:p>
          <a:p>
            <a:r>
              <a:t>On the right, Scenario 07 shows the genuine negative boundary capture ('No provider association detected') for a local fixture outside sync roots. For safety, live user OneDrive files were not mutated; positive SYNC_CONFLICT classification is verified by automated tests using injected lock and sync-root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presents our final automated regression testing results, updating the earlier 72-test milestone from Review 2 to our final verified record:</a:t>
            </a:r>
          </a:p>
          <a:p>
            <a:r>
              <a:t>157 tests collected, 156 passed, 0 failed, and 1 skipped in 4.20 seconds on Windows 11 Pro 64-bit with Python 3.13.14 and pytest 9.1.1.</a:t>
            </a:r>
          </a:p>
          <a:p>
            <a:r>
              <a:t>On the bottom left, Table 6.5 breaks down all 157 tests across our 8 test modules, covering the Diagnosis Engine, data models, Cloud-Sync Analyzer, Permission Analyzer, Tkinter GUI, Recommender, File Attribute Analyzer, and Process Lock Analyzer.</a:t>
            </a:r>
          </a:p>
          <a:p>
            <a:r>
              <a:t>On the bottom right, we explain the single skipped test: test_unsupported_platform_message in test_process_lock.py verifies the fallback message on non-Windows OSes and is decorated with skipif(sys.platform == 'win32'), so skipping it on Windows is expected by design.</a:t>
            </a:r>
          </a:p>
          <a:p>
            <a:r>
              <a:t>We also keep automated regression testing strictly separate from our live GUI scenario results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presents the live GUI scenario demonstration outcomes and documented system limitations.</a:t>
            </a:r>
          </a:p>
          <a:p>
            <a:r>
              <a:t>Across 14 logical scenario groups and 16 individual executions, 15 executions across 13 groups matched the expected diagnosis and passed.</a:t>
            </a:r>
          </a:p>
          <a:p>
            <a:r>
              <a:t>1 execution — Scenario 05 — is transparently recorded as BLOCKED.</a:t>
            </a:r>
          </a:p>
          <a:p>
            <a:r>
              <a:t>As shown in the genuine Scenario 05 capture on the left, 06_permission_restricted_file.txt carried an explicit NTFS deny-read ACE. Because os.access() does not evaluate NTFS DACLs, the Permissions panel still listed READ as Allowed. Meanwhile, when ProcessLockAnalyzer queried Restart Manager, RmGetList failed with Win32 error 5 (ERROR_ACCESS_DENIED). Under Rule 5, the Diagnosis Engine refused to guess and reported UNKNOWN_ERROR ('Lock inspection error: RmGetList failed with error code 5.').</a:t>
            </a:r>
          </a:p>
          <a:p>
            <a:r>
              <a:t>On the right, we summarize the main practical limitations documented in Sections 6.11 and 6.12: no full NTFS DACL evaluation, approximated DELETE rights without parent-folder checks, Restart Manager's installer-oriented scope, bounded OneDrive/Google Drive discovery, and two observed GUI rendering artefacts.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concludes our presentation and outlines future improvements based on the documented limitations in our report.</a:t>
            </a:r>
          </a:p>
          <a:p>
            <a:r>
              <a:t>In summary, we delivered a complete, modular Windows desktop diagnostic tool coordinating four independent peer analyzers — Process/Lock, Permission/Ownership, File Attribute, and Cloud-Sync — backed by a deterministic 7-rule priority policy, secondary evidence preservation, advisory recommendations, 157 automated regression tests, and 16 live GUI scenario executions.</a:t>
            </a:r>
          </a:p>
          <a:p>
            <a:r>
              <a:t>For future work — none of which is claimed as implemented today — we identify stronger NTFS DACL and effective-access evaluation, parent-directory DELETE-right checks, expanded live sync testing in dedicated test accounts with broader provider support, and GUI path-wrapping and combobox refinements.</a:t>
            </a:r>
          </a:p>
          <a:p>
            <a:r>
              <a:t>Thank you for your time and guidance throughout Reviews 1, 2, and 3.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Rounded Rectangle 1"/>
          <p:cNvSpPr/>
          <p:nvPr/>
        </p:nvSpPr>
        <p:spPr>
          <a:xfrm>
            <a:off x="8549640" y="777240"/>
            <a:ext cx="493776" cy="493776"/>
          </a:xfrm>
          <a:prstGeom prst="roundRect">
            <a:avLst>
              <a:gd name="adj" fmla="val 1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226296" y="777240"/>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902952" y="777240"/>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579608" y="777240"/>
            <a:ext cx="493776" cy="493776"/>
          </a:xfrm>
          <a:prstGeom prst="roundRect">
            <a:avLst>
              <a:gd name="adj" fmla="val 1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49640" y="1453895"/>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226296" y="1453895"/>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902952" y="1453895"/>
            <a:ext cx="493776" cy="493776"/>
          </a:xfrm>
          <a:prstGeom prst="roundRect">
            <a:avLst>
              <a:gd name="adj" fmla="val 1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579608" y="1453895"/>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49640" y="2130552"/>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226296" y="2130552"/>
            <a:ext cx="493776" cy="493776"/>
          </a:xfrm>
          <a:prstGeom prst="roundRect">
            <a:avLst>
              <a:gd name="adj" fmla="val 1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902952" y="2130552"/>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579608" y="2130552"/>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549640" y="2807208"/>
            <a:ext cx="493776" cy="493776"/>
          </a:xfrm>
          <a:prstGeom prst="roundRect">
            <a:avLst>
              <a:gd name="adj" fmla="val 1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226296" y="2807208"/>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02952" y="2807208"/>
            <a:ext cx="493776" cy="493776"/>
          </a:xfrm>
          <a:prstGeom prst="roundRect">
            <a:avLst>
              <a:gd name="adj" fmla="val 15000"/>
            </a:avLst>
          </a:prstGeom>
          <a:solidFill>
            <a:srgbClr val="0C1A30"/>
          </a:solidFill>
          <a:ln w="12700">
            <a:solidFill>
              <a:srgbClr val="2237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579608" y="2807208"/>
            <a:ext cx="493776" cy="493776"/>
          </a:xfrm>
          <a:prstGeom prst="roundRect">
            <a:avLst>
              <a:gd name="adj" fmla="val 1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49640" y="3657600"/>
            <a:ext cx="2907792" cy="2029968"/>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20" y="3785615"/>
            <a:ext cx="2560320" cy="256032"/>
          </a:xfrm>
          <a:prstGeom prst="rect">
            <a:avLst/>
          </a:prstGeom>
          <a:noFill/>
        </p:spPr>
        <p:txBody>
          <a:bodyPr wrap="square" anchor="t" lIns="0" rIns="0" tIns="0" bIns="0">
            <a:spAutoFit/>
          </a:bodyPr>
          <a:lstStyle/>
          <a:p>
            <a:pPr algn="l"/>
            <a:r>
              <a:rPr sz="1050" b="1" i="0">
                <a:solidFill>
                  <a:srgbClr val="4F8EF7"/>
                </a:solidFill>
                <a:latin typeface="Calibri"/>
              </a:rPr>
              <a:t>FINAL REVIEW 3 AT A GLANCE</a:t>
            </a:r>
          </a:p>
        </p:txBody>
      </p:sp>
      <p:sp>
        <p:nvSpPr>
          <p:cNvPr id="20" name="Rounded Rectangle 19"/>
          <p:cNvSpPr/>
          <p:nvPr/>
        </p:nvSpPr>
        <p:spPr>
          <a:xfrm>
            <a:off x="8732520" y="4114800"/>
            <a:ext cx="2542032" cy="347472"/>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4142232"/>
            <a:ext cx="2450591" cy="292608"/>
          </a:xfrm>
          <a:prstGeom prst="rect">
            <a:avLst/>
          </a:prstGeom>
          <a:noFill/>
        </p:spPr>
        <p:txBody>
          <a:bodyPr wrap="square" anchor="ctr" lIns="0" rIns="0" tIns="0" bIns="0">
            <a:spAutoFit/>
          </a:bodyPr>
          <a:lstStyle/>
          <a:p>
            <a:pPr algn="ctr"/>
            <a:r>
              <a:rPr sz="1050" b="1" i="0">
                <a:solidFill>
                  <a:srgbClr val="2DD4A7"/>
                </a:solidFill>
                <a:latin typeface="Calibri"/>
              </a:rPr>
              <a:t>4 Peer Analyzers Implemented</a:t>
            </a:r>
          </a:p>
        </p:txBody>
      </p:sp>
      <p:sp>
        <p:nvSpPr>
          <p:cNvPr id="22" name="Rounded Rectangle 21"/>
          <p:cNvSpPr/>
          <p:nvPr/>
        </p:nvSpPr>
        <p:spPr>
          <a:xfrm>
            <a:off x="8732520" y="4553712"/>
            <a:ext cx="2542032" cy="347472"/>
          </a:xfrm>
          <a:prstGeom prst="roundRect">
            <a:avLst>
              <a:gd name="adj" fmla="val 4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0" y="4581144"/>
            <a:ext cx="2450591" cy="292608"/>
          </a:xfrm>
          <a:prstGeom prst="rect">
            <a:avLst/>
          </a:prstGeom>
          <a:noFill/>
        </p:spPr>
        <p:txBody>
          <a:bodyPr wrap="square" anchor="ctr" lIns="0" rIns="0" tIns="0" bIns="0">
            <a:spAutoFit/>
          </a:bodyPr>
          <a:lstStyle/>
          <a:p>
            <a:pPr algn="ctr"/>
            <a:r>
              <a:rPr sz="1050" b="1" i="0">
                <a:solidFill>
                  <a:srgbClr val="FFFFFF"/>
                </a:solidFill>
                <a:latin typeface="Calibri"/>
              </a:rPr>
              <a:t>157 Pytest Tests (156 Pass, 1 Skip)</a:t>
            </a:r>
          </a:p>
        </p:txBody>
      </p:sp>
      <p:sp>
        <p:nvSpPr>
          <p:cNvPr id="24" name="Rounded Rectangle 23"/>
          <p:cNvSpPr/>
          <p:nvPr/>
        </p:nvSpPr>
        <p:spPr>
          <a:xfrm>
            <a:off x="8732520" y="4992624"/>
            <a:ext cx="2542032" cy="347472"/>
          </a:xfrm>
          <a:prstGeom prst="roundRect">
            <a:avLst>
              <a:gd name="adj" fmla="val 45000"/>
            </a:avLst>
          </a:prstGeom>
          <a:solidFill>
            <a:srgbClr val="0C1A3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0" y="5020056"/>
            <a:ext cx="2450591" cy="292608"/>
          </a:xfrm>
          <a:prstGeom prst="rect">
            <a:avLst/>
          </a:prstGeom>
          <a:noFill/>
        </p:spPr>
        <p:txBody>
          <a:bodyPr wrap="square" anchor="ctr" lIns="0" rIns="0" tIns="0" bIns="0">
            <a:spAutoFit/>
          </a:bodyPr>
          <a:lstStyle/>
          <a:p>
            <a:pPr algn="ctr"/>
            <a:r>
              <a:rPr sz="1050" b="1" i="0">
                <a:solidFill>
                  <a:srgbClr val="F5A524"/>
                </a:solidFill>
                <a:latin typeface="Calibri"/>
              </a:rPr>
              <a:t>14 Scenario Groups / 16 Live Runs</a:t>
            </a:r>
          </a:p>
        </p:txBody>
      </p:sp>
      <p:sp>
        <p:nvSpPr>
          <p:cNvPr id="26" name="TextBox 25"/>
          <p:cNvSpPr txBox="1"/>
          <p:nvPr/>
        </p:nvSpPr>
        <p:spPr>
          <a:xfrm>
            <a:off x="777240" y="841248"/>
            <a:ext cx="7498079" cy="310896"/>
          </a:xfrm>
          <a:prstGeom prst="rect">
            <a:avLst/>
          </a:prstGeom>
          <a:noFill/>
        </p:spPr>
        <p:txBody>
          <a:bodyPr wrap="square" anchor="t" lIns="0" rIns="0" tIns="0" bIns="0">
            <a:spAutoFit/>
          </a:bodyPr>
          <a:lstStyle/>
          <a:p>
            <a:pPr algn="l"/>
            <a:r>
              <a:rPr sz="1250" b="1" i="0">
                <a:solidFill>
                  <a:srgbClr val="4F8EF7"/>
                </a:solidFill>
                <a:latin typeface="Calibri"/>
              </a:rPr>
              <a:t>BCSE303P – OPERATING SYSTEMS LAB   •   MINI-PROJECT REVIEW 3</a:t>
            </a:r>
          </a:p>
        </p:txBody>
      </p:sp>
      <p:sp>
        <p:nvSpPr>
          <p:cNvPr id="27" name="TextBox 26"/>
          <p:cNvSpPr txBox="1"/>
          <p:nvPr/>
        </p:nvSpPr>
        <p:spPr>
          <a:xfrm>
            <a:off x="777240" y="1234440"/>
            <a:ext cx="7498079" cy="1691640"/>
          </a:xfrm>
          <a:prstGeom prst="rect">
            <a:avLst/>
          </a:prstGeom>
          <a:noFill/>
        </p:spPr>
        <p:txBody>
          <a:bodyPr wrap="square" anchor="t" lIns="0" rIns="0" tIns="0" bIns="0">
            <a:spAutoFit/>
          </a:bodyPr>
          <a:lstStyle/>
          <a:p>
            <a:pPr algn="l">
              <a:spcAft>
                <a:spcPts val="200"/>
              </a:spcAft>
            </a:pPr>
            <a:r>
              <a:rPr sz="4400" b="1" i="0">
                <a:solidFill>
                  <a:srgbClr val="FFFFFF"/>
                </a:solidFill>
                <a:latin typeface="Cambria"/>
              </a:rPr>
              <a:t>File Operation</a:t>
            </a:r>
          </a:p>
          <a:p>
            <a:pPr algn="l"/>
            <a:r>
              <a:rPr sz="4400" b="1" i="0">
                <a:solidFill>
                  <a:srgbClr val="FFFFFF"/>
                </a:solidFill>
                <a:latin typeface="Cambria"/>
              </a:rPr>
              <a:t>Failure Diagnoser</a:t>
            </a:r>
          </a:p>
        </p:txBody>
      </p:sp>
      <p:sp>
        <p:nvSpPr>
          <p:cNvPr id="28" name="TextBox 27"/>
          <p:cNvSpPr txBox="1"/>
          <p:nvPr/>
        </p:nvSpPr>
        <p:spPr>
          <a:xfrm>
            <a:off x="777240" y="2971800"/>
            <a:ext cx="7406640" cy="713232"/>
          </a:xfrm>
          <a:prstGeom prst="rect">
            <a:avLst/>
          </a:prstGeom>
          <a:noFill/>
        </p:spPr>
        <p:txBody>
          <a:bodyPr wrap="square" anchor="t" lIns="0" rIns="0" tIns="0" bIns="0">
            <a:spAutoFit/>
          </a:bodyPr>
          <a:lstStyle/>
          <a:p>
            <a:pPr algn="l"/>
            <a:r>
              <a:rPr sz="1450" b="0" i="0">
                <a:solidFill>
                  <a:srgbClr val="A9BCDB"/>
                </a:solidFill>
                <a:latin typeface="Calibri"/>
              </a:rPr>
              <a:t>A Windows desktop diagnostic utility that turns generic file-operation errors into understandable, OS-evidence-supported diagnoses and safe advisory recommendations.</a:t>
            </a:r>
          </a:p>
        </p:txBody>
      </p:sp>
      <p:sp>
        <p:nvSpPr>
          <p:cNvPr id="29" name="Rounded Rectangle 28"/>
          <p:cNvSpPr/>
          <p:nvPr/>
        </p:nvSpPr>
        <p:spPr>
          <a:xfrm>
            <a:off x="777240" y="3886200"/>
            <a:ext cx="2331720" cy="841248"/>
          </a:xfrm>
          <a:prstGeom prst="roundRect">
            <a:avLst>
              <a:gd name="adj" fmla="val 8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3995928"/>
            <a:ext cx="2011680" cy="292608"/>
          </a:xfrm>
          <a:prstGeom prst="rect">
            <a:avLst/>
          </a:prstGeom>
          <a:noFill/>
        </p:spPr>
        <p:txBody>
          <a:bodyPr wrap="square" anchor="t" lIns="0" rIns="0" tIns="0" bIns="0">
            <a:spAutoFit/>
          </a:bodyPr>
          <a:lstStyle/>
          <a:p>
            <a:pPr algn="l"/>
            <a:r>
              <a:rPr sz="1400" b="1" i="0">
                <a:solidFill>
                  <a:srgbClr val="FFFFFF"/>
                </a:solidFill>
                <a:latin typeface="Calibri"/>
              </a:rPr>
              <a:t>Yash Pradhan</a:t>
            </a:r>
          </a:p>
        </p:txBody>
      </p:sp>
      <p:sp>
        <p:nvSpPr>
          <p:cNvPr id="31" name="TextBox 30"/>
          <p:cNvSpPr txBox="1"/>
          <p:nvPr/>
        </p:nvSpPr>
        <p:spPr>
          <a:xfrm>
            <a:off x="941832" y="4315968"/>
            <a:ext cx="2011680" cy="274320"/>
          </a:xfrm>
          <a:prstGeom prst="rect">
            <a:avLst/>
          </a:prstGeom>
          <a:noFill/>
        </p:spPr>
        <p:txBody>
          <a:bodyPr wrap="square" anchor="t" lIns="0" rIns="0" tIns="0" bIns="0">
            <a:spAutoFit/>
          </a:bodyPr>
          <a:lstStyle/>
          <a:p>
            <a:pPr algn="l"/>
            <a:r>
              <a:rPr sz="1200" b="1" i="0">
                <a:solidFill>
                  <a:srgbClr val="4F8EF7"/>
                </a:solidFill>
                <a:latin typeface="Courier New"/>
              </a:rPr>
              <a:t>24BCE0702</a:t>
            </a:r>
          </a:p>
        </p:txBody>
      </p:sp>
      <p:sp>
        <p:nvSpPr>
          <p:cNvPr id="32" name="Rounded Rectangle 31"/>
          <p:cNvSpPr/>
          <p:nvPr/>
        </p:nvSpPr>
        <p:spPr>
          <a:xfrm>
            <a:off x="3337560" y="3886200"/>
            <a:ext cx="2331720" cy="841248"/>
          </a:xfrm>
          <a:prstGeom prst="roundRect">
            <a:avLst>
              <a:gd name="adj" fmla="val 8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02152" y="3995928"/>
            <a:ext cx="2011680" cy="292608"/>
          </a:xfrm>
          <a:prstGeom prst="rect">
            <a:avLst/>
          </a:prstGeom>
          <a:noFill/>
        </p:spPr>
        <p:txBody>
          <a:bodyPr wrap="square" anchor="t" lIns="0" rIns="0" tIns="0" bIns="0">
            <a:spAutoFit/>
          </a:bodyPr>
          <a:lstStyle/>
          <a:p>
            <a:pPr algn="l"/>
            <a:r>
              <a:rPr sz="1400" b="1" i="0">
                <a:solidFill>
                  <a:srgbClr val="FFFFFF"/>
                </a:solidFill>
                <a:latin typeface="Calibri"/>
              </a:rPr>
              <a:t>Anjini Pandey</a:t>
            </a:r>
          </a:p>
        </p:txBody>
      </p:sp>
      <p:sp>
        <p:nvSpPr>
          <p:cNvPr id="34" name="TextBox 33"/>
          <p:cNvSpPr txBox="1"/>
          <p:nvPr/>
        </p:nvSpPr>
        <p:spPr>
          <a:xfrm>
            <a:off x="3502152" y="4315968"/>
            <a:ext cx="2011680" cy="274320"/>
          </a:xfrm>
          <a:prstGeom prst="rect">
            <a:avLst/>
          </a:prstGeom>
          <a:noFill/>
        </p:spPr>
        <p:txBody>
          <a:bodyPr wrap="square" anchor="t" lIns="0" rIns="0" tIns="0" bIns="0">
            <a:spAutoFit/>
          </a:bodyPr>
          <a:lstStyle/>
          <a:p>
            <a:pPr algn="l"/>
            <a:r>
              <a:rPr sz="1200" b="1" i="0">
                <a:solidFill>
                  <a:srgbClr val="4F8EF7"/>
                </a:solidFill>
                <a:latin typeface="Courier New"/>
              </a:rPr>
              <a:t>24BCE0714</a:t>
            </a:r>
          </a:p>
        </p:txBody>
      </p:sp>
      <p:sp>
        <p:nvSpPr>
          <p:cNvPr id="35" name="Rounded Rectangle 34"/>
          <p:cNvSpPr/>
          <p:nvPr/>
        </p:nvSpPr>
        <p:spPr>
          <a:xfrm>
            <a:off x="5897880" y="3886200"/>
            <a:ext cx="2331720" cy="841248"/>
          </a:xfrm>
          <a:prstGeom prst="roundRect">
            <a:avLst>
              <a:gd name="adj" fmla="val 8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62472" y="3995928"/>
            <a:ext cx="2011680" cy="292608"/>
          </a:xfrm>
          <a:prstGeom prst="rect">
            <a:avLst/>
          </a:prstGeom>
          <a:noFill/>
        </p:spPr>
        <p:txBody>
          <a:bodyPr wrap="square" anchor="t" lIns="0" rIns="0" tIns="0" bIns="0">
            <a:spAutoFit/>
          </a:bodyPr>
          <a:lstStyle/>
          <a:p>
            <a:pPr algn="l"/>
            <a:r>
              <a:rPr sz="1400" b="1" i="0">
                <a:solidFill>
                  <a:srgbClr val="FFFFFF"/>
                </a:solidFill>
                <a:latin typeface="Calibri"/>
              </a:rPr>
              <a:t>Dhruv Kothari</a:t>
            </a:r>
          </a:p>
        </p:txBody>
      </p:sp>
      <p:sp>
        <p:nvSpPr>
          <p:cNvPr id="37" name="TextBox 36"/>
          <p:cNvSpPr txBox="1"/>
          <p:nvPr/>
        </p:nvSpPr>
        <p:spPr>
          <a:xfrm>
            <a:off x="6062472" y="4315968"/>
            <a:ext cx="2011680" cy="274320"/>
          </a:xfrm>
          <a:prstGeom prst="rect">
            <a:avLst/>
          </a:prstGeom>
          <a:noFill/>
        </p:spPr>
        <p:txBody>
          <a:bodyPr wrap="square" anchor="t" lIns="0" rIns="0" tIns="0" bIns="0">
            <a:spAutoFit/>
          </a:bodyPr>
          <a:lstStyle/>
          <a:p>
            <a:pPr algn="l"/>
            <a:r>
              <a:rPr sz="1200" b="1" i="0">
                <a:solidFill>
                  <a:srgbClr val="4F8EF7"/>
                </a:solidFill>
                <a:latin typeface="Courier New"/>
              </a:rPr>
              <a:t>24BCE0570</a:t>
            </a:r>
          </a:p>
        </p:txBody>
      </p:sp>
      <p:sp>
        <p:nvSpPr>
          <p:cNvPr id="38" name="Rounded Rectangle 37"/>
          <p:cNvSpPr/>
          <p:nvPr/>
        </p:nvSpPr>
        <p:spPr>
          <a:xfrm>
            <a:off x="777240" y="4919472"/>
            <a:ext cx="7452360" cy="768096"/>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20" y="5010912"/>
            <a:ext cx="7086600" cy="603504"/>
          </a:xfrm>
          <a:prstGeom prst="rect">
            <a:avLst/>
          </a:prstGeom>
          <a:noFill/>
        </p:spPr>
        <p:txBody>
          <a:bodyPr wrap="square" anchor="t" lIns="0" rIns="0" tIns="0" bIns="0">
            <a:spAutoFit/>
          </a:bodyPr>
          <a:lstStyle/>
          <a:p>
            <a:pPr algn="l">
              <a:spcAft>
                <a:spcPts val="400"/>
              </a:spcAft>
            </a:pPr>
            <a:r>
              <a:rPr sz="1150" b="1" i="0">
                <a:solidFill>
                  <a:srgbClr val="4F8EF7"/>
                </a:solidFill>
                <a:latin typeface="Calibri"/>
              </a:rPr>
              <a:t>Institution: </a:t>
            </a:r>
            <a:r>
              <a:rPr sz="1150" b="0" i="0">
                <a:solidFill>
                  <a:srgbClr val="FFFFFF"/>
                </a:solidFill>
                <a:latin typeface="Calibri"/>
              </a:rPr>
              <a:t>School of Computer Science and Engineering, Vellore Institute of Technology (VIT), Vellore</a:t>
            </a:r>
          </a:p>
          <a:p>
            <a:pPr algn="l"/>
            <a:r>
              <a:rPr sz="1150" b="1" i="0">
                <a:solidFill>
                  <a:srgbClr val="4F8EF7"/>
                </a:solidFill>
                <a:latin typeface="Calibri"/>
              </a:rPr>
              <a:t>Supervisor: </a:t>
            </a:r>
            <a:r>
              <a:rPr sz="1150" b="0" i="0">
                <a:solidFill>
                  <a:srgbClr val="A9BCDB"/>
                </a:solidFill>
                <a:latin typeface="Calibri"/>
              </a:rPr>
              <a:t>Dr. N. Narayanan Prasanth   •   </a:t>
            </a:r>
            <a:r>
              <a:rPr sz="1150" b="1" i="0">
                <a:solidFill>
                  <a:srgbClr val="4F8EF7"/>
                </a:solidFill>
                <a:latin typeface="Calibri"/>
              </a:rPr>
              <a:t>Submission Date: </a:t>
            </a:r>
            <a:r>
              <a:rPr sz="1150" b="0" i="0">
                <a:solidFill>
                  <a:srgbClr val="FFFFFF"/>
                </a:solidFill>
                <a:latin typeface="Calibri"/>
              </a:rPr>
              <a:t>October 2026</a:t>
            </a:r>
          </a:p>
        </p:txBody>
      </p:sp>
      <p:sp>
        <p:nvSpPr>
          <p:cNvPr id="40" name="TextBox 39"/>
          <p:cNvSpPr txBox="1"/>
          <p:nvPr/>
        </p:nvSpPr>
        <p:spPr>
          <a:xfrm>
            <a:off x="777240" y="6053328"/>
            <a:ext cx="10680192" cy="292608"/>
          </a:xfrm>
          <a:prstGeom prst="rect">
            <a:avLst/>
          </a:prstGeom>
          <a:noFill/>
        </p:spPr>
        <p:txBody>
          <a:bodyPr wrap="square" anchor="t" lIns="0" rIns="0" tIns="0" bIns="0">
            <a:spAutoFit/>
          </a:bodyPr>
          <a:lstStyle/>
          <a:p>
            <a:pPr algn="l"/>
            <a:r>
              <a:rPr sz="1100" b="0" i="0">
                <a:solidFill>
                  <a:srgbClr val="6E86AE"/>
                </a:solidFill>
                <a:latin typeface="Calibri"/>
              </a:rPr>
              <a:t>BCSE303P – Operating Systems Lab  •  Mini-Project Final Review 3  •  Windows 10/11 Diagnostic Utility (Python 3.13 · Tkinter · Win32 APIs)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2  •  PROBLEM &amp; MOTIVATION</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Why Generic File-Operation Errors Need OS-Level Diagnosis</a:t>
            </a:r>
          </a:p>
        </p:txBody>
      </p:sp>
      <p:sp>
        <p:nvSpPr>
          <p:cNvPr id="4" name="Rounded Rectangle 3"/>
          <p:cNvSpPr/>
          <p:nvPr/>
        </p:nvSpPr>
        <p:spPr>
          <a:xfrm>
            <a:off x="502920" y="1133856"/>
            <a:ext cx="3520440" cy="3584448"/>
          </a:xfrm>
          <a:prstGeom prst="roundRect">
            <a:avLst>
              <a:gd name="adj" fmla="val 4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280160"/>
            <a:ext cx="3108960" cy="256032"/>
          </a:xfrm>
          <a:prstGeom prst="rect">
            <a:avLst/>
          </a:prstGeom>
          <a:noFill/>
        </p:spPr>
        <p:txBody>
          <a:bodyPr wrap="square" anchor="t" lIns="0" rIns="0" tIns="0" bIns="0">
            <a:spAutoFit/>
          </a:bodyPr>
          <a:lstStyle/>
          <a:p>
            <a:pPr algn="l"/>
            <a:r>
              <a:rPr sz="1100" b="1" i="0">
                <a:solidFill>
                  <a:srgbClr val="6E86AE"/>
                </a:solidFill>
                <a:latin typeface="Calibri"/>
              </a:rPr>
              <a:t>WHAT THE USER SEES ON WINDOWS</a:t>
            </a:r>
          </a:p>
        </p:txBody>
      </p:sp>
      <p:sp>
        <p:nvSpPr>
          <p:cNvPr id="6" name="Rounded Rectangle 5"/>
          <p:cNvSpPr/>
          <p:nvPr/>
        </p:nvSpPr>
        <p:spPr>
          <a:xfrm>
            <a:off x="713232" y="1645920"/>
            <a:ext cx="3099816" cy="493776"/>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9536" y="1773936"/>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773936"/>
            <a:ext cx="237744" cy="237744"/>
          </a:xfrm>
          <a:prstGeom prst="rect">
            <a:avLst/>
          </a:prstGeom>
          <a:noFill/>
        </p:spPr>
        <p:txBody>
          <a:bodyPr wrap="square" anchor="ctr" lIns="0" rIns="0" tIns="0" bIns="0">
            <a:spAutoFit/>
          </a:bodyPr>
          <a:lstStyle/>
          <a:p>
            <a:pPr algn="ctr"/>
            <a:r>
              <a:rPr sz="1100" b="1" i="0">
                <a:solidFill>
                  <a:srgbClr val="FFFFFF"/>
                </a:solidFill>
                <a:latin typeface="Calibri"/>
              </a:rPr>
              <a:t>!</a:t>
            </a:r>
          </a:p>
        </p:txBody>
      </p:sp>
      <p:sp>
        <p:nvSpPr>
          <p:cNvPr id="9" name="TextBox 8"/>
          <p:cNvSpPr txBox="1"/>
          <p:nvPr/>
        </p:nvSpPr>
        <p:spPr>
          <a:xfrm>
            <a:off x="1188720" y="1764792"/>
            <a:ext cx="2514600" cy="274320"/>
          </a:xfrm>
          <a:prstGeom prst="rect">
            <a:avLst/>
          </a:prstGeom>
          <a:noFill/>
        </p:spPr>
        <p:txBody>
          <a:bodyPr wrap="square" anchor="t" lIns="0" rIns="0" tIns="0" bIns="0">
            <a:spAutoFit/>
          </a:bodyPr>
          <a:lstStyle/>
          <a:p>
            <a:pPr algn="l"/>
            <a:r>
              <a:rPr sz="1150" b="1" i="0">
                <a:solidFill>
                  <a:srgbClr val="FFFFFF"/>
                </a:solidFill>
                <a:latin typeface="Courier New"/>
              </a:rPr>
              <a:t>Access is denied</a:t>
            </a:r>
          </a:p>
        </p:txBody>
      </p:sp>
      <p:sp>
        <p:nvSpPr>
          <p:cNvPr id="10" name="Rounded Rectangle 9"/>
          <p:cNvSpPr/>
          <p:nvPr/>
        </p:nvSpPr>
        <p:spPr>
          <a:xfrm>
            <a:off x="713232" y="2286000"/>
            <a:ext cx="3099816" cy="493776"/>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9536" y="2414016"/>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2414016"/>
            <a:ext cx="237744" cy="237744"/>
          </a:xfrm>
          <a:prstGeom prst="rect">
            <a:avLst/>
          </a:prstGeom>
          <a:noFill/>
        </p:spPr>
        <p:txBody>
          <a:bodyPr wrap="square" anchor="ctr" lIns="0" rIns="0" tIns="0" bIns="0">
            <a:spAutoFit/>
          </a:bodyPr>
          <a:lstStyle/>
          <a:p>
            <a:pPr algn="ctr"/>
            <a:r>
              <a:rPr sz="1100" b="1" i="0">
                <a:solidFill>
                  <a:srgbClr val="FFFFFF"/>
                </a:solidFill>
                <a:latin typeface="Calibri"/>
              </a:rPr>
              <a:t>!</a:t>
            </a:r>
          </a:p>
        </p:txBody>
      </p:sp>
      <p:sp>
        <p:nvSpPr>
          <p:cNvPr id="13" name="TextBox 12"/>
          <p:cNvSpPr txBox="1"/>
          <p:nvPr/>
        </p:nvSpPr>
        <p:spPr>
          <a:xfrm>
            <a:off x="1188720" y="2404872"/>
            <a:ext cx="2514600" cy="274320"/>
          </a:xfrm>
          <a:prstGeom prst="rect">
            <a:avLst/>
          </a:prstGeom>
          <a:noFill/>
        </p:spPr>
        <p:txBody>
          <a:bodyPr wrap="square" anchor="t" lIns="0" rIns="0" tIns="0" bIns="0">
            <a:spAutoFit/>
          </a:bodyPr>
          <a:lstStyle/>
          <a:p>
            <a:pPr algn="l"/>
            <a:r>
              <a:rPr sz="1150" b="1" i="0">
                <a:solidFill>
                  <a:srgbClr val="FFFFFF"/>
                </a:solidFill>
                <a:latin typeface="Courier New"/>
              </a:rPr>
              <a:t>The file is in use</a:t>
            </a:r>
          </a:p>
        </p:txBody>
      </p:sp>
      <p:sp>
        <p:nvSpPr>
          <p:cNvPr id="14" name="Rounded Rectangle 13"/>
          <p:cNvSpPr/>
          <p:nvPr/>
        </p:nvSpPr>
        <p:spPr>
          <a:xfrm>
            <a:off x="713232" y="2926080"/>
            <a:ext cx="3099816" cy="493776"/>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9536" y="3054096"/>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3054096"/>
            <a:ext cx="237744" cy="237744"/>
          </a:xfrm>
          <a:prstGeom prst="rect">
            <a:avLst/>
          </a:prstGeom>
          <a:noFill/>
        </p:spPr>
        <p:txBody>
          <a:bodyPr wrap="square" anchor="ctr" lIns="0" rIns="0" tIns="0" bIns="0">
            <a:spAutoFit/>
          </a:bodyPr>
          <a:lstStyle/>
          <a:p>
            <a:pPr algn="ctr"/>
            <a:r>
              <a:rPr sz="1100" b="1" i="0">
                <a:solidFill>
                  <a:srgbClr val="FFFFFF"/>
                </a:solidFill>
                <a:latin typeface="Calibri"/>
              </a:rPr>
              <a:t>!</a:t>
            </a:r>
          </a:p>
        </p:txBody>
      </p:sp>
      <p:sp>
        <p:nvSpPr>
          <p:cNvPr id="17" name="TextBox 16"/>
          <p:cNvSpPr txBox="1"/>
          <p:nvPr/>
        </p:nvSpPr>
        <p:spPr>
          <a:xfrm>
            <a:off x="1188720" y="3044952"/>
            <a:ext cx="2514600" cy="274320"/>
          </a:xfrm>
          <a:prstGeom prst="rect">
            <a:avLst/>
          </a:prstGeom>
          <a:noFill/>
        </p:spPr>
        <p:txBody>
          <a:bodyPr wrap="square" anchor="t" lIns="0" rIns="0" tIns="0" bIns="0">
            <a:spAutoFit/>
          </a:bodyPr>
          <a:lstStyle/>
          <a:p>
            <a:pPr algn="l"/>
            <a:r>
              <a:rPr sz="1150" b="1" i="0">
                <a:solidFill>
                  <a:srgbClr val="FFFFFF"/>
                </a:solidFill>
                <a:latin typeface="Courier New"/>
              </a:rPr>
              <a:t>Action cannot be completed</a:t>
            </a:r>
          </a:p>
        </p:txBody>
      </p:sp>
      <p:sp>
        <p:nvSpPr>
          <p:cNvPr id="18" name="TextBox 17"/>
          <p:cNvSpPr txBox="1"/>
          <p:nvPr/>
        </p:nvSpPr>
        <p:spPr>
          <a:xfrm>
            <a:off x="713232" y="3566160"/>
            <a:ext cx="3099816" cy="1005840"/>
          </a:xfrm>
          <a:prstGeom prst="rect">
            <a:avLst/>
          </a:prstGeom>
          <a:noFill/>
        </p:spPr>
        <p:txBody>
          <a:bodyPr wrap="square" anchor="t" lIns="0" rIns="0" tIns="0" bIns="0">
            <a:spAutoFit/>
          </a:bodyPr>
          <a:lstStyle/>
          <a:p>
            <a:pPr algn="l"/>
            <a:r>
              <a:rPr sz="1100" b="0" i="1">
                <a:solidFill>
                  <a:srgbClr val="A9BCDB"/>
                </a:solidFill>
                <a:latin typeface="Calibri"/>
              </a:rPr>
              <a:t>The OS kernel enforces mutual exclusion and access control correctly, but hides the underlying cause — leading to guesswork, restarts, or unsafe process termination.</a:t>
            </a:r>
          </a:p>
        </p:txBody>
      </p:sp>
      <p:sp>
        <p:nvSpPr>
          <p:cNvPr id="19" name="Right Arrow 18"/>
          <p:cNvSpPr/>
          <p:nvPr/>
        </p:nvSpPr>
        <p:spPr>
          <a:xfrm>
            <a:off x="4078224" y="2788920"/>
            <a:ext cx="292608" cy="201168"/>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25696" y="1133856"/>
            <a:ext cx="3657600" cy="3584448"/>
          </a:xfrm>
          <a:prstGeom prst="roundRect">
            <a:avLst>
              <a:gd name="adj" fmla="val 4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26864" y="1280160"/>
            <a:ext cx="3255264" cy="256032"/>
          </a:xfrm>
          <a:prstGeom prst="rect">
            <a:avLst/>
          </a:prstGeom>
          <a:noFill/>
        </p:spPr>
        <p:txBody>
          <a:bodyPr wrap="square" anchor="t" lIns="0" rIns="0" tIns="0" bIns="0">
            <a:spAutoFit/>
          </a:bodyPr>
          <a:lstStyle/>
          <a:p>
            <a:pPr algn="l"/>
            <a:r>
              <a:rPr sz="1100" b="1" i="0">
                <a:solidFill>
                  <a:srgbClr val="4F8EF7"/>
                </a:solidFill>
                <a:latin typeface="Calibri"/>
              </a:rPr>
              <a:t>CAUSES INVESTIGATED BY THE DIAGNOSER</a:t>
            </a:r>
          </a:p>
        </p:txBody>
      </p:sp>
      <p:sp>
        <p:nvSpPr>
          <p:cNvPr id="22" name="Oval 21"/>
          <p:cNvSpPr/>
          <p:nvPr/>
        </p:nvSpPr>
        <p:spPr>
          <a:xfrm>
            <a:off x="4626864" y="1700784"/>
            <a:ext cx="146304" cy="14630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64608" y="1645920"/>
            <a:ext cx="3054096" cy="640080"/>
          </a:xfrm>
          <a:prstGeom prst="rect">
            <a:avLst/>
          </a:prstGeom>
          <a:noFill/>
        </p:spPr>
        <p:txBody>
          <a:bodyPr wrap="square" anchor="t" lIns="0" rIns="0" tIns="0" bIns="0">
            <a:spAutoFit/>
          </a:bodyPr>
          <a:lstStyle/>
          <a:p>
            <a:pPr algn="l">
              <a:spcAft>
                <a:spcPts val="100"/>
              </a:spcAft>
            </a:pPr>
            <a:r>
              <a:rPr sz="1200" b="1" i="0">
                <a:solidFill>
                  <a:srgbClr val="FFFFFF"/>
                </a:solidFill>
                <a:latin typeface="Calibri"/>
              </a:rPr>
              <a:t>1. Active Process Locks</a:t>
            </a:r>
          </a:p>
          <a:p>
            <a:pPr algn="l"/>
            <a:r>
              <a:rPr sz="1050" b="0" i="0">
                <a:solidFill>
                  <a:srgbClr val="A9BCDB"/>
                </a:solidFill>
                <a:latin typeface="Calibri"/>
              </a:rPr>
              <a:t>Open handles held by applications or services via Windows Restart Manager.</a:t>
            </a:r>
          </a:p>
        </p:txBody>
      </p:sp>
      <p:sp>
        <p:nvSpPr>
          <p:cNvPr id="24" name="Oval 23"/>
          <p:cNvSpPr/>
          <p:nvPr/>
        </p:nvSpPr>
        <p:spPr>
          <a:xfrm>
            <a:off x="4626864" y="2414016"/>
            <a:ext cx="146304" cy="146304"/>
          </a:xfrm>
          <a:prstGeom prst="ellipse">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8" y="2359152"/>
            <a:ext cx="3054096" cy="640080"/>
          </a:xfrm>
          <a:prstGeom prst="rect">
            <a:avLst/>
          </a:prstGeom>
          <a:noFill/>
        </p:spPr>
        <p:txBody>
          <a:bodyPr wrap="square" anchor="t" lIns="0" rIns="0" tIns="0" bIns="0">
            <a:spAutoFit/>
          </a:bodyPr>
          <a:lstStyle/>
          <a:p>
            <a:pPr algn="l">
              <a:spcAft>
                <a:spcPts val="100"/>
              </a:spcAft>
            </a:pPr>
            <a:r>
              <a:rPr sz="1200" b="1" i="0">
                <a:solidFill>
                  <a:srgbClr val="FFFFFF"/>
                </a:solidFill>
                <a:latin typeface="Calibri"/>
              </a:rPr>
              <a:t>2. Permission &amp; Ownership</a:t>
            </a:r>
          </a:p>
          <a:p>
            <a:pPr algn="l"/>
            <a:r>
              <a:rPr sz="1050" b="0" i="0">
                <a:solidFill>
                  <a:srgbClr val="A9BCDB"/>
                </a:solidFill>
                <a:latin typeface="Calibri"/>
              </a:rPr>
              <a:t>Preliminary READ/WRITE/EXECUTE/DELETE access (os.access) &amp; Win32 owner SID.</a:t>
            </a:r>
          </a:p>
        </p:txBody>
      </p:sp>
      <p:sp>
        <p:nvSpPr>
          <p:cNvPr id="26" name="Oval 25"/>
          <p:cNvSpPr/>
          <p:nvPr/>
        </p:nvSpPr>
        <p:spPr>
          <a:xfrm>
            <a:off x="4626864" y="3127248"/>
            <a:ext cx="146304" cy="146304"/>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64608" y="3072384"/>
            <a:ext cx="3054096" cy="640080"/>
          </a:xfrm>
          <a:prstGeom prst="rect">
            <a:avLst/>
          </a:prstGeom>
          <a:noFill/>
        </p:spPr>
        <p:txBody>
          <a:bodyPr wrap="square" anchor="t" lIns="0" rIns="0" tIns="0" bIns="0">
            <a:spAutoFit/>
          </a:bodyPr>
          <a:lstStyle/>
          <a:p>
            <a:pPr algn="l">
              <a:spcAft>
                <a:spcPts val="100"/>
              </a:spcAft>
            </a:pPr>
            <a:r>
              <a:rPr sz="1200" b="1" i="0">
                <a:solidFill>
                  <a:srgbClr val="FFFFFF"/>
                </a:solidFill>
                <a:latin typeface="Calibri"/>
              </a:rPr>
              <a:t>3. File Attributes</a:t>
            </a:r>
          </a:p>
          <a:p>
            <a:pPr algn="l"/>
            <a:r>
              <a:rPr sz="1050" b="0" i="0">
                <a:solidFill>
                  <a:srgbClr val="A9BCDB"/>
                </a:solidFill>
                <a:latin typeface="Calibri"/>
              </a:rPr>
              <a:t>Read-only restriction vs. informational flags (Hidden, System, Archive).</a:t>
            </a:r>
          </a:p>
        </p:txBody>
      </p:sp>
      <p:sp>
        <p:nvSpPr>
          <p:cNvPr id="28" name="Oval 27"/>
          <p:cNvSpPr/>
          <p:nvPr/>
        </p:nvSpPr>
        <p:spPr>
          <a:xfrm>
            <a:off x="4626864" y="3840479"/>
            <a:ext cx="146304" cy="146304"/>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4608" y="3785615"/>
            <a:ext cx="3054096" cy="640080"/>
          </a:xfrm>
          <a:prstGeom prst="rect">
            <a:avLst/>
          </a:prstGeom>
          <a:noFill/>
        </p:spPr>
        <p:txBody>
          <a:bodyPr wrap="square" anchor="t" lIns="0" rIns="0" tIns="0" bIns="0">
            <a:spAutoFit/>
          </a:bodyPr>
          <a:lstStyle/>
          <a:p>
            <a:pPr algn="l">
              <a:spcAft>
                <a:spcPts val="100"/>
              </a:spcAft>
            </a:pPr>
            <a:r>
              <a:rPr sz="1200" b="1" i="0">
                <a:solidFill>
                  <a:srgbClr val="FFFFFF"/>
                </a:solidFill>
                <a:latin typeface="Calibri"/>
              </a:rPr>
              <a:t>4. Cloud-Sync Evidence</a:t>
            </a:r>
          </a:p>
          <a:p>
            <a:pPr algn="l"/>
            <a:r>
              <a:rPr sz="1050" b="0" i="0">
                <a:solidFill>
                  <a:srgbClr val="A9BCDB"/>
                </a:solidFill>
                <a:latin typeface="Calibri"/>
              </a:rPr>
              <a:t>Local OneDrive &amp; Google Drive roots, active daemons, and client-lock correlation.</a:t>
            </a:r>
          </a:p>
        </p:txBody>
      </p:sp>
      <p:sp>
        <p:nvSpPr>
          <p:cNvPr id="30" name="Rounded Rectangle 29"/>
          <p:cNvSpPr/>
          <p:nvPr/>
        </p:nvSpPr>
        <p:spPr>
          <a:xfrm>
            <a:off x="8211312" y="1133856"/>
            <a:ext cx="3474720" cy="3584448"/>
          </a:xfrm>
          <a:prstGeom prst="roundRect">
            <a:avLst>
              <a:gd name="adj" fmla="val 4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94192" y="1280160"/>
            <a:ext cx="3108960" cy="256032"/>
          </a:xfrm>
          <a:prstGeom prst="rect">
            <a:avLst/>
          </a:prstGeom>
          <a:noFill/>
        </p:spPr>
        <p:txBody>
          <a:bodyPr wrap="square" anchor="t" lIns="0" rIns="0" tIns="0" bIns="0">
            <a:spAutoFit/>
          </a:bodyPr>
          <a:lstStyle/>
          <a:p>
            <a:pPr algn="l"/>
            <a:r>
              <a:rPr sz="1100" b="1" i="0">
                <a:solidFill>
                  <a:srgbClr val="4F8EF7"/>
                </a:solidFill>
                <a:latin typeface="Calibri"/>
              </a:rPr>
              <a:t>GAP IN EXISTING UTILITIES (TABLE 2.1)</a:t>
            </a:r>
          </a:p>
        </p:txBody>
      </p:sp>
      <p:sp>
        <p:nvSpPr>
          <p:cNvPr id="32" name="TextBox 31"/>
          <p:cNvSpPr txBox="1"/>
          <p:nvPr/>
        </p:nvSpPr>
        <p:spPr>
          <a:xfrm>
            <a:off x="8394192" y="1645920"/>
            <a:ext cx="3127248" cy="676656"/>
          </a:xfrm>
          <a:prstGeom prst="rect">
            <a:avLst/>
          </a:prstGeom>
          <a:noFill/>
        </p:spPr>
        <p:txBody>
          <a:bodyPr wrap="square" anchor="t" lIns="0" rIns="0" tIns="0" bIns="0">
            <a:spAutoFit/>
          </a:bodyPr>
          <a:lstStyle/>
          <a:p>
            <a:pPr algn="l">
              <a:spcAft>
                <a:spcPts val="100"/>
              </a:spcAft>
            </a:pPr>
            <a:r>
              <a:rPr sz="1100" b="1" i="0">
                <a:solidFill>
                  <a:srgbClr val="FFFFFF"/>
                </a:solidFill>
                <a:latin typeface="Calibri"/>
              </a:rPr>
              <a:t>Sysinternals Handle / ProcExp</a:t>
            </a:r>
          </a:p>
          <a:p>
            <a:pPr algn="l"/>
            <a:r>
              <a:rPr sz="1000" b="0" i="0">
                <a:solidFill>
                  <a:srgbClr val="A9BCDB"/>
                </a:solidFill>
                <a:latin typeface="Calibri"/>
              </a:rPr>
              <a:t>Developer-focused handle enumeration; can close handles (risking instability); no unified attribute or sync diagnosis.</a:t>
            </a:r>
          </a:p>
        </p:txBody>
      </p:sp>
      <p:sp>
        <p:nvSpPr>
          <p:cNvPr id="33" name="TextBox 32"/>
          <p:cNvSpPr txBox="1"/>
          <p:nvPr/>
        </p:nvSpPr>
        <p:spPr>
          <a:xfrm>
            <a:off x="8394192" y="2450592"/>
            <a:ext cx="3127248" cy="676656"/>
          </a:xfrm>
          <a:prstGeom prst="rect">
            <a:avLst/>
          </a:prstGeom>
          <a:noFill/>
        </p:spPr>
        <p:txBody>
          <a:bodyPr wrap="square" anchor="t" lIns="0" rIns="0" tIns="0" bIns="0">
            <a:spAutoFit/>
          </a:bodyPr>
          <a:lstStyle/>
          <a:p>
            <a:pPr algn="l">
              <a:spcAft>
                <a:spcPts val="100"/>
              </a:spcAft>
            </a:pPr>
            <a:r>
              <a:rPr sz="1100" b="1" i="0">
                <a:solidFill>
                  <a:srgbClr val="FFFFFF"/>
                </a:solidFill>
                <a:latin typeface="Calibri"/>
              </a:rPr>
              <a:t>PowerToys File Locksmith</a:t>
            </a:r>
          </a:p>
          <a:p>
            <a:pPr algn="l"/>
            <a:r>
              <a:rPr sz="1000" b="0" i="0">
                <a:solidFill>
                  <a:srgbClr val="A9BCDB"/>
                </a:solidFill>
                <a:latin typeface="Calibri"/>
              </a:rPr>
              <a:t>Convenient shell extension for process locks + 'End task', but reports 'No processes found' for attribute/ACL blocks.</a:t>
            </a:r>
          </a:p>
        </p:txBody>
      </p:sp>
      <p:sp>
        <p:nvSpPr>
          <p:cNvPr id="34" name="TextBox 33"/>
          <p:cNvSpPr txBox="1"/>
          <p:nvPr/>
        </p:nvSpPr>
        <p:spPr>
          <a:xfrm>
            <a:off x="8394192" y="3255264"/>
            <a:ext cx="3127248" cy="676656"/>
          </a:xfrm>
          <a:prstGeom prst="rect">
            <a:avLst/>
          </a:prstGeom>
          <a:noFill/>
        </p:spPr>
        <p:txBody>
          <a:bodyPr wrap="square" anchor="t" lIns="0" rIns="0" tIns="0" bIns="0">
            <a:spAutoFit/>
          </a:bodyPr>
          <a:lstStyle/>
          <a:p>
            <a:pPr algn="l">
              <a:spcAft>
                <a:spcPts val="100"/>
              </a:spcAft>
            </a:pPr>
            <a:r>
              <a:rPr sz="1100" b="1" i="0">
                <a:solidFill>
                  <a:srgbClr val="FFFFFF"/>
                </a:solidFill>
                <a:latin typeface="Calibri"/>
              </a:rPr>
              <a:t>LockHunter</a:t>
            </a:r>
          </a:p>
          <a:p>
            <a:pPr algn="l"/>
            <a:r>
              <a:rPr sz="1000" b="0" i="0">
                <a:solidFill>
                  <a:srgbClr val="A9BCDB"/>
                </a:solidFill>
                <a:latin typeface="Calibri"/>
              </a:rPr>
              <a:t>Action-oriented unlocker/terminator; built to kill processes or force-delete files rather than explain why access failed.</a:t>
            </a:r>
          </a:p>
        </p:txBody>
      </p:sp>
      <p:sp>
        <p:nvSpPr>
          <p:cNvPr id="35" name="TextBox 34"/>
          <p:cNvSpPr txBox="1"/>
          <p:nvPr/>
        </p:nvSpPr>
        <p:spPr>
          <a:xfrm>
            <a:off x="8394192" y="4005072"/>
            <a:ext cx="3127248" cy="621792"/>
          </a:xfrm>
          <a:prstGeom prst="rect">
            <a:avLst/>
          </a:prstGeom>
          <a:noFill/>
        </p:spPr>
        <p:txBody>
          <a:bodyPr wrap="square" anchor="t" lIns="0" rIns="0" tIns="0" bIns="0">
            <a:spAutoFit/>
          </a:bodyPr>
          <a:lstStyle/>
          <a:p>
            <a:pPr algn="l">
              <a:spcAft>
                <a:spcPts val="100"/>
              </a:spcAft>
            </a:pPr>
            <a:r>
              <a:rPr sz="1100" b="1" i="0">
                <a:solidFill>
                  <a:srgbClr val="2DD4A7"/>
                </a:solidFill>
                <a:latin typeface="Calibri"/>
              </a:rPr>
              <a:t>This Project (Delivered)</a:t>
            </a:r>
          </a:p>
          <a:p>
            <a:pPr algn="l"/>
            <a:r>
              <a:rPr sz="1000" b="0" i="0">
                <a:solidFill>
                  <a:srgbClr val="A9BCDB"/>
                </a:solidFill>
                <a:latin typeface="Calibri"/>
              </a:rPr>
              <a:t>Correlates locks, permissions, attributes &amp; local sync evidence; strictly read-only &amp; advisory.</a:t>
            </a:r>
          </a:p>
        </p:txBody>
      </p:sp>
      <p:sp>
        <p:nvSpPr>
          <p:cNvPr id="36" name="Rounded Rectangle 35"/>
          <p:cNvSpPr/>
          <p:nvPr/>
        </p:nvSpPr>
        <p:spPr>
          <a:xfrm>
            <a:off x="502920" y="4882896"/>
            <a:ext cx="11183112" cy="1572768"/>
          </a:xfrm>
          <a:prstGeom prst="roundRect">
            <a:avLst>
              <a:gd name="adj" fmla="val 4000"/>
            </a:avLst>
          </a:prstGeom>
          <a:solidFill>
            <a:srgbClr val="16294A"/>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010912"/>
            <a:ext cx="4114800" cy="237744"/>
          </a:xfrm>
          <a:prstGeom prst="rect">
            <a:avLst/>
          </a:prstGeom>
          <a:noFill/>
        </p:spPr>
        <p:txBody>
          <a:bodyPr wrap="square" anchor="t" lIns="0" rIns="0" tIns="0" bIns="0">
            <a:spAutoFit/>
          </a:bodyPr>
          <a:lstStyle/>
          <a:p>
            <a:pPr algn="l"/>
            <a:r>
              <a:rPr sz="1100" b="1" i="0">
                <a:solidFill>
                  <a:srgbClr val="4F8EF7"/>
                </a:solidFill>
                <a:latin typeface="Calibri"/>
              </a:rPr>
              <a:t>MAIN PROJECT OBJECTIVE &amp; SAFETY PRINCIPLE</a:t>
            </a:r>
          </a:p>
        </p:txBody>
      </p:sp>
      <p:sp>
        <p:nvSpPr>
          <p:cNvPr id="38" name="TextBox 37"/>
          <p:cNvSpPr txBox="1"/>
          <p:nvPr/>
        </p:nvSpPr>
        <p:spPr>
          <a:xfrm>
            <a:off x="731520" y="5285232"/>
            <a:ext cx="10744200" cy="1051560"/>
          </a:xfrm>
          <a:prstGeom prst="rect">
            <a:avLst/>
          </a:prstGeom>
          <a:noFill/>
        </p:spPr>
        <p:txBody>
          <a:bodyPr wrap="square" anchor="t" lIns="0" rIns="0" tIns="0" bIns="0">
            <a:spAutoFit/>
          </a:bodyPr>
          <a:lstStyle/>
          <a:p>
            <a:pPr algn="l">
              <a:spcAft>
                <a:spcPts val="400"/>
              </a:spcAft>
            </a:pPr>
            <a:r>
              <a:rPr sz="1300" b="1" i="0">
                <a:solidFill>
                  <a:srgbClr val="FFFFFF"/>
                </a:solidFill>
                <a:latin typeface="Calibri"/>
              </a:rPr>
              <a:t>Turn an Opaque Error into Evidence-Grounded Guidance: </a:t>
            </a:r>
            <a:r>
              <a:rPr sz="1250" b="0" i="0">
                <a:solidFill>
                  <a:srgbClr val="A9BCDB"/>
                </a:solidFill>
                <a:latin typeface="Calibri"/>
              </a:rPr>
              <a:t>Accept a file path and intended operation (</a:t>
            </a:r>
            <a:r>
              <a:rPr sz="1200" b="1" i="0">
                <a:solidFill>
                  <a:srgbClr val="2DD4A7"/>
                </a:solidFill>
                <a:latin typeface="Courier New"/>
              </a:rPr>
              <a:t>READ, WRITE, EXECUTE, DELETE</a:t>
            </a:r>
            <a:r>
              <a:rPr sz="1250" b="0" i="0">
                <a:solidFill>
                  <a:srgbClr val="A9BCDB"/>
                </a:solidFill>
                <a:latin typeface="Calibri"/>
              </a:rPr>
              <a:t>), gather structured OS evidence from four independent peer analyzers, select one deterministic primary diagnosis while preserving secondary findings, and provide a safe advisory next step — </a:t>
            </a:r>
            <a:r>
              <a:rPr sz="1250" b="1" i="0">
                <a:solidFill>
                  <a:srgbClr val="FFFFFF"/>
                </a:solidFill>
                <a:latin typeface="Calibri"/>
              </a:rPr>
              <a:t>never executing the operation, modifying files, or terminating processes.</a:t>
            </a:r>
          </a:p>
          <a:p>
            <a:pPr algn="l"/>
            <a:r>
              <a:rPr sz="1000" b="0" i="1">
                <a:solidFill>
                  <a:srgbClr val="6E86AE"/>
                </a:solidFill>
                <a:latin typeface="Calibri"/>
              </a:rPr>
              <a:t>Sources: Anderson &amp; Dahlin [1] · Silberschatz et al. [2] · Russinovich et al., Windows Internals [3] · Microsoft Learn (Sysinternals Handle [6], File Locksmith [7]) · LockHunter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3  •  FINAL OBJECTIVES &amp; DELIVERED SCOPE</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Completed System Deliverables and Architectural Boundaries</a:t>
            </a:r>
          </a:p>
        </p:txBody>
      </p:sp>
      <p:sp>
        <p:nvSpPr>
          <p:cNvPr id="4" name="Rounded Rectangle 3"/>
          <p:cNvSpPr/>
          <p:nvPr/>
        </p:nvSpPr>
        <p:spPr>
          <a:xfrm>
            <a:off x="502920" y="1115568"/>
            <a:ext cx="11183112" cy="475488"/>
          </a:xfrm>
          <a:prstGeom prst="roundRect">
            <a:avLst>
              <a:gd name="adj" fmla="val 8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216152"/>
            <a:ext cx="3931920" cy="274320"/>
          </a:xfrm>
          <a:prstGeom prst="rect">
            <a:avLst/>
          </a:prstGeom>
          <a:noFill/>
        </p:spPr>
        <p:txBody>
          <a:bodyPr wrap="square" anchor="t" lIns="0" rIns="0" tIns="0" bIns="0">
            <a:spAutoFit/>
          </a:bodyPr>
          <a:lstStyle/>
          <a:p>
            <a:pPr algn="l"/>
            <a:r>
              <a:rPr sz="1100" b="1" i="0">
                <a:solidFill>
                  <a:srgbClr val="4F8EF7"/>
                </a:solidFill>
                <a:latin typeface="Calibri"/>
              </a:rPr>
              <a:t>FOUR SUPPORTED OPERATIONS (STATIC CHECK ONLY):</a:t>
            </a:r>
          </a:p>
        </p:txBody>
      </p:sp>
      <p:sp>
        <p:nvSpPr>
          <p:cNvPr id="6" name="Rounded Rectangle 5"/>
          <p:cNvSpPr/>
          <p:nvPr/>
        </p:nvSpPr>
        <p:spPr>
          <a:xfrm>
            <a:off x="4709160" y="1179576"/>
            <a:ext cx="1572768" cy="347472"/>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207008"/>
            <a:ext cx="1481328" cy="292608"/>
          </a:xfrm>
          <a:prstGeom prst="rect">
            <a:avLst/>
          </a:prstGeom>
          <a:noFill/>
        </p:spPr>
        <p:txBody>
          <a:bodyPr wrap="square" anchor="ctr" lIns="0" rIns="0" tIns="0" bIns="0">
            <a:spAutoFit/>
          </a:bodyPr>
          <a:lstStyle/>
          <a:p>
            <a:pPr algn="ctr"/>
            <a:r>
              <a:rPr sz="1100" b="1" i="0">
                <a:solidFill>
                  <a:srgbClr val="2DD4A7"/>
                </a:solidFill>
                <a:latin typeface="Courier New"/>
              </a:rPr>
              <a:t>READ</a:t>
            </a:r>
          </a:p>
        </p:txBody>
      </p:sp>
      <p:sp>
        <p:nvSpPr>
          <p:cNvPr id="8" name="Rounded Rectangle 7"/>
          <p:cNvSpPr/>
          <p:nvPr/>
        </p:nvSpPr>
        <p:spPr>
          <a:xfrm>
            <a:off x="6355080" y="1179576"/>
            <a:ext cx="1572768" cy="347472"/>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1481328" cy="292608"/>
          </a:xfrm>
          <a:prstGeom prst="rect">
            <a:avLst/>
          </a:prstGeom>
          <a:noFill/>
        </p:spPr>
        <p:txBody>
          <a:bodyPr wrap="square" anchor="ctr" lIns="0" rIns="0" tIns="0" bIns="0">
            <a:spAutoFit/>
          </a:bodyPr>
          <a:lstStyle/>
          <a:p>
            <a:pPr algn="ctr"/>
            <a:r>
              <a:rPr sz="1100" b="1" i="0">
                <a:solidFill>
                  <a:srgbClr val="2DD4A7"/>
                </a:solidFill>
                <a:latin typeface="Courier New"/>
              </a:rPr>
              <a:t>WRITE</a:t>
            </a:r>
          </a:p>
        </p:txBody>
      </p:sp>
      <p:sp>
        <p:nvSpPr>
          <p:cNvPr id="10" name="Rounded Rectangle 9"/>
          <p:cNvSpPr/>
          <p:nvPr/>
        </p:nvSpPr>
        <p:spPr>
          <a:xfrm>
            <a:off x="8183879" y="1179576"/>
            <a:ext cx="1572768" cy="347472"/>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207008"/>
            <a:ext cx="1481328" cy="292608"/>
          </a:xfrm>
          <a:prstGeom prst="rect">
            <a:avLst/>
          </a:prstGeom>
          <a:noFill/>
        </p:spPr>
        <p:txBody>
          <a:bodyPr wrap="square" anchor="ctr" lIns="0" rIns="0" tIns="0" bIns="0">
            <a:spAutoFit/>
          </a:bodyPr>
          <a:lstStyle/>
          <a:p>
            <a:pPr algn="ctr"/>
            <a:r>
              <a:rPr sz="1100" b="1" i="0">
                <a:solidFill>
                  <a:srgbClr val="2DD4A7"/>
                </a:solidFill>
                <a:latin typeface="Courier New"/>
              </a:rPr>
              <a:t>EXECUTE</a:t>
            </a:r>
          </a:p>
        </p:txBody>
      </p:sp>
      <p:sp>
        <p:nvSpPr>
          <p:cNvPr id="12" name="Rounded Rectangle 11"/>
          <p:cNvSpPr/>
          <p:nvPr/>
        </p:nvSpPr>
        <p:spPr>
          <a:xfrm>
            <a:off x="9966960" y="1179576"/>
            <a:ext cx="1572768" cy="347472"/>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12680" y="1207008"/>
            <a:ext cx="1481328" cy="292608"/>
          </a:xfrm>
          <a:prstGeom prst="rect">
            <a:avLst/>
          </a:prstGeom>
          <a:noFill/>
        </p:spPr>
        <p:txBody>
          <a:bodyPr wrap="square" anchor="ctr" lIns="0" rIns="0" tIns="0" bIns="0">
            <a:spAutoFit/>
          </a:bodyPr>
          <a:lstStyle/>
          <a:p>
            <a:pPr algn="ctr"/>
            <a:r>
              <a:rPr sz="1100" b="1" i="0">
                <a:solidFill>
                  <a:srgbClr val="2DD4A7"/>
                </a:solidFill>
                <a:latin typeface="Courier New"/>
              </a:rPr>
              <a:t>DELETE</a:t>
            </a:r>
          </a:p>
        </p:txBody>
      </p:sp>
      <p:sp>
        <p:nvSpPr>
          <p:cNvPr id="14" name="Rounded Rectangle 13"/>
          <p:cNvSpPr/>
          <p:nvPr/>
        </p:nvSpPr>
        <p:spPr>
          <a:xfrm>
            <a:off x="502920" y="1700784"/>
            <a:ext cx="2651760" cy="1755648"/>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67512" y="1828800"/>
            <a:ext cx="347472" cy="347472"/>
          </a:xfrm>
          <a:prstGeom prst="ellipse">
            <a:avLst/>
          </a:prstGeom>
          <a:solidFill>
            <a:srgbClr val="2B5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1828800"/>
            <a:ext cx="347472" cy="347472"/>
          </a:xfrm>
          <a:prstGeom prst="rect">
            <a:avLst/>
          </a:prstGeom>
          <a:noFill/>
        </p:spPr>
        <p:txBody>
          <a:bodyPr wrap="square" anchor="ctr" lIns="0" rIns="0" tIns="0" bIns="0">
            <a:spAutoFit/>
          </a:bodyPr>
          <a:lstStyle/>
          <a:p>
            <a:pPr algn="ctr"/>
            <a:r>
              <a:rPr sz="1100" b="1" i="0">
                <a:solidFill>
                  <a:srgbClr val="FFFFFF"/>
                </a:solidFill>
                <a:latin typeface="Courier New"/>
              </a:rPr>
              <a:t>01</a:t>
            </a:r>
          </a:p>
        </p:txBody>
      </p:sp>
      <p:sp>
        <p:nvSpPr>
          <p:cNvPr id="17" name="TextBox 16"/>
          <p:cNvSpPr txBox="1"/>
          <p:nvPr/>
        </p:nvSpPr>
        <p:spPr>
          <a:xfrm>
            <a:off x="1088136" y="1847088"/>
            <a:ext cx="1938528" cy="310896"/>
          </a:xfrm>
          <a:prstGeom prst="rect">
            <a:avLst/>
          </a:prstGeom>
          <a:noFill/>
        </p:spPr>
        <p:txBody>
          <a:bodyPr wrap="square" anchor="t" lIns="0" rIns="0" tIns="0" bIns="0">
            <a:spAutoFit/>
          </a:bodyPr>
          <a:lstStyle/>
          <a:p>
            <a:pPr algn="l"/>
            <a:r>
              <a:rPr sz="1300" b="1" i="0">
                <a:solidFill>
                  <a:srgbClr val="FFFFFF"/>
                </a:solidFill>
                <a:latin typeface="Calibri"/>
              </a:rPr>
              <a:t>Process / Lock Analyzer</a:t>
            </a:r>
          </a:p>
        </p:txBody>
      </p:sp>
      <p:sp>
        <p:nvSpPr>
          <p:cNvPr id="18" name="TextBox 17"/>
          <p:cNvSpPr txBox="1"/>
          <p:nvPr/>
        </p:nvSpPr>
        <p:spPr>
          <a:xfrm>
            <a:off x="667512" y="2231136"/>
            <a:ext cx="2322576" cy="822960"/>
          </a:xfrm>
          <a:prstGeom prst="rect">
            <a:avLst/>
          </a:prstGeom>
          <a:noFill/>
        </p:spPr>
        <p:txBody>
          <a:bodyPr wrap="square" anchor="t" lIns="0" rIns="0" tIns="0" bIns="0">
            <a:spAutoFit/>
          </a:bodyPr>
          <a:lstStyle/>
          <a:p>
            <a:pPr algn="l"/>
            <a:r>
              <a:rPr sz="1050" b="0" i="0">
                <a:solidFill>
                  <a:srgbClr val="A9BCDB"/>
                </a:solidFill>
                <a:latin typeface="Calibri"/>
              </a:rPr>
              <a:t>Queries Windows Restart Manager (rstrtmgr.dll) for holding process name &amp; PID; enriches executable path via psutil.</a:t>
            </a:r>
          </a:p>
        </p:txBody>
      </p:sp>
      <p:sp>
        <p:nvSpPr>
          <p:cNvPr id="19" name="Rounded Rectangle 18"/>
          <p:cNvSpPr/>
          <p:nvPr/>
        </p:nvSpPr>
        <p:spPr>
          <a:xfrm>
            <a:off x="667512" y="3108960"/>
            <a:ext cx="1234440" cy="237744"/>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136391"/>
            <a:ext cx="1143000" cy="182880"/>
          </a:xfrm>
          <a:prstGeom prst="rect">
            <a:avLst/>
          </a:prstGeom>
          <a:noFill/>
        </p:spPr>
        <p:txBody>
          <a:bodyPr wrap="square" anchor="ctr" lIns="0" rIns="0" tIns="0" bIns="0">
            <a:spAutoFit/>
          </a:bodyPr>
          <a:lstStyle/>
          <a:p>
            <a:pPr algn="ctr"/>
            <a:r>
              <a:rPr sz="1000" b="1" i="0">
                <a:solidFill>
                  <a:srgbClr val="2DD4A7"/>
                </a:solidFill>
                <a:latin typeface="Calibri"/>
              </a:rPr>
              <a:t>IMPLEMENTED</a:t>
            </a:r>
          </a:p>
        </p:txBody>
      </p:sp>
      <p:sp>
        <p:nvSpPr>
          <p:cNvPr id="21" name="Rounded Rectangle 20"/>
          <p:cNvSpPr/>
          <p:nvPr/>
        </p:nvSpPr>
        <p:spPr>
          <a:xfrm>
            <a:off x="3346704" y="1700784"/>
            <a:ext cx="2651760" cy="1755648"/>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11296" y="1828800"/>
            <a:ext cx="347472" cy="347472"/>
          </a:xfrm>
          <a:prstGeom prst="ellipse">
            <a:avLst/>
          </a:prstGeom>
          <a:solidFill>
            <a:srgbClr val="2B5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1296" y="1828800"/>
            <a:ext cx="347472" cy="347472"/>
          </a:xfrm>
          <a:prstGeom prst="rect">
            <a:avLst/>
          </a:prstGeom>
          <a:noFill/>
        </p:spPr>
        <p:txBody>
          <a:bodyPr wrap="square" anchor="ctr" lIns="0" rIns="0" tIns="0" bIns="0">
            <a:spAutoFit/>
          </a:bodyPr>
          <a:lstStyle/>
          <a:p>
            <a:pPr algn="ctr"/>
            <a:r>
              <a:rPr sz="1100" b="1" i="0">
                <a:solidFill>
                  <a:srgbClr val="FFFFFF"/>
                </a:solidFill>
                <a:latin typeface="Courier New"/>
              </a:rPr>
              <a:t>02</a:t>
            </a:r>
          </a:p>
        </p:txBody>
      </p:sp>
      <p:sp>
        <p:nvSpPr>
          <p:cNvPr id="24" name="TextBox 23"/>
          <p:cNvSpPr txBox="1"/>
          <p:nvPr/>
        </p:nvSpPr>
        <p:spPr>
          <a:xfrm>
            <a:off x="3931920" y="1847088"/>
            <a:ext cx="1938528" cy="310896"/>
          </a:xfrm>
          <a:prstGeom prst="rect">
            <a:avLst/>
          </a:prstGeom>
          <a:noFill/>
        </p:spPr>
        <p:txBody>
          <a:bodyPr wrap="square" anchor="t" lIns="0" rIns="0" tIns="0" bIns="0">
            <a:spAutoFit/>
          </a:bodyPr>
          <a:lstStyle/>
          <a:p>
            <a:pPr algn="l"/>
            <a:r>
              <a:rPr sz="1300" b="1" i="0">
                <a:solidFill>
                  <a:srgbClr val="FFFFFF"/>
                </a:solidFill>
                <a:latin typeface="Calibri"/>
              </a:rPr>
              <a:t>Permission / Ownership</a:t>
            </a:r>
          </a:p>
        </p:txBody>
      </p:sp>
      <p:sp>
        <p:nvSpPr>
          <p:cNvPr id="25" name="TextBox 24"/>
          <p:cNvSpPr txBox="1"/>
          <p:nvPr/>
        </p:nvSpPr>
        <p:spPr>
          <a:xfrm>
            <a:off x="3511296" y="2231136"/>
            <a:ext cx="2322576" cy="822960"/>
          </a:xfrm>
          <a:prstGeom prst="rect">
            <a:avLst/>
          </a:prstGeom>
          <a:noFill/>
        </p:spPr>
        <p:txBody>
          <a:bodyPr wrap="square" anchor="t" lIns="0" rIns="0" tIns="0" bIns="0">
            <a:spAutoFit/>
          </a:bodyPr>
          <a:lstStyle/>
          <a:p>
            <a:pPr algn="l"/>
            <a:r>
              <a:rPr sz="1050" b="0" i="0">
                <a:solidFill>
                  <a:srgbClr val="A9BCDB"/>
                </a:solidFill>
                <a:latin typeface="Calibri"/>
              </a:rPr>
              <a:t>Checks os.access() for READ, WRITE, EXECUTE &amp; DELETE; resolves NTFS owner (DOMAIN\User) via advapi32.dll.</a:t>
            </a:r>
          </a:p>
        </p:txBody>
      </p:sp>
      <p:sp>
        <p:nvSpPr>
          <p:cNvPr id="26" name="Rounded Rectangle 25"/>
          <p:cNvSpPr/>
          <p:nvPr/>
        </p:nvSpPr>
        <p:spPr>
          <a:xfrm>
            <a:off x="3511296" y="3108960"/>
            <a:ext cx="1234440" cy="237744"/>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7016" y="3136391"/>
            <a:ext cx="1143000" cy="182880"/>
          </a:xfrm>
          <a:prstGeom prst="rect">
            <a:avLst/>
          </a:prstGeom>
          <a:noFill/>
        </p:spPr>
        <p:txBody>
          <a:bodyPr wrap="square" anchor="ctr" lIns="0" rIns="0" tIns="0" bIns="0">
            <a:spAutoFit/>
          </a:bodyPr>
          <a:lstStyle/>
          <a:p>
            <a:pPr algn="ctr"/>
            <a:r>
              <a:rPr sz="1000" b="1" i="0">
                <a:solidFill>
                  <a:srgbClr val="2DD4A7"/>
                </a:solidFill>
                <a:latin typeface="Calibri"/>
              </a:rPr>
              <a:t>IMPLEMENTED</a:t>
            </a:r>
          </a:p>
        </p:txBody>
      </p:sp>
      <p:sp>
        <p:nvSpPr>
          <p:cNvPr id="28" name="Rounded Rectangle 27"/>
          <p:cNvSpPr/>
          <p:nvPr/>
        </p:nvSpPr>
        <p:spPr>
          <a:xfrm>
            <a:off x="6190488" y="1700784"/>
            <a:ext cx="2651760" cy="1755648"/>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55079" y="1828800"/>
            <a:ext cx="347472" cy="347472"/>
          </a:xfrm>
          <a:prstGeom prst="ellipse">
            <a:avLst/>
          </a:prstGeom>
          <a:solidFill>
            <a:srgbClr val="2B5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79" y="1828800"/>
            <a:ext cx="347472" cy="347472"/>
          </a:xfrm>
          <a:prstGeom prst="rect">
            <a:avLst/>
          </a:prstGeom>
          <a:noFill/>
        </p:spPr>
        <p:txBody>
          <a:bodyPr wrap="square" anchor="ctr" lIns="0" rIns="0" tIns="0" bIns="0">
            <a:spAutoFit/>
          </a:bodyPr>
          <a:lstStyle/>
          <a:p>
            <a:pPr algn="ctr"/>
            <a:r>
              <a:rPr sz="1100" b="1" i="0">
                <a:solidFill>
                  <a:srgbClr val="FFFFFF"/>
                </a:solidFill>
                <a:latin typeface="Courier New"/>
              </a:rPr>
              <a:t>03</a:t>
            </a:r>
          </a:p>
        </p:txBody>
      </p:sp>
      <p:sp>
        <p:nvSpPr>
          <p:cNvPr id="31" name="TextBox 30"/>
          <p:cNvSpPr txBox="1"/>
          <p:nvPr/>
        </p:nvSpPr>
        <p:spPr>
          <a:xfrm>
            <a:off x="6775703" y="1847088"/>
            <a:ext cx="1938528" cy="310896"/>
          </a:xfrm>
          <a:prstGeom prst="rect">
            <a:avLst/>
          </a:prstGeom>
          <a:noFill/>
        </p:spPr>
        <p:txBody>
          <a:bodyPr wrap="square" anchor="t" lIns="0" rIns="0" tIns="0" bIns="0">
            <a:spAutoFit/>
          </a:bodyPr>
          <a:lstStyle/>
          <a:p>
            <a:pPr algn="l"/>
            <a:r>
              <a:rPr sz="1300" b="1" i="0">
                <a:solidFill>
                  <a:srgbClr val="FFFFFF"/>
                </a:solidFill>
                <a:latin typeface="Calibri"/>
              </a:rPr>
              <a:t>File Attribute Analyzer</a:t>
            </a:r>
          </a:p>
        </p:txBody>
      </p:sp>
      <p:sp>
        <p:nvSpPr>
          <p:cNvPr id="32" name="TextBox 31"/>
          <p:cNvSpPr txBox="1"/>
          <p:nvPr/>
        </p:nvSpPr>
        <p:spPr>
          <a:xfrm>
            <a:off x="6355079" y="2231136"/>
            <a:ext cx="2322576" cy="822960"/>
          </a:xfrm>
          <a:prstGeom prst="rect">
            <a:avLst/>
          </a:prstGeom>
          <a:noFill/>
        </p:spPr>
        <p:txBody>
          <a:bodyPr wrap="square" anchor="t" lIns="0" rIns="0" tIns="0" bIns="0">
            <a:spAutoFit/>
          </a:bodyPr>
          <a:lstStyle/>
          <a:p>
            <a:pPr algn="l"/>
            <a:r>
              <a:rPr sz="1050" b="0" i="0">
                <a:solidFill>
                  <a:srgbClr val="A9BCDB"/>
                </a:solidFill>
                <a:latin typeface="Calibri"/>
              </a:rPr>
              <a:t>Reads os.stat().st_file_attributes (GetFileAttributesW fallback) to decode 6 Win32 attribute flags &amp; hex bitmask.</a:t>
            </a:r>
          </a:p>
        </p:txBody>
      </p:sp>
      <p:sp>
        <p:nvSpPr>
          <p:cNvPr id="33" name="Rounded Rectangle 32"/>
          <p:cNvSpPr/>
          <p:nvPr/>
        </p:nvSpPr>
        <p:spPr>
          <a:xfrm>
            <a:off x="6355079" y="3108960"/>
            <a:ext cx="1234440" cy="237744"/>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799" y="3136391"/>
            <a:ext cx="1143000" cy="182880"/>
          </a:xfrm>
          <a:prstGeom prst="rect">
            <a:avLst/>
          </a:prstGeom>
          <a:noFill/>
        </p:spPr>
        <p:txBody>
          <a:bodyPr wrap="square" anchor="ctr" lIns="0" rIns="0" tIns="0" bIns="0">
            <a:spAutoFit/>
          </a:bodyPr>
          <a:lstStyle/>
          <a:p>
            <a:pPr algn="ctr"/>
            <a:r>
              <a:rPr sz="1000" b="1" i="0">
                <a:solidFill>
                  <a:srgbClr val="2DD4A7"/>
                </a:solidFill>
                <a:latin typeface="Calibri"/>
              </a:rPr>
              <a:t>IMPLEMENTED</a:t>
            </a:r>
          </a:p>
        </p:txBody>
      </p:sp>
      <p:sp>
        <p:nvSpPr>
          <p:cNvPr id="35" name="Rounded Rectangle 34"/>
          <p:cNvSpPr/>
          <p:nvPr/>
        </p:nvSpPr>
        <p:spPr>
          <a:xfrm>
            <a:off x="9034272" y="1700784"/>
            <a:ext cx="2651760" cy="1755648"/>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98864" y="1828800"/>
            <a:ext cx="347472" cy="347472"/>
          </a:xfrm>
          <a:prstGeom prst="ellipse">
            <a:avLst/>
          </a:prstGeom>
          <a:solidFill>
            <a:srgbClr val="2B5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98864" y="1828800"/>
            <a:ext cx="347472" cy="347472"/>
          </a:xfrm>
          <a:prstGeom prst="rect">
            <a:avLst/>
          </a:prstGeom>
          <a:noFill/>
        </p:spPr>
        <p:txBody>
          <a:bodyPr wrap="square" anchor="ctr" lIns="0" rIns="0" tIns="0" bIns="0">
            <a:spAutoFit/>
          </a:bodyPr>
          <a:lstStyle/>
          <a:p>
            <a:pPr algn="ctr"/>
            <a:r>
              <a:rPr sz="1100" b="1" i="0">
                <a:solidFill>
                  <a:srgbClr val="FFFFFF"/>
                </a:solidFill>
                <a:latin typeface="Courier New"/>
              </a:rPr>
              <a:t>04</a:t>
            </a:r>
          </a:p>
        </p:txBody>
      </p:sp>
      <p:sp>
        <p:nvSpPr>
          <p:cNvPr id="38" name="TextBox 37"/>
          <p:cNvSpPr txBox="1"/>
          <p:nvPr/>
        </p:nvSpPr>
        <p:spPr>
          <a:xfrm>
            <a:off x="9619488" y="1847088"/>
            <a:ext cx="1938528" cy="310896"/>
          </a:xfrm>
          <a:prstGeom prst="rect">
            <a:avLst/>
          </a:prstGeom>
          <a:noFill/>
        </p:spPr>
        <p:txBody>
          <a:bodyPr wrap="square" anchor="t" lIns="0" rIns="0" tIns="0" bIns="0">
            <a:spAutoFit/>
          </a:bodyPr>
          <a:lstStyle/>
          <a:p>
            <a:pPr algn="l"/>
            <a:r>
              <a:rPr sz="1300" b="1" i="0">
                <a:solidFill>
                  <a:srgbClr val="FFFFFF"/>
                </a:solidFill>
                <a:latin typeface="Calibri"/>
              </a:rPr>
              <a:t>Cloud-Sync Analyzer</a:t>
            </a:r>
          </a:p>
        </p:txBody>
      </p:sp>
      <p:sp>
        <p:nvSpPr>
          <p:cNvPr id="39" name="TextBox 38"/>
          <p:cNvSpPr txBox="1"/>
          <p:nvPr/>
        </p:nvSpPr>
        <p:spPr>
          <a:xfrm>
            <a:off x="9198864" y="2231136"/>
            <a:ext cx="2322576" cy="822960"/>
          </a:xfrm>
          <a:prstGeom prst="rect">
            <a:avLst/>
          </a:prstGeom>
          <a:noFill/>
        </p:spPr>
        <p:txBody>
          <a:bodyPr wrap="square" anchor="t" lIns="0" rIns="0" tIns="0" bIns="0">
            <a:spAutoFit/>
          </a:bodyPr>
          <a:lstStyle/>
          <a:p>
            <a:pPr algn="l"/>
            <a:r>
              <a:rPr sz="1050" b="0" i="0">
                <a:solidFill>
                  <a:srgbClr val="A9BCDB"/>
                </a:solidFill>
                <a:latin typeface="Calibri"/>
              </a:rPr>
              <a:t>Local OneDrive &amp; Google Drive root/daemon discovery across 4 conservative tiers (none to confirmed_lock).</a:t>
            </a:r>
          </a:p>
        </p:txBody>
      </p:sp>
      <p:sp>
        <p:nvSpPr>
          <p:cNvPr id="40" name="Rounded Rectangle 39"/>
          <p:cNvSpPr/>
          <p:nvPr/>
        </p:nvSpPr>
        <p:spPr>
          <a:xfrm>
            <a:off x="9198864" y="3108960"/>
            <a:ext cx="1234440" cy="237744"/>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44584" y="3136391"/>
            <a:ext cx="1143000" cy="182880"/>
          </a:xfrm>
          <a:prstGeom prst="rect">
            <a:avLst/>
          </a:prstGeom>
          <a:noFill/>
        </p:spPr>
        <p:txBody>
          <a:bodyPr wrap="square" anchor="ctr" lIns="0" rIns="0" tIns="0" bIns="0">
            <a:spAutoFit/>
          </a:bodyPr>
          <a:lstStyle/>
          <a:p>
            <a:pPr algn="ctr"/>
            <a:r>
              <a:rPr sz="1000" b="1" i="0">
                <a:solidFill>
                  <a:srgbClr val="2DD4A7"/>
                </a:solidFill>
                <a:latin typeface="Calibri"/>
              </a:rPr>
              <a:t>IMPLEMENTED</a:t>
            </a:r>
          </a:p>
        </p:txBody>
      </p:sp>
      <p:sp>
        <p:nvSpPr>
          <p:cNvPr id="42" name="Rounded Rectangle 41"/>
          <p:cNvSpPr/>
          <p:nvPr/>
        </p:nvSpPr>
        <p:spPr>
          <a:xfrm>
            <a:off x="502920" y="3566160"/>
            <a:ext cx="3584448" cy="1609344"/>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67512" y="3694176"/>
            <a:ext cx="347472" cy="347472"/>
          </a:xfrm>
          <a:prstGeom prst="ellipse">
            <a:avLst/>
          </a:prstGeom>
          <a:solidFill>
            <a:srgbClr val="2B5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7512" y="3694176"/>
            <a:ext cx="347472" cy="347472"/>
          </a:xfrm>
          <a:prstGeom prst="rect">
            <a:avLst/>
          </a:prstGeom>
          <a:noFill/>
        </p:spPr>
        <p:txBody>
          <a:bodyPr wrap="square" anchor="ctr" lIns="0" rIns="0" tIns="0" bIns="0">
            <a:spAutoFit/>
          </a:bodyPr>
          <a:lstStyle/>
          <a:p>
            <a:pPr algn="ctr"/>
            <a:r>
              <a:rPr sz="1100" b="1" i="0">
                <a:solidFill>
                  <a:srgbClr val="FFFFFF"/>
                </a:solidFill>
                <a:latin typeface="Courier New"/>
              </a:rPr>
              <a:t>05</a:t>
            </a:r>
          </a:p>
        </p:txBody>
      </p:sp>
      <p:sp>
        <p:nvSpPr>
          <p:cNvPr id="45" name="TextBox 44"/>
          <p:cNvSpPr txBox="1"/>
          <p:nvPr/>
        </p:nvSpPr>
        <p:spPr>
          <a:xfrm>
            <a:off x="1088136" y="3712463"/>
            <a:ext cx="2852928" cy="310896"/>
          </a:xfrm>
          <a:prstGeom prst="rect">
            <a:avLst/>
          </a:prstGeom>
          <a:noFill/>
        </p:spPr>
        <p:txBody>
          <a:bodyPr wrap="square" anchor="t" lIns="0" rIns="0" tIns="0" bIns="0">
            <a:spAutoFit/>
          </a:bodyPr>
          <a:lstStyle/>
          <a:p>
            <a:pPr algn="l"/>
            <a:r>
              <a:rPr sz="1300" b="1" i="0">
                <a:solidFill>
                  <a:srgbClr val="FFFFFF"/>
                </a:solidFill>
                <a:latin typeface="Calibri"/>
              </a:rPr>
              <a:t>Diagnosis Engine &amp; Correlation</a:t>
            </a:r>
          </a:p>
        </p:txBody>
      </p:sp>
      <p:sp>
        <p:nvSpPr>
          <p:cNvPr id="46" name="TextBox 45"/>
          <p:cNvSpPr txBox="1"/>
          <p:nvPr/>
        </p:nvSpPr>
        <p:spPr>
          <a:xfrm>
            <a:off x="667512" y="4078224"/>
            <a:ext cx="3255264" cy="713232"/>
          </a:xfrm>
          <a:prstGeom prst="rect">
            <a:avLst/>
          </a:prstGeom>
          <a:noFill/>
        </p:spPr>
        <p:txBody>
          <a:bodyPr wrap="square" anchor="t" lIns="0" rIns="0" tIns="0" bIns="0">
            <a:spAutoFit/>
          </a:bodyPr>
          <a:lstStyle/>
          <a:p>
            <a:pPr algn="l"/>
            <a:r>
              <a:rPr sz="1050" b="0" i="0">
                <a:solidFill>
                  <a:srgbClr val="A9BCDB"/>
                </a:solidFill>
                <a:latin typeface="Calibri"/>
              </a:rPr>
              <a:t>Normalises paths, isolates analyzer exceptions (_safe_analyze_*), correlates sync locks (correlate_sync_lock), and applies the 7-rule priority policy while preserving secondary findings.</a:t>
            </a:r>
          </a:p>
        </p:txBody>
      </p:sp>
      <p:sp>
        <p:nvSpPr>
          <p:cNvPr id="47" name="Rounded Rectangle 46"/>
          <p:cNvSpPr/>
          <p:nvPr/>
        </p:nvSpPr>
        <p:spPr>
          <a:xfrm>
            <a:off x="667512" y="4828032"/>
            <a:ext cx="1234440" cy="237744"/>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3232" y="4855464"/>
            <a:ext cx="1143000" cy="182880"/>
          </a:xfrm>
          <a:prstGeom prst="rect">
            <a:avLst/>
          </a:prstGeom>
          <a:noFill/>
        </p:spPr>
        <p:txBody>
          <a:bodyPr wrap="square" anchor="ctr" lIns="0" rIns="0" tIns="0" bIns="0">
            <a:spAutoFit/>
          </a:bodyPr>
          <a:lstStyle/>
          <a:p>
            <a:pPr algn="ctr"/>
            <a:r>
              <a:rPr sz="1000" b="1" i="0">
                <a:solidFill>
                  <a:srgbClr val="2DD4A7"/>
                </a:solidFill>
                <a:latin typeface="Calibri"/>
              </a:rPr>
              <a:t>IMPLEMENTED</a:t>
            </a:r>
          </a:p>
        </p:txBody>
      </p:sp>
      <p:sp>
        <p:nvSpPr>
          <p:cNvPr id="49" name="Rounded Rectangle 48"/>
          <p:cNvSpPr/>
          <p:nvPr/>
        </p:nvSpPr>
        <p:spPr>
          <a:xfrm>
            <a:off x="4261104" y="3566160"/>
            <a:ext cx="3584448" cy="1609344"/>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425696" y="3694176"/>
            <a:ext cx="347472" cy="347472"/>
          </a:xfrm>
          <a:prstGeom prst="ellipse">
            <a:avLst/>
          </a:prstGeom>
          <a:solidFill>
            <a:srgbClr val="2B5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25696" y="3694176"/>
            <a:ext cx="347472" cy="347472"/>
          </a:xfrm>
          <a:prstGeom prst="rect">
            <a:avLst/>
          </a:prstGeom>
          <a:noFill/>
        </p:spPr>
        <p:txBody>
          <a:bodyPr wrap="square" anchor="ctr" lIns="0" rIns="0" tIns="0" bIns="0">
            <a:spAutoFit/>
          </a:bodyPr>
          <a:lstStyle/>
          <a:p>
            <a:pPr algn="ctr"/>
            <a:r>
              <a:rPr sz="1100" b="1" i="0">
                <a:solidFill>
                  <a:srgbClr val="FFFFFF"/>
                </a:solidFill>
                <a:latin typeface="Courier New"/>
              </a:rPr>
              <a:t>06</a:t>
            </a:r>
          </a:p>
        </p:txBody>
      </p:sp>
      <p:sp>
        <p:nvSpPr>
          <p:cNvPr id="52" name="TextBox 51"/>
          <p:cNvSpPr txBox="1"/>
          <p:nvPr/>
        </p:nvSpPr>
        <p:spPr>
          <a:xfrm>
            <a:off x="4846320" y="3712463"/>
            <a:ext cx="2852928" cy="310896"/>
          </a:xfrm>
          <a:prstGeom prst="rect">
            <a:avLst/>
          </a:prstGeom>
          <a:noFill/>
        </p:spPr>
        <p:txBody>
          <a:bodyPr wrap="square" anchor="t" lIns="0" rIns="0" tIns="0" bIns="0">
            <a:spAutoFit/>
          </a:bodyPr>
          <a:lstStyle/>
          <a:p>
            <a:pPr algn="l"/>
            <a:r>
              <a:rPr sz="1300" b="1" i="0">
                <a:solidFill>
                  <a:srgbClr val="FFFFFF"/>
                </a:solidFill>
                <a:latin typeface="Calibri"/>
              </a:rPr>
              <a:t>Recommendation Engine</a:t>
            </a:r>
          </a:p>
        </p:txBody>
      </p:sp>
      <p:sp>
        <p:nvSpPr>
          <p:cNvPr id="53" name="TextBox 52"/>
          <p:cNvSpPr txBox="1"/>
          <p:nvPr/>
        </p:nvSpPr>
        <p:spPr>
          <a:xfrm>
            <a:off x="4425696" y="4078224"/>
            <a:ext cx="3255264" cy="713232"/>
          </a:xfrm>
          <a:prstGeom prst="rect">
            <a:avLst/>
          </a:prstGeom>
          <a:noFill/>
        </p:spPr>
        <p:txBody>
          <a:bodyPr wrap="square" anchor="t" lIns="0" rIns="0" tIns="0" bIns="0">
            <a:spAutoFit/>
          </a:bodyPr>
          <a:lstStyle/>
          <a:p>
            <a:pPr algn="l"/>
            <a:r>
              <a:rPr sz="1050" b="0" i="0">
                <a:solidFill>
                  <a:srgbClr val="A9BCDB"/>
                </a:solidFill>
                <a:latin typeface="Calibri"/>
              </a:rPr>
              <a:t>Maps all 7 DiagnosisType categories and raw evidence (holding process names/PIDs, resolved file owner, sync provider) into safe, human-readable advisory guidance.</a:t>
            </a:r>
          </a:p>
        </p:txBody>
      </p:sp>
      <p:sp>
        <p:nvSpPr>
          <p:cNvPr id="54" name="Rounded Rectangle 53"/>
          <p:cNvSpPr/>
          <p:nvPr/>
        </p:nvSpPr>
        <p:spPr>
          <a:xfrm>
            <a:off x="4425696" y="4828032"/>
            <a:ext cx="1234440" cy="237744"/>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471416" y="4855464"/>
            <a:ext cx="1143000" cy="182880"/>
          </a:xfrm>
          <a:prstGeom prst="rect">
            <a:avLst/>
          </a:prstGeom>
          <a:noFill/>
        </p:spPr>
        <p:txBody>
          <a:bodyPr wrap="square" anchor="ctr" lIns="0" rIns="0" tIns="0" bIns="0">
            <a:spAutoFit/>
          </a:bodyPr>
          <a:lstStyle/>
          <a:p>
            <a:pPr algn="ctr"/>
            <a:r>
              <a:rPr sz="1000" b="1" i="0">
                <a:solidFill>
                  <a:srgbClr val="2DD4A7"/>
                </a:solidFill>
                <a:latin typeface="Calibri"/>
              </a:rPr>
              <a:t>IMPLEMENTED</a:t>
            </a:r>
          </a:p>
        </p:txBody>
      </p:sp>
      <p:sp>
        <p:nvSpPr>
          <p:cNvPr id="56" name="Rounded Rectangle 55"/>
          <p:cNvSpPr/>
          <p:nvPr/>
        </p:nvSpPr>
        <p:spPr>
          <a:xfrm>
            <a:off x="8019288" y="3566160"/>
            <a:ext cx="3666744" cy="1609344"/>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183879" y="3694176"/>
            <a:ext cx="347472" cy="347472"/>
          </a:xfrm>
          <a:prstGeom prst="ellipse">
            <a:avLst/>
          </a:prstGeom>
          <a:solidFill>
            <a:srgbClr val="2B5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183879" y="3694176"/>
            <a:ext cx="347472" cy="347472"/>
          </a:xfrm>
          <a:prstGeom prst="rect">
            <a:avLst/>
          </a:prstGeom>
          <a:noFill/>
        </p:spPr>
        <p:txBody>
          <a:bodyPr wrap="square" anchor="ctr" lIns="0" rIns="0" tIns="0" bIns="0">
            <a:spAutoFit/>
          </a:bodyPr>
          <a:lstStyle/>
          <a:p>
            <a:pPr algn="ctr"/>
            <a:r>
              <a:rPr sz="1100" b="1" i="0">
                <a:solidFill>
                  <a:srgbClr val="FFFFFF"/>
                </a:solidFill>
                <a:latin typeface="Courier New"/>
              </a:rPr>
              <a:t>07</a:t>
            </a:r>
          </a:p>
        </p:txBody>
      </p:sp>
      <p:sp>
        <p:nvSpPr>
          <p:cNvPr id="59" name="TextBox 58"/>
          <p:cNvSpPr txBox="1"/>
          <p:nvPr/>
        </p:nvSpPr>
        <p:spPr>
          <a:xfrm>
            <a:off x="8604504" y="3712463"/>
            <a:ext cx="2935224" cy="310896"/>
          </a:xfrm>
          <a:prstGeom prst="rect">
            <a:avLst/>
          </a:prstGeom>
          <a:noFill/>
        </p:spPr>
        <p:txBody>
          <a:bodyPr wrap="square" anchor="t" lIns="0" rIns="0" tIns="0" bIns="0">
            <a:spAutoFit/>
          </a:bodyPr>
          <a:lstStyle/>
          <a:p>
            <a:pPr algn="l"/>
            <a:r>
              <a:rPr sz="1300" b="1" i="0">
                <a:solidFill>
                  <a:srgbClr val="FFFFFF"/>
                </a:solidFill>
                <a:latin typeface="Calibri"/>
              </a:rPr>
              <a:t>Tkinter Desktop GUI</a:t>
            </a:r>
          </a:p>
        </p:txBody>
      </p:sp>
      <p:sp>
        <p:nvSpPr>
          <p:cNvPr id="60" name="TextBox 59"/>
          <p:cNvSpPr txBox="1"/>
          <p:nvPr/>
        </p:nvSpPr>
        <p:spPr>
          <a:xfrm>
            <a:off x="8183879" y="4078224"/>
            <a:ext cx="3337560" cy="713232"/>
          </a:xfrm>
          <a:prstGeom prst="rect">
            <a:avLst/>
          </a:prstGeom>
          <a:noFill/>
        </p:spPr>
        <p:txBody>
          <a:bodyPr wrap="square" anchor="t" lIns="0" rIns="0" tIns="0" bIns="0">
            <a:spAutoFit/>
          </a:bodyPr>
          <a:lstStyle/>
          <a:p>
            <a:pPr algn="l"/>
            <a:r>
              <a:rPr sz="1050" b="0" i="0">
                <a:solidFill>
                  <a:srgbClr val="A9BCDB"/>
                </a:solidFill>
                <a:latin typeface="Calibri"/>
              </a:rPr>
              <a:t>Dark-themed scrollable window (MainWindow) with path input, Browse dialog, operation selector, 6 result panels, and _reset_panels() against stale data.</a:t>
            </a:r>
          </a:p>
        </p:txBody>
      </p:sp>
      <p:sp>
        <p:nvSpPr>
          <p:cNvPr id="61" name="Rounded Rectangle 60"/>
          <p:cNvSpPr/>
          <p:nvPr/>
        </p:nvSpPr>
        <p:spPr>
          <a:xfrm>
            <a:off x="8183879" y="4828032"/>
            <a:ext cx="1234440" cy="237744"/>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0" y="4855464"/>
            <a:ext cx="1143000" cy="182880"/>
          </a:xfrm>
          <a:prstGeom prst="rect">
            <a:avLst/>
          </a:prstGeom>
          <a:noFill/>
        </p:spPr>
        <p:txBody>
          <a:bodyPr wrap="square" anchor="ctr" lIns="0" rIns="0" tIns="0" bIns="0">
            <a:spAutoFit/>
          </a:bodyPr>
          <a:lstStyle/>
          <a:p>
            <a:pPr algn="ctr"/>
            <a:r>
              <a:rPr sz="1000" b="1" i="0">
                <a:solidFill>
                  <a:srgbClr val="2DD4A7"/>
                </a:solidFill>
                <a:latin typeface="Calibri"/>
              </a:rPr>
              <a:t>IMPLEMENTED</a:t>
            </a:r>
          </a:p>
        </p:txBody>
      </p:sp>
      <p:sp>
        <p:nvSpPr>
          <p:cNvPr id="63" name="Rounded Rectangle 62"/>
          <p:cNvSpPr/>
          <p:nvPr/>
        </p:nvSpPr>
        <p:spPr>
          <a:xfrm>
            <a:off x="502920" y="5285232"/>
            <a:ext cx="5486400" cy="1207008"/>
          </a:xfrm>
          <a:prstGeom prst="roundRect">
            <a:avLst>
              <a:gd name="adj" fmla="val 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5800" y="5394960"/>
            <a:ext cx="5120640" cy="237744"/>
          </a:xfrm>
          <a:prstGeom prst="rect">
            <a:avLst/>
          </a:prstGeom>
          <a:noFill/>
        </p:spPr>
        <p:txBody>
          <a:bodyPr wrap="square" anchor="t" lIns="0" rIns="0" tIns="0" bIns="0">
            <a:spAutoFit/>
          </a:bodyPr>
          <a:lstStyle/>
          <a:p>
            <a:pPr algn="l"/>
            <a:r>
              <a:rPr sz="1050" b="1" i="0">
                <a:solidFill>
                  <a:srgbClr val="2DD4A7"/>
                </a:solidFill>
                <a:latin typeface="Calibri"/>
              </a:rPr>
              <a:t>DELIVERED CAPABILITIES (WHAT THE TOOL DOES)</a:t>
            </a:r>
          </a:p>
        </p:txBody>
      </p:sp>
      <p:sp>
        <p:nvSpPr>
          <p:cNvPr id="65" name="TextBox 64"/>
          <p:cNvSpPr txBox="1"/>
          <p:nvPr/>
        </p:nvSpPr>
        <p:spPr>
          <a:xfrm>
            <a:off x="685800" y="5650992"/>
            <a:ext cx="5120640" cy="768096"/>
          </a:xfrm>
          <a:prstGeom prst="rect">
            <a:avLst/>
          </a:prstGeom>
          <a:noFill/>
        </p:spPr>
        <p:txBody>
          <a:bodyPr wrap="square" anchor="t" lIns="0" rIns="0" tIns="0" bIns="0">
            <a:spAutoFit/>
          </a:bodyPr>
          <a:lstStyle/>
          <a:p>
            <a:pPr algn="l"/>
            <a:r>
              <a:rPr sz="1050" b="0" i="0">
                <a:solidFill>
                  <a:srgbClr val="A9BCDB"/>
                </a:solidFill>
                <a:latin typeface="Calibri"/>
              </a:rPr>
              <a:t>• Diagnoses READ, WRITE, EXECUTE, DELETE across 7 DiagnosisType categories.
• Reports Restart Manager holders, os.access() + owner, 6 Win32 attribute flags, and local OneDrive/Google Drive evidence with advisory next steps.</a:t>
            </a:r>
          </a:p>
        </p:txBody>
      </p:sp>
      <p:sp>
        <p:nvSpPr>
          <p:cNvPr id="66" name="Rounded Rectangle 65"/>
          <p:cNvSpPr/>
          <p:nvPr/>
        </p:nvSpPr>
        <p:spPr>
          <a:xfrm>
            <a:off x="6199632" y="5285232"/>
            <a:ext cx="5486400" cy="1207008"/>
          </a:xfrm>
          <a:prstGeom prst="roundRect">
            <a:avLst>
              <a:gd name="adj" fmla="val 5000"/>
            </a:avLst>
          </a:prstGeom>
          <a:solidFill>
            <a:srgbClr val="0C1A3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82512" y="5394960"/>
            <a:ext cx="5120640" cy="237744"/>
          </a:xfrm>
          <a:prstGeom prst="rect">
            <a:avLst/>
          </a:prstGeom>
          <a:noFill/>
        </p:spPr>
        <p:txBody>
          <a:bodyPr wrap="square" anchor="t" lIns="0" rIns="0" tIns="0" bIns="0">
            <a:spAutoFit/>
          </a:bodyPr>
          <a:lstStyle/>
          <a:p>
            <a:pPr algn="l"/>
            <a:r>
              <a:rPr sz="1050" b="1" i="0">
                <a:solidFill>
                  <a:srgbClr val="F5A524"/>
                </a:solidFill>
                <a:latin typeface="Calibri"/>
              </a:rPr>
              <a:t>HONEST BOUNDARIES &amp; FUTURE WORK (WHAT IT DOES NOT DO)</a:t>
            </a:r>
          </a:p>
        </p:txBody>
      </p:sp>
      <p:sp>
        <p:nvSpPr>
          <p:cNvPr id="68" name="TextBox 67"/>
          <p:cNvSpPr txBox="1"/>
          <p:nvPr/>
        </p:nvSpPr>
        <p:spPr>
          <a:xfrm>
            <a:off x="6382512" y="5650992"/>
            <a:ext cx="5120640" cy="768096"/>
          </a:xfrm>
          <a:prstGeom prst="rect">
            <a:avLst/>
          </a:prstGeom>
          <a:noFill/>
        </p:spPr>
        <p:txBody>
          <a:bodyPr wrap="square" anchor="t" lIns="0" rIns="0" tIns="0" bIns="0">
            <a:spAutoFit/>
          </a:bodyPr>
          <a:lstStyle/>
          <a:p>
            <a:pPr algn="l"/>
            <a:r>
              <a:rPr sz="1050" b="0" i="0">
                <a:solidFill>
                  <a:srgbClr val="A9BCDB"/>
                </a:solidFill>
                <a:latin typeface="Calibri"/>
              </a:rPr>
              <a:t>• Never performs the selected operation, modifies files/ACLs, or kills processes.
• Does not evaluate full NTFS DACL inheritance or parent-directory DELETE rights; does not query remote cloud APIs or providers beyond OneDrive &amp; Google Drive.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4  •  FINAL SYSTEM ARCHITECTURE</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Modular Peer-Analyzer Architecture (diagnoser Package)</a:t>
            </a:r>
          </a:p>
        </p:txBody>
      </p:sp>
      <p:sp>
        <p:nvSpPr>
          <p:cNvPr id="4" name="Rounded Rectangle 3"/>
          <p:cNvSpPr/>
          <p:nvPr/>
        </p:nvSpPr>
        <p:spPr>
          <a:xfrm>
            <a:off x="3291840" y="1133856"/>
            <a:ext cx="5605272" cy="384048"/>
          </a:xfrm>
          <a:prstGeom prst="roundRect">
            <a:avLst>
              <a:gd name="adj" fmla="val 10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383280" y="1152144"/>
            <a:ext cx="5422392" cy="347472"/>
          </a:xfrm>
          <a:prstGeom prst="rect">
            <a:avLst/>
          </a:prstGeom>
          <a:noFill/>
        </p:spPr>
        <p:txBody>
          <a:bodyPr wrap="square" anchor="ctr" lIns="0" rIns="0" tIns="0" bIns="0">
            <a:spAutoFit/>
          </a:bodyPr>
          <a:lstStyle/>
          <a:p>
            <a:pPr algn="ctr"/>
            <a:r>
              <a:rPr sz="1150" b="1" i="0">
                <a:solidFill>
                  <a:srgbClr val="FFFFFF"/>
                </a:solidFill>
                <a:latin typeface="Calibri"/>
              </a:rPr>
              <a:t>USER INPUT: Target File Path + Operation (READ / WRITE / EXECUTE / DELETE)</a:t>
            </a:r>
          </a:p>
        </p:txBody>
      </p:sp>
      <p:sp>
        <p:nvSpPr>
          <p:cNvPr id="6" name="Down Arrow 5"/>
          <p:cNvSpPr/>
          <p:nvPr/>
        </p:nvSpPr>
        <p:spPr>
          <a:xfrm>
            <a:off x="6016752" y="1545336"/>
            <a:ext cx="164592" cy="182880"/>
          </a:xfrm>
          <a:prstGeom prst="down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377440" y="1755648"/>
            <a:ext cx="7434072" cy="438912"/>
          </a:xfrm>
          <a:prstGeom prst="roundRect">
            <a:avLst>
              <a:gd name="adj" fmla="val 8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0" y="1773936"/>
            <a:ext cx="7251192" cy="402336"/>
          </a:xfrm>
          <a:prstGeom prst="rect">
            <a:avLst/>
          </a:prstGeom>
          <a:noFill/>
        </p:spPr>
        <p:txBody>
          <a:bodyPr wrap="square" anchor="ctr" lIns="0" rIns="0" tIns="0" bIns="0">
            <a:spAutoFit/>
          </a:bodyPr>
          <a:lstStyle/>
          <a:p>
            <a:pPr algn="ctr"/>
            <a:r>
              <a:rPr sz="1150" b="1" i="0">
                <a:solidFill>
                  <a:srgbClr val="FFFFFF"/>
                </a:solidFill>
                <a:latin typeface="Calibri"/>
              </a:rPr>
              <a:t>TKINTER DESKTOP GUI (gui/main_window.py)  —  Presentation Layer · _run_diagnosis() · _reset_panels()</a:t>
            </a:r>
          </a:p>
        </p:txBody>
      </p:sp>
      <p:sp>
        <p:nvSpPr>
          <p:cNvPr id="9" name="Down Arrow 8"/>
          <p:cNvSpPr/>
          <p:nvPr/>
        </p:nvSpPr>
        <p:spPr>
          <a:xfrm>
            <a:off x="6016752" y="2221992"/>
            <a:ext cx="164592" cy="182880"/>
          </a:xfrm>
          <a:prstGeom prst="down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08760" y="2432304"/>
            <a:ext cx="9171432" cy="475488"/>
          </a:xfrm>
          <a:prstGeom prst="roundRect">
            <a:avLst>
              <a:gd name="adj" fmla="val 8000"/>
            </a:avLst>
          </a:prstGeom>
          <a:solidFill>
            <a:srgbClr val="2B5FC4"/>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200" y="2450592"/>
            <a:ext cx="8988552" cy="438912"/>
          </a:xfrm>
          <a:prstGeom prst="rect">
            <a:avLst/>
          </a:prstGeom>
          <a:noFill/>
        </p:spPr>
        <p:txBody>
          <a:bodyPr wrap="square" anchor="ctr" lIns="0" rIns="0" tIns="0" bIns="0">
            <a:spAutoFit/>
          </a:bodyPr>
          <a:lstStyle/>
          <a:p>
            <a:pPr algn="ctr"/>
            <a:r>
              <a:rPr sz="1200" b="1" i="0">
                <a:solidFill>
                  <a:srgbClr val="FFFFFF"/>
                </a:solidFill>
                <a:latin typeface="Calibri"/>
              </a:rPr>
              <a:t>DIAGNOSIS ENGINE (engine/diagnosis.py)  —  Validation · Guarded _safe_analyze_* Coordination · Evidence Collection</a:t>
            </a:r>
          </a:p>
        </p:txBody>
      </p:sp>
      <p:sp>
        <p:nvSpPr>
          <p:cNvPr id="12" name="Rectangle 11"/>
          <p:cNvSpPr/>
          <p:nvPr/>
        </p:nvSpPr>
        <p:spPr>
          <a:xfrm>
            <a:off x="6080760" y="2907792"/>
            <a:ext cx="27432" cy="128016"/>
          </a:xfrm>
          <a:prstGeom prst="rect">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783080" y="3026664"/>
            <a:ext cx="8622792" cy="27432"/>
          </a:xfrm>
          <a:prstGeom prst="rect">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wn Arrow 13"/>
          <p:cNvSpPr/>
          <p:nvPr/>
        </p:nvSpPr>
        <p:spPr>
          <a:xfrm>
            <a:off x="1719072" y="3054096"/>
            <a:ext cx="146304" cy="182880"/>
          </a:xfrm>
          <a:prstGeom prst="down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4590288" y="3054096"/>
            <a:ext cx="146304" cy="182880"/>
          </a:xfrm>
          <a:prstGeom prst="down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wn Arrow 15"/>
          <p:cNvSpPr/>
          <p:nvPr/>
        </p:nvSpPr>
        <p:spPr>
          <a:xfrm>
            <a:off x="7452360" y="3054096"/>
            <a:ext cx="146304" cy="182880"/>
          </a:xfrm>
          <a:prstGeom prst="down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10323576" y="3054096"/>
            <a:ext cx="146304" cy="182880"/>
          </a:xfrm>
          <a:prstGeom prst="down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2920" y="3255264"/>
            <a:ext cx="2578608" cy="1536192"/>
          </a:xfrm>
          <a:prstGeom prst="roundRect">
            <a:avLst>
              <a:gd name="adj" fmla="val 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319272"/>
            <a:ext cx="2395728" cy="402336"/>
          </a:xfrm>
          <a:prstGeom prst="rect">
            <a:avLst/>
          </a:prstGeom>
          <a:noFill/>
        </p:spPr>
        <p:txBody>
          <a:bodyPr wrap="square" anchor="t" lIns="0" rIns="0" tIns="0" bIns="0">
            <a:spAutoFit/>
          </a:bodyPr>
          <a:lstStyle/>
          <a:p>
            <a:pPr algn="ctr"/>
            <a:r>
              <a:rPr sz="1100" b="1" i="0">
                <a:solidFill>
                  <a:srgbClr val="FFFFFF"/>
                </a:solidFill>
                <a:latin typeface="Calibri"/>
              </a:rPr>
              <a:t>1. PROCESS / LOCK
ANALYZER</a:t>
            </a:r>
          </a:p>
        </p:txBody>
      </p:sp>
      <p:sp>
        <p:nvSpPr>
          <p:cNvPr id="20" name="TextBox 19"/>
          <p:cNvSpPr txBox="1"/>
          <p:nvPr/>
        </p:nvSpPr>
        <p:spPr>
          <a:xfrm>
            <a:off x="594360" y="3749039"/>
            <a:ext cx="2395728" cy="530352"/>
          </a:xfrm>
          <a:prstGeom prst="rect">
            <a:avLst/>
          </a:prstGeom>
          <a:noFill/>
        </p:spPr>
        <p:txBody>
          <a:bodyPr wrap="square" anchor="t" lIns="0" rIns="0" tIns="0" bIns="0">
            <a:spAutoFit/>
          </a:bodyPr>
          <a:lstStyle/>
          <a:p>
            <a:pPr algn="ctr"/>
            <a:r>
              <a:rPr sz="1000" b="0" i="0">
                <a:solidFill>
                  <a:srgbClr val="A9BCDB"/>
                </a:solidFill>
                <a:latin typeface="Calibri"/>
              </a:rPr>
              <a:t>process_lock.py
Restart Manager (rstrtmgr.dll)
+ psutil path enrichment</a:t>
            </a:r>
          </a:p>
        </p:txBody>
      </p:sp>
      <p:sp>
        <p:nvSpPr>
          <p:cNvPr id="21" name="Rounded Rectangle 20"/>
          <p:cNvSpPr/>
          <p:nvPr/>
        </p:nvSpPr>
        <p:spPr>
          <a:xfrm>
            <a:off x="704088" y="4334256"/>
            <a:ext cx="2176272" cy="256032"/>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361688"/>
            <a:ext cx="2084831" cy="201168"/>
          </a:xfrm>
          <a:prstGeom prst="rect">
            <a:avLst/>
          </a:prstGeom>
          <a:noFill/>
        </p:spPr>
        <p:txBody>
          <a:bodyPr wrap="square" anchor="ctr" lIns="0" rIns="0" tIns="0" bIns="0">
            <a:spAutoFit/>
          </a:bodyPr>
          <a:lstStyle/>
          <a:p>
            <a:pPr algn="ctr"/>
            <a:r>
              <a:rPr sz="1000" b="1" i="0">
                <a:solidFill>
                  <a:srgbClr val="2DD4A7"/>
                </a:solidFill>
                <a:latin typeface="Calibri"/>
              </a:rPr>
              <a:t>→ LockDetectionResult</a:t>
            </a:r>
          </a:p>
        </p:txBody>
      </p:sp>
      <p:sp>
        <p:nvSpPr>
          <p:cNvPr id="23" name="Down Arrow 22"/>
          <p:cNvSpPr/>
          <p:nvPr/>
        </p:nvSpPr>
        <p:spPr>
          <a:xfrm>
            <a:off x="1719072" y="4809744"/>
            <a:ext cx="146304" cy="182880"/>
          </a:xfrm>
          <a:prstGeom prst="downArrow">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374136" y="3255264"/>
            <a:ext cx="2578608" cy="1536192"/>
          </a:xfrm>
          <a:prstGeom prst="roundRect">
            <a:avLst>
              <a:gd name="adj" fmla="val 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65576" y="3319272"/>
            <a:ext cx="2395728" cy="402336"/>
          </a:xfrm>
          <a:prstGeom prst="rect">
            <a:avLst/>
          </a:prstGeom>
          <a:noFill/>
        </p:spPr>
        <p:txBody>
          <a:bodyPr wrap="square" anchor="t" lIns="0" rIns="0" tIns="0" bIns="0">
            <a:spAutoFit/>
          </a:bodyPr>
          <a:lstStyle/>
          <a:p>
            <a:pPr algn="ctr"/>
            <a:r>
              <a:rPr sz="1100" b="1" i="0">
                <a:solidFill>
                  <a:srgbClr val="FFFFFF"/>
                </a:solidFill>
                <a:latin typeface="Calibri"/>
              </a:rPr>
              <a:t>2. PERMISSION /
OWNERSHIP ANALYZER</a:t>
            </a:r>
          </a:p>
        </p:txBody>
      </p:sp>
      <p:sp>
        <p:nvSpPr>
          <p:cNvPr id="26" name="TextBox 25"/>
          <p:cNvSpPr txBox="1"/>
          <p:nvPr/>
        </p:nvSpPr>
        <p:spPr>
          <a:xfrm>
            <a:off x="3465576" y="3749039"/>
            <a:ext cx="2395728" cy="530352"/>
          </a:xfrm>
          <a:prstGeom prst="rect">
            <a:avLst/>
          </a:prstGeom>
          <a:noFill/>
        </p:spPr>
        <p:txBody>
          <a:bodyPr wrap="square" anchor="t" lIns="0" rIns="0" tIns="0" bIns="0">
            <a:spAutoFit/>
          </a:bodyPr>
          <a:lstStyle/>
          <a:p>
            <a:pPr algn="ctr"/>
            <a:r>
              <a:rPr sz="1000" b="0" i="0">
                <a:solidFill>
                  <a:srgbClr val="A9BCDB"/>
                </a:solidFill>
                <a:latin typeface="Calibri"/>
              </a:rPr>
              <a:t>permissions.py
os.access() (R/W/X/D)
+ advapi32 owner SID</a:t>
            </a:r>
          </a:p>
        </p:txBody>
      </p:sp>
      <p:sp>
        <p:nvSpPr>
          <p:cNvPr id="27" name="Rounded Rectangle 26"/>
          <p:cNvSpPr/>
          <p:nvPr/>
        </p:nvSpPr>
        <p:spPr>
          <a:xfrm>
            <a:off x="3575304" y="4334256"/>
            <a:ext cx="2176272" cy="256032"/>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21024" y="4361688"/>
            <a:ext cx="2084831" cy="201168"/>
          </a:xfrm>
          <a:prstGeom prst="rect">
            <a:avLst/>
          </a:prstGeom>
          <a:noFill/>
        </p:spPr>
        <p:txBody>
          <a:bodyPr wrap="square" anchor="ctr" lIns="0" rIns="0" tIns="0" bIns="0">
            <a:spAutoFit/>
          </a:bodyPr>
          <a:lstStyle/>
          <a:p>
            <a:pPr algn="ctr"/>
            <a:r>
              <a:rPr sz="1000" b="1" i="0">
                <a:solidFill>
                  <a:srgbClr val="2DD4A7"/>
                </a:solidFill>
                <a:latin typeface="Calibri"/>
              </a:rPr>
              <a:t>→ PermissionCheckResult</a:t>
            </a:r>
          </a:p>
        </p:txBody>
      </p:sp>
      <p:sp>
        <p:nvSpPr>
          <p:cNvPr id="29" name="Down Arrow 28"/>
          <p:cNvSpPr/>
          <p:nvPr/>
        </p:nvSpPr>
        <p:spPr>
          <a:xfrm>
            <a:off x="4590288" y="4809744"/>
            <a:ext cx="146304" cy="182880"/>
          </a:xfrm>
          <a:prstGeom prst="downArrow">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36208" y="3255264"/>
            <a:ext cx="2578608" cy="1536192"/>
          </a:xfrm>
          <a:prstGeom prst="roundRect">
            <a:avLst>
              <a:gd name="adj" fmla="val 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3319272"/>
            <a:ext cx="2395728" cy="402336"/>
          </a:xfrm>
          <a:prstGeom prst="rect">
            <a:avLst/>
          </a:prstGeom>
          <a:noFill/>
        </p:spPr>
        <p:txBody>
          <a:bodyPr wrap="square" anchor="t" lIns="0" rIns="0" tIns="0" bIns="0">
            <a:spAutoFit/>
          </a:bodyPr>
          <a:lstStyle/>
          <a:p>
            <a:pPr algn="ctr"/>
            <a:r>
              <a:rPr sz="1100" b="1" i="0">
                <a:solidFill>
                  <a:srgbClr val="FFFFFF"/>
                </a:solidFill>
                <a:latin typeface="Calibri"/>
              </a:rPr>
              <a:t>3. FILE ATTRIBUTE
ANALYZER</a:t>
            </a:r>
          </a:p>
        </p:txBody>
      </p:sp>
      <p:sp>
        <p:nvSpPr>
          <p:cNvPr id="32" name="TextBox 31"/>
          <p:cNvSpPr txBox="1"/>
          <p:nvPr/>
        </p:nvSpPr>
        <p:spPr>
          <a:xfrm>
            <a:off x="6327648" y="3749039"/>
            <a:ext cx="2395728" cy="530352"/>
          </a:xfrm>
          <a:prstGeom prst="rect">
            <a:avLst/>
          </a:prstGeom>
          <a:noFill/>
        </p:spPr>
        <p:txBody>
          <a:bodyPr wrap="square" anchor="t" lIns="0" rIns="0" tIns="0" bIns="0">
            <a:spAutoFit/>
          </a:bodyPr>
          <a:lstStyle/>
          <a:p>
            <a:pPr algn="ctr"/>
            <a:r>
              <a:rPr sz="1000" b="0" i="0">
                <a:solidFill>
                  <a:srgbClr val="A9BCDB"/>
                </a:solidFill>
                <a:latin typeface="Calibri"/>
              </a:rPr>
              <a:t>file_attributes.py
os.stat.st_file_attributes
+ GetFileAttributesW</a:t>
            </a:r>
          </a:p>
        </p:txBody>
      </p:sp>
      <p:sp>
        <p:nvSpPr>
          <p:cNvPr id="33" name="Rounded Rectangle 32"/>
          <p:cNvSpPr/>
          <p:nvPr/>
        </p:nvSpPr>
        <p:spPr>
          <a:xfrm>
            <a:off x="6437376" y="4334256"/>
            <a:ext cx="2176272" cy="256032"/>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3096" y="4361688"/>
            <a:ext cx="2084831" cy="201168"/>
          </a:xfrm>
          <a:prstGeom prst="rect">
            <a:avLst/>
          </a:prstGeom>
          <a:noFill/>
        </p:spPr>
        <p:txBody>
          <a:bodyPr wrap="square" anchor="ctr" lIns="0" rIns="0" tIns="0" bIns="0">
            <a:spAutoFit/>
          </a:bodyPr>
          <a:lstStyle/>
          <a:p>
            <a:pPr algn="ctr"/>
            <a:r>
              <a:rPr sz="1000" b="1" i="0">
                <a:solidFill>
                  <a:srgbClr val="2DD4A7"/>
                </a:solidFill>
                <a:latin typeface="Calibri"/>
              </a:rPr>
              <a:t>→ FileAttributeResult</a:t>
            </a:r>
          </a:p>
        </p:txBody>
      </p:sp>
      <p:sp>
        <p:nvSpPr>
          <p:cNvPr id="35" name="Down Arrow 34"/>
          <p:cNvSpPr/>
          <p:nvPr/>
        </p:nvSpPr>
        <p:spPr>
          <a:xfrm>
            <a:off x="7452360" y="4809744"/>
            <a:ext cx="146304" cy="182880"/>
          </a:xfrm>
          <a:prstGeom prst="downArrow">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3255264"/>
            <a:ext cx="2578608" cy="1536192"/>
          </a:xfrm>
          <a:prstGeom prst="roundRect">
            <a:avLst>
              <a:gd name="adj" fmla="val 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98864" y="3319272"/>
            <a:ext cx="2395728" cy="402336"/>
          </a:xfrm>
          <a:prstGeom prst="rect">
            <a:avLst/>
          </a:prstGeom>
          <a:noFill/>
        </p:spPr>
        <p:txBody>
          <a:bodyPr wrap="square" anchor="t" lIns="0" rIns="0" tIns="0" bIns="0">
            <a:spAutoFit/>
          </a:bodyPr>
          <a:lstStyle/>
          <a:p>
            <a:pPr algn="ctr"/>
            <a:r>
              <a:rPr sz="1100" b="1" i="0">
                <a:solidFill>
                  <a:srgbClr val="FFFFFF"/>
                </a:solidFill>
                <a:latin typeface="Calibri"/>
              </a:rPr>
              <a:t>4. CLOUD-SYNC
ANALYZER</a:t>
            </a:r>
          </a:p>
        </p:txBody>
      </p:sp>
      <p:sp>
        <p:nvSpPr>
          <p:cNvPr id="38" name="TextBox 37"/>
          <p:cNvSpPr txBox="1"/>
          <p:nvPr/>
        </p:nvSpPr>
        <p:spPr>
          <a:xfrm>
            <a:off x="9198864" y="3749039"/>
            <a:ext cx="2395728" cy="530352"/>
          </a:xfrm>
          <a:prstGeom prst="rect">
            <a:avLst/>
          </a:prstGeom>
          <a:noFill/>
        </p:spPr>
        <p:txBody>
          <a:bodyPr wrap="square" anchor="t" lIns="0" rIns="0" tIns="0" bIns="0">
            <a:spAutoFit/>
          </a:bodyPr>
          <a:lstStyle/>
          <a:p>
            <a:pPr algn="ctr"/>
            <a:r>
              <a:rPr sz="1000" b="0" i="0">
                <a:solidFill>
                  <a:srgbClr val="A9BCDB"/>
                </a:solidFill>
                <a:latin typeface="Calibri"/>
              </a:rPr>
              <a:t>sync_conflict.py
OneDrive &amp; Google Drive
local roots &amp; daemons</a:t>
            </a:r>
          </a:p>
        </p:txBody>
      </p:sp>
      <p:sp>
        <p:nvSpPr>
          <p:cNvPr id="39" name="Rounded Rectangle 38"/>
          <p:cNvSpPr/>
          <p:nvPr/>
        </p:nvSpPr>
        <p:spPr>
          <a:xfrm>
            <a:off x="9308592" y="4334256"/>
            <a:ext cx="2176272" cy="256032"/>
          </a:xfrm>
          <a:prstGeom prst="roundRect">
            <a:avLst>
              <a:gd name="adj" fmla="val 4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54312" y="4361688"/>
            <a:ext cx="2084831" cy="201168"/>
          </a:xfrm>
          <a:prstGeom prst="rect">
            <a:avLst/>
          </a:prstGeom>
          <a:noFill/>
        </p:spPr>
        <p:txBody>
          <a:bodyPr wrap="square" anchor="ctr" lIns="0" rIns="0" tIns="0" bIns="0">
            <a:spAutoFit/>
          </a:bodyPr>
          <a:lstStyle/>
          <a:p>
            <a:pPr algn="ctr"/>
            <a:r>
              <a:rPr sz="1000" b="1" i="0">
                <a:solidFill>
                  <a:srgbClr val="2DD4A7"/>
                </a:solidFill>
                <a:latin typeface="Calibri"/>
              </a:rPr>
              <a:t>→ SyncConflictResult</a:t>
            </a:r>
          </a:p>
        </p:txBody>
      </p:sp>
      <p:sp>
        <p:nvSpPr>
          <p:cNvPr id="41" name="Down Arrow 40"/>
          <p:cNvSpPr/>
          <p:nvPr/>
        </p:nvSpPr>
        <p:spPr>
          <a:xfrm>
            <a:off x="10323576" y="4809744"/>
            <a:ext cx="146304" cy="182880"/>
          </a:xfrm>
          <a:prstGeom prst="downArrow">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783080" y="4992624"/>
            <a:ext cx="8622792" cy="27432"/>
          </a:xfrm>
          <a:prstGeom prst="rect">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20240" y="5020056"/>
            <a:ext cx="8348472" cy="219456"/>
          </a:xfrm>
          <a:prstGeom prst="rect">
            <a:avLst/>
          </a:prstGeom>
          <a:noFill/>
        </p:spPr>
        <p:txBody>
          <a:bodyPr wrap="square" anchor="t" lIns="0" rIns="0" tIns="0" bIns="0">
            <a:spAutoFit/>
          </a:bodyPr>
          <a:lstStyle/>
          <a:p>
            <a:pPr algn="ctr"/>
            <a:r>
              <a:rPr sz="1000" b="1" i="0">
                <a:solidFill>
                  <a:srgbClr val="2DD4A7"/>
                </a:solidFill>
                <a:latin typeface="Calibri"/>
              </a:rPr>
              <a:t>FOUR INDEPENDENT PEER ANALYZERS (extend BaseAnalyzer; none calls another — structured evidence flows back to DiagnosisEngine)</a:t>
            </a:r>
          </a:p>
        </p:txBody>
      </p:sp>
      <p:sp>
        <p:nvSpPr>
          <p:cNvPr id="44" name="Down Arrow 43"/>
          <p:cNvSpPr/>
          <p:nvPr/>
        </p:nvSpPr>
        <p:spPr>
          <a:xfrm>
            <a:off x="6016752" y="5239512"/>
            <a:ext cx="164592" cy="164592"/>
          </a:xfrm>
          <a:prstGeom prst="downArrow">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02920" y="5422392"/>
            <a:ext cx="2404872" cy="841248"/>
          </a:xfrm>
          <a:prstGeom prst="roundRect">
            <a:avLst>
              <a:gd name="adj" fmla="val 6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5495544"/>
            <a:ext cx="2221992" cy="274320"/>
          </a:xfrm>
          <a:prstGeom prst="rect">
            <a:avLst/>
          </a:prstGeom>
          <a:noFill/>
        </p:spPr>
        <p:txBody>
          <a:bodyPr wrap="square" anchor="t" lIns="0" rIns="0" tIns="0" bIns="0">
            <a:spAutoFit/>
          </a:bodyPr>
          <a:lstStyle/>
          <a:p>
            <a:pPr algn="ctr"/>
            <a:r>
              <a:rPr sz="1100" b="1" i="0">
                <a:solidFill>
                  <a:srgbClr val="FFFFFF"/>
                </a:solidFill>
                <a:latin typeface="Calibri"/>
              </a:rPr>
              <a:t>EVIDENCE CORRELATION</a:t>
            </a:r>
          </a:p>
        </p:txBody>
      </p:sp>
      <p:sp>
        <p:nvSpPr>
          <p:cNvPr id="47" name="TextBox 46"/>
          <p:cNvSpPr txBox="1"/>
          <p:nvPr/>
        </p:nvSpPr>
        <p:spPr>
          <a:xfrm>
            <a:off x="594360" y="5788152"/>
            <a:ext cx="2221992" cy="402336"/>
          </a:xfrm>
          <a:prstGeom prst="rect">
            <a:avLst/>
          </a:prstGeom>
          <a:noFill/>
        </p:spPr>
        <p:txBody>
          <a:bodyPr wrap="square" anchor="t" lIns="0" rIns="0" tIns="0" bIns="0">
            <a:spAutoFit/>
          </a:bodyPr>
          <a:lstStyle/>
          <a:p>
            <a:pPr algn="ctr"/>
            <a:r>
              <a:rPr sz="1000" b="0" i="0">
                <a:solidFill>
                  <a:srgbClr val="A9BCDB"/>
                </a:solidFill>
                <a:latin typeface="Calibri"/>
              </a:rPr>
              <a:t>correlate_sync_lock()
upgrades confirmed sync locks</a:t>
            </a:r>
          </a:p>
        </p:txBody>
      </p:sp>
      <p:sp>
        <p:nvSpPr>
          <p:cNvPr id="48" name="Rounded Rectangle 47"/>
          <p:cNvSpPr/>
          <p:nvPr/>
        </p:nvSpPr>
        <p:spPr>
          <a:xfrm>
            <a:off x="3429000" y="5422392"/>
            <a:ext cx="2404872" cy="841248"/>
          </a:xfrm>
          <a:prstGeom prst="roundRect">
            <a:avLst>
              <a:gd name="adj" fmla="val 6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520440" y="5495544"/>
            <a:ext cx="2221992" cy="274320"/>
          </a:xfrm>
          <a:prstGeom prst="rect">
            <a:avLst/>
          </a:prstGeom>
          <a:noFill/>
        </p:spPr>
        <p:txBody>
          <a:bodyPr wrap="square" anchor="t" lIns="0" rIns="0" tIns="0" bIns="0">
            <a:spAutoFit/>
          </a:bodyPr>
          <a:lstStyle/>
          <a:p>
            <a:pPr algn="ctr"/>
            <a:r>
              <a:rPr sz="1100" b="1" i="0">
                <a:solidFill>
                  <a:srgbClr val="FFFFFF"/>
                </a:solidFill>
                <a:latin typeface="Calibri"/>
              </a:rPr>
              <a:t>PRIORITY CLASSIFICATION</a:t>
            </a:r>
          </a:p>
        </p:txBody>
      </p:sp>
      <p:sp>
        <p:nvSpPr>
          <p:cNvPr id="50" name="TextBox 49"/>
          <p:cNvSpPr txBox="1"/>
          <p:nvPr/>
        </p:nvSpPr>
        <p:spPr>
          <a:xfrm>
            <a:off x="3520440" y="5788152"/>
            <a:ext cx="2221992" cy="402336"/>
          </a:xfrm>
          <a:prstGeom prst="rect">
            <a:avLst/>
          </a:prstGeom>
          <a:noFill/>
        </p:spPr>
        <p:txBody>
          <a:bodyPr wrap="square" anchor="t" lIns="0" rIns="0" tIns="0" bIns="0">
            <a:spAutoFit/>
          </a:bodyPr>
          <a:lstStyle/>
          <a:p>
            <a:pPr algn="ctr"/>
            <a:r>
              <a:rPr sz="1000" b="0" i="0">
                <a:solidFill>
                  <a:srgbClr val="A9BCDB"/>
                </a:solidFill>
                <a:latin typeface="Calibri"/>
              </a:rPr>
              <a:t>DiagnosisEngine._classify()
7 rules + secondary notes</a:t>
            </a:r>
          </a:p>
        </p:txBody>
      </p:sp>
      <p:sp>
        <p:nvSpPr>
          <p:cNvPr id="51" name="Rounded Rectangle 50"/>
          <p:cNvSpPr/>
          <p:nvPr/>
        </p:nvSpPr>
        <p:spPr>
          <a:xfrm>
            <a:off x="6355080" y="5422392"/>
            <a:ext cx="2404872" cy="841248"/>
          </a:xfrm>
          <a:prstGeom prst="roundRect">
            <a:avLst>
              <a:gd name="adj" fmla="val 6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46520" y="5495544"/>
            <a:ext cx="2221992" cy="274320"/>
          </a:xfrm>
          <a:prstGeom prst="rect">
            <a:avLst/>
          </a:prstGeom>
          <a:noFill/>
        </p:spPr>
        <p:txBody>
          <a:bodyPr wrap="square" anchor="t" lIns="0" rIns="0" tIns="0" bIns="0">
            <a:spAutoFit/>
          </a:bodyPr>
          <a:lstStyle/>
          <a:p>
            <a:pPr algn="ctr"/>
            <a:r>
              <a:rPr sz="1100" b="1" i="0">
                <a:solidFill>
                  <a:srgbClr val="FFFFFF"/>
                </a:solidFill>
                <a:latin typeface="Calibri"/>
              </a:rPr>
              <a:t>RECOMMENDATION ENGINE</a:t>
            </a:r>
          </a:p>
        </p:txBody>
      </p:sp>
      <p:sp>
        <p:nvSpPr>
          <p:cNvPr id="53" name="TextBox 52"/>
          <p:cNvSpPr txBox="1"/>
          <p:nvPr/>
        </p:nvSpPr>
        <p:spPr>
          <a:xfrm>
            <a:off x="6446520" y="5788152"/>
            <a:ext cx="2221992" cy="402336"/>
          </a:xfrm>
          <a:prstGeom prst="rect">
            <a:avLst/>
          </a:prstGeom>
          <a:noFill/>
        </p:spPr>
        <p:txBody>
          <a:bodyPr wrap="square" anchor="t" lIns="0" rIns="0" tIns="0" bIns="0">
            <a:spAutoFit/>
          </a:bodyPr>
          <a:lstStyle/>
          <a:p>
            <a:pPr algn="ctr"/>
            <a:r>
              <a:rPr sz="1000" b="0" i="0">
                <a:solidFill>
                  <a:srgbClr val="A9BCDB"/>
                </a:solidFill>
                <a:latin typeface="Calibri"/>
              </a:rPr>
              <a:t>Recommender.recommend()
advisory text (never acts)</a:t>
            </a:r>
          </a:p>
        </p:txBody>
      </p:sp>
      <p:sp>
        <p:nvSpPr>
          <p:cNvPr id="54" name="Rounded Rectangle 53"/>
          <p:cNvSpPr/>
          <p:nvPr/>
        </p:nvSpPr>
        <p:spPr>
          <a:xfrm>
            <a:off x="9281160" y="5422392"/>
            <a:ext cx="2404872" cy="841248"/>
          </a:xfrm>
          <a:prstGeom prst="roundRect">
            <a:avLst>
              <a:gd name="adj" fmla="val 6000"/>
            </a:avLst>
          </a:prstGeom>
          <a:solidFill>
            <a:srgbClr val="2B5FC4"/>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72600" y="5495544"/>
            <a:ext cx="2221992" cy="274320"/>
          </a:xfrm>
          <a:prstGeom prst="rect">
            <a:avLst/>
          </a:prstGeom>
          <a:noFill/>
        </p:spPr>
        <p:txBody>
          <a:bodyPr wrap="square" anchor="t" lIns="0" rIns="0" tIns="0" bIns="0">
            <a:spAutoFit/>
          </a:bodyPr>
          <a:lstStyle/>
          <a:p>
            <a:pPr algn="ctr"/>
            <a:r>
              <a:rPr sz="1100" b="1" i="0">
                <a:solidFill>
                  <a:srgbClr val="FFFFFF"/>
                </a:solidFill>
                <a:latin typeface="Calibri"/>
              </a:rPr>
              <a:t>REFRESHED GUI RESULT</a:t>
            </a:r>
          </a:p>
        </p:txBody>
      </p:sp>
      <p:sp>
        <p:nvSpPr>
          <p:cNvPr id="56" name="TextBox 55"/>
          <p:cNvSpPr txBox="1"/>
          <p:nvPr/>
        </p:nvSpPr>
        <p:spPr>
          <a:xfrm>
            <a:off x="9372600" y="5788152"/>
            <a:ext cx="2221992" cy="402336"/>
          </a:xfrm>
          <a:prstGeom prst="rect">
            <a:avLst/>
          </a:prstGeom>
          <a:noFill/>
        </p:spPr>
        <p:txBody>
          <a:bodyPr wrap="square" anchor="t" lIns="0" rIns="0" tIns="0" bIns="0">
            <a:spAutoFit/>
          </a:bodyPr>
          <a:lstStyle/>
          <a:p>
            <a:pPr algn="ctr"/>
            <a:r>
              <a:rPr sz="1000" b="0" i="0">
                <a:solidFill>
                  <a:srgbClr val="FFFFFF"/>
                </a:solidFill>
                <a:latin typeface="Calibri"/>
              </a:rPr>
              <a:t>DiagnosisResult rendered
across all 6 GUI panels</a:t>
            </a:r>
          </a:p>
        </p:txBody>
      </p:sp>
      <p:sp>
        <p:nvSpPr>
          <p:cNvPr id="57" name="Right Arrow 56"/>
          <p:cNvSpPr/>
          <p:nvPr/>
        </p:nvSpPr>
        <p:spPr>
          <a:xfrm>
            <a:off x="2980944" y="5760720"/>
            <a:ext cx="365760" cy="164592"/>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ight Arrow 57"/>
          <p:cNvSpPr/>
          <p:nvPr/>
        </p:nvSpPr>
        <p:spPr>
          <a:xfrm>
            <a:off x="5907024" y="5760720"/>
            <a:ext cx="365760" cy="164592"/>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ight Arrow 58"/>
          <p:cNvSpPr/>
          <p:nvPr/>
        </p:nvSpPr>
        <p:spPr>
          <a:xfrm>
            <a:off x="8833104" y="5760720"/>
            <a:ext cx="365760" cy="164592"/>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6345936"/>
            <a:ext cx="11183112" cy="256032"/>
          </a:xfrm>
          <a:prstGeom prst="rect">
            <a:avLst/>
          </a:prstGeom>
          <a:noFill/>
        </p:spPr>
        <p:txBody>
          <a:bodyPr wrap="square" anchor="t" lIns="0" rIns="0" tIns="0" bIns="0">
            <a:spAutoFit/>
          </a:bodyPr>
          <a:lstStyle/>
          <a:p>
            <a:pPr algn="ctr"/>
            <a:r>
              <a:rPr sz="1050" b="0" i="1">
                <a:solidFill>
                  <a:srgbClr val="6E86AE"/>
                </a:solidFill>
                <a:latin typeface="Calibri"/>
              </a:rPr>
              <a:t>Architecture matches Figure 4.1 &amp; Table 4.2 of the Final Report: GUI is strictly the presentation layer; DiagnosisEngine owns all orchestration and classification.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5  •  DIAGNOSIS WORKFLOW &amp; PRIORITY RULES</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End-to-End Pipeline and Deterministic Classification Order</a:t>
            </a:r>
          </a:p>
        </p:txBody>
      </p:sp>
      <p:sp>
        <p:nvSpPr>
          <p:cNvPr id="4" name="Rounded Rectangle 3"/>
          <p:cNvSpPr/>
          <p:nvPr/>
        </p:nvSpPr>
        <p:spPr>
          <a:xfrm>
            <a:off x="502920" y="1133856"/>
            <a:ext cx="5257800" cy="5266944"/>
          </a:xfrm>
          <a:prstGeom prst="roundRect">
            <a:avLst>
              <a:gd name="adj" fmla="val 4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261872"/>
            <a:ext cx="4846320" cy="256032"/>
          </a:xfrm>
          <a:prstGeom prst="rect">
            <a:avLst/>
          </a:prstGeom>
          <a:noFill/>
        </p:spPr>
        <p:txBody>
          <a:bodyPr wrap="square" anchor="t" lIns="0" rIns="0" tIns="0" bIns="0">
            <a:spAutoFit/>
          </a:bodyPr>
          <a:lstStyle/>
          <a:p>
            <a:pPr algn="l"/>
            <a:r>
              <a:rPr sz="1150" b="1" i="0">
                <a:solidFill>
                  <a:srgbClr val="4F8EF7"/>
                </a:solidFill>
                <a:latin typeface="Calibri"/>
              </a:rPr>
              <a:t>END-TO-END WORKFLOW (MainWindow &amp; diagnose())</a:t>
            </a:r>
          </a:p>
        </p:txBody>
      </p:sp>
      <p:sp>
        <p:nvSpPr>
          <p:cNvPr id="6" name="Rectangle 5"/>
          <p:cNvSpPr/>
          <p:nvPr/>
        </p:nvSpPr>
        <p:spPr>
          <a:xfrm>
            <a:off x="713232" y="1554480"/>
            <a:ext cx="4837176" cy="18288"/>
          </a:xfrm>
          <a:prstGeom prst="rect">
            <a:avLst/>
          </a:prstGeom>
          <a:solidFill>
            <a:srgbClr val="2A43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664208"/>
            <a:ext cx="384048" cy="384048"/>
          </a:xfrm>
          <a:prstGeom prst="roundRect">
            <a:avLst>
              <a:gd name="adj" fmla="val 15000"/>
            </a:avLst>
          </a:prstGeom>
          <a:solidFill>
            <a:srgbClr val="0C1A3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664208"/>
            <a:ext cx="384048" cy="384048"/>
          </a:xfrm>
          <a:prstGeom prst="rect">
            <a:avLst/>
          </a:prstGeom>
          <a:noFill/>
        </p:spPr>
        <p:txBody>
          <a:bodyPr wrap="square" anchor="ctr" lIns="0" rIns="0" tIns="0" bIns="0">
            <a:spAutoFit/>
          </a:bodyPr>
          <a:lstStyle/>
          <a:p>
            <a:pPr algn="ctr"/>
            <a:r>
              <a:rPr sz="1050" b="1" i="0">
                <a:solidFill>
                  <a:srgbClr val="4F8EF7"/>
                </a:solidFill>
                <a:latin typeface="Courier New"/>
              </a:rPr>
              <a:t>01</a:t>
            </a:r>
          </a:p>
        </p:txBody>
      </p:sp>
      <p:sp>
        <p:nvSpPr>
          <p:cNvPr id="9" name="TextBox 8"/>
          <p:cNvSpPr txBox="1"/>
          <p:nvPr/>
        </p:nvSpPr>
        <p:spPr>
          <a:xfrm>
            <a:off x="1188720" y="1645920"/>
            <a:ext cx="4407408" cy="585216"/>
          </a:xfrm>
          <a:prstGeom prst="rect">
            <a:avLst/>
          </a:prstGeom>
          <a:noFill/>
        </p:spPr>
        <p:txBody>
          <a:bodyPr wrap="square" anchor="t" lIns="0" rIns="0" tIns="0" bIns="0">
            <a:spAutoFit/>
          </a:bodyPr>
          <a:lstStyle/>
          <a:p>
            <a:pPr algn="l">
              <a:spcAft>
                <a:spcPts val="100"/>
              </a:spcAft>
            </a:pPr>
            <a:r>
              <a:rPr sz="1150" b="1" i="0">
                <a:solidFill>
                  <a:srgbClr val="FFFFFF"/>
                </a:solidFill>
                <a:latin typeface="Calibri"/>
              </a:rPr>
              <a:t>Input Validation &amp; _reset_panels()</a:t>
            </a:r>
          </a:p>
          <a:p>
            <a:pPr algn="l"/>
            <a:r>
              <a:rPr sz="1000" b="0" i="0">
                <a:solidFill>
                  <a:srgbClr val="A9BCDB"/>
                </a:solidFill>
                <a:latin typeface="Calibri"/>
              </a:rPr>
              <a:t>Validates path/operation; resets all 6 GUI panels to neutral state.</a:t>
            </a:r>
          </a:p>
        </p:txBody>
      </p:sp>
      <p:sp>
        <p:nvSpPr>
          <p:cNvPr id="10" name="Rounded Rectangle 9"/>
          <p:cNvSpPr/>
          <p:nvPr/>
        </p:nvSpPr>
        <p:spPr>
          <a:xfrm>
            <a:off x="713232" y="2322576"/>
            <a:ext cx="384048" cy="384048"/>
          </a:xfrm>
          <a:prstGeom prst="roundRect">
            <a:avLst>
              <a:gd name="adj" fmla="val 15000"/>
            </a:avLst>
          </a:prstGeom>
          <a:solidFill>
            <a:srgbClr val="0C1A3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322576"/>
            <a:ext cx="384048" cy="384048"/>
          </a:xfrm>
          <a:prstGeom prst="rect">
            <a:avLst/>
          </a:prstGeom>
          <a:noFill/>
        </p:spPr>
        <p:txBody>
          <a:bodyPr wrap="square" anchor="ctr" lIns="0" rIns="0" tIns="0" bIns="0">
            <a:spAutoFit/>
          </a:bodyPr>
          <a:lstStyle/>
          <a:p>
            <a:pPr algn="ctr"/>
            <a:r>
              <a:rPr sz="1050" b="1" i="0">
                <a:solidFill>
                  <a:srgbClr val="F5A524"/>
                </a:solidFill>
                <a:latin typeface="Courier New"/>
              </a:rPr>
              <a:t>02</a:t>
            </a:r>
          </a:p>
        </p:txBody>
      </p:sp>
      <p:sp>
        <p:nvSpPr>
          <p:cNvPr id="12" name="TextBox 11"/>
          <p:cNvSpPr txBox="1"/>
          <p:nvPr/>
        </p:nvSpPr>
        <p:spPr>
          <a:xfrm>
            <a:off x="1188720" y="2304288"/>
            <a:ext cx="4407408" cy="585216"/>
          </a:xfrm>
          <a:prstGeom prst="rect">
            <a:avLst/>
          </a:prstGeom>
          <a:noFill/>
        </p:spPr>
        <p:txBody>
          <a:bodyPr wrap="square" anchor="t" lIns="0" rIns="0" tIns="0" bIns="0">
            <a:spAutoFit/>
          </a:bodyPr>
          <a:lstStyle/>
          <a:p>
            <a:pPr algn="l">
              <a:spcAft>
                <a:spcPts val="100"/>
              </a:spcAft>
            </a:pPr>
            <a:r>
              <a:rPr sz="1150" b="1" i="0">
                <a:solidFill>
                  <a:srgbClr val="FFFFFF"/>
                </a:solidFill>
                <a:latin typeface="Calibri"/>
              </a:rPr>
              <a:t>Missing-Path Early Exit → FILE_NOT_FOUND</a:t>
            </a:r>
          </a:p>
          <a:p>
            <a:pPr algn="l"/>
            <a:r>
              <a:rPr sz="1000" b="0" i="0">
                <a:solidFill>
                  <a:srgbClr val="A9BCDB"/>
                </a:solidFill>
                <a:latin typeface="Calibri"/>
              </a:rPr>
              <a:t>Normalises path; if missing, skips analyzers and marks panels skipped.</a:t>
            </a:r>
          </a:p>
        </p:txBody>
      </p:sp>
      <p:sp>
        <p:nvSpPr>
          <p:cNvPr id="13" name="Rounded Rectangle 12"/>
          <p:cNvSpPr/>
          <p:nvPr/>
        </p:nvSpPr>
        <p:spPr>
          <a:xfrm>
            <a:off x="713232" y="2980944"/>
            <a:ext cx="384048" cy="384048"/>
          </a:xfrm>
          <a:prstGeom prst="roundRect">
            <a:avLst>
              <a:gd name="adj" fmla="val 15000"/>
            </a:avLst>
          </a:prstGeom>
          <a:solidFill>
            <a:srgbClr val="0C1A3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980944"/>
            <a:ext cx="384048" cy="384048"/>
          </a:xfrm>
          <a:prstGeom prst="rect">
            <a:avLst/>
          </a:prstGeom>
          <a:noFill/>
        </p:spPr>
        <p:txBody>
          <a:bodyPr wrap="square" anchor="ctr" lIns="0" rIns="0" tIns="0" bIns="0">
            <a:spAutoFit/>
          </a:bodyPr>
          <a:lstStyle/>
          <a:p>
            <a:pPr algn="ctr"/>
            <a:r>
              <a:rPr sz="1050" b="1" i="0">
                <a:solidFill>
                  <a:srgbClr val="F5A524"/>
                </a:solidFill>
                <a:latin typeface="Courier New"/>
              </a:rPr>
              <a:t>03</a:t>
            </a:r>
          </a:p>
        </p:txBody>
      </p:sp>
      <p:sp>
        <p:nvSpPr>
          <p:cNvPr id="15" name="TextBox 14"/>
          <p:cNvSpPr txBox="1"/>
          <p:nvPr/>
        </p:nvSpPr>
        <p:spPr>
          <a:xfrm>
            <a:off x="1188720" y="2962656"/>
            <a:ext cx="4407408" cy="585216"/>
          </a:xfrm>
          <a:prstGeom prst="rect">
            <a:avLst/>
          </a:prstGeom>
          <a:noFill/>
        </p:spPr>
        <p:txBody>
          <a:bodyPr wrap="square" anchor="t" lIns="0" rIns="0" tIns="0" bIns="0">
            <a:spAutoFit/>
          </a:bodyPr>
          <a:lstStyle/>
          <a:p>
            <a:pPr algn="l">
              <a:spcAft>
                <a:spcPts val="100"/>
              </a:spcAft>
            </a:pPr>
            <a:r>
              <a:rPr sz="1150" b="1" i="0">
                <a:solidFill>
                  <a:srgbClr val="FFFFFF"/>
                </a:solidFill>
                <a:latin typeface="Calibri"/>
              </a:rPr>
              <a:t>Directory Target Handling → UNKNOWN_ERROR</a:t>
            </a:r>
          </a:p>
          <a:p>
            <a:pPr algn="l"/>
            <a:r>
              <a:rPr sz="1000" b="0" i="0">
                <a:solidFill>
                  <a:srgbClr val="A9BCDB"/>
                </a:solidFill>
                <a:latin typeface="Calibri"/>
              </a:rPr>
              <a:t>If path is a directory, analyzers return structured 'not a file' errors.</a:t>
            </a:r>
          </a:p>
        </p:txBody>
      </p:sp>
      <p:sp>
        <p:nvSpPr>
          <p:cNvPr id="16" name="Rounded Rectangle 15"/>
          <p:cNvSpPr/>
          <p:nvPr/>
        </p:nvSpPr>
        <p:spPr>
          <a:xfrm>
            <a:off x="713232" y="3639312"/>
            <a:ext cx="384048" cy="384048"/>
          </a:xfrm>
          <a:prstGeom prst="roundRect">
            <a:avLst>
              <a:gd name="adj" fmla="val 1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639312"/>
            <a:ext cx="384048" cy="384048"/>
          </a:xfrm>
          <a:prstGeom prst="rect">
            <a:avLst/>
          </a:prstGeom>
          <a:noFill/>
        </p:spPr>
        <p:txBody>
          <a:bodyPr wrap="square" anchor="ctr" lIns="0" rIns="0" tIns="0" bIns="0">
            <a:spAutoFit/>
          </a:bodyPr>
          <a:lstStyle/>
          <a:p>
            <a:pPr algn="ctr"/>
            <a:r>
              <a:rPr sz="1050" b="1" i="0">
                <a:solidFill>
                  <a:srgbClr val="2DD4A7"/>
                </a:solidFill>
                <a:latin typeface="Courier New"/>
              </a:rPr>
              <a:t>04</a:t>
            </a:r>
          </a:p>
        </p:txBody>
      </p:sp>
      <p:sp>
        <p:nvSpPr>
          <p:cNvPr id="18" name="TextBox 17"/>
          <p:cNvSpPr txBox="1"/>
          <p:nvPr/>
        </p:nvSpPr>
        <p:spPr>
          <a:xfrm>
            <a:off x="1188720" y="3621024"/>
            <a:ext cx="4407408" cy="585216"/>
          </a:xfrm>
          <a:prstGeom prst="rect">
            <a:avLst/>
          </a:prstGeom>
          <a:noFill/>
        </p:spPr>
        <p:txBody>
          <a:bodyPr wrap="square" anchor="t" lIns="0" rIns="0" tIns="0" bIns="0">
            <a:spAutoFit/>
          </a:bodyPr>
          <a:lstStyle/>
          <a:p>
            <a:pPr algn="l">
              <a:spcAft>
                <a:spcPts val="100"/>
              </a:spcAft>
            </a:pPr>
            <a:r>
              <a:rPr sz="1150" b="1" i="0">
                <a:solidFill>
                  <a:srgbClr val="FFFFFF"/>
                </a:solidFill>
                <a:latin typeface="Calibri"/>
              </a:rPr>
              <a:t>Four Guarded Peer Analyses (_safe_analyze_*)</a:t>
            </a:r>
          </a:p>
          <a:p>
            <a:pPr algn="l"/>
            <a:r>
              <a:rPr sz="1000" b="0" i="0">
                <a:solidFill>
                  <a:srgbClr val="A9BCDB"/>
                </a:solidFill>
                <a:latin typeface="Calibri"/>
              </a:rPr>
              <a:t>Runs Lock, Permission, Attribute &amp; Sync analyzers with exception isolation.</a:t>
            </a:r>
          </a:p>
        </p:txBody>
      </p:sp>
      <p:sp>
        <p:nvSpPr>
          <p:cNvPr id="19" name="Rounded Rectangle 18"/>
          <p:cNvSpPr/>
          <p:nvPr/>
        </p:nvSpPr>
        <p:spPr>
          <a:xfrm>
            <a:off x="713232" y="4297680"/>
            <a:ext cx="384048" cy="384048"/>
          </a:xfrm>
          <a:prstGeom prst="roundRect">
            <a:avLst>
              <a:gd name="adj" fmla="val 1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297680"/>
            <a:ext cx="384048" cy="384048"/>
          </a:xfrm>
          <a:prstGeom prst="rect">
            <a:avLst/>
          </a:prstGeom>
          <a:noFill/>
        </p:spPr>
        <p:txBody>
          <a:bodyPr wrap="square" anchor="ctr" lIns="0" rIns="0" tIns="0" bIns="0">
            <a:spAutoFit/>
          </a:bodyPr>
          <a:lstStyle/>
          <a:p>
            <a:pPr algn="ctr"/>
            <a:r>
              <a:rPr sz="1050" b="1" i="0">
                <a:solidFill>
                  <a:srgbClr val="2DD4A7"/>
                </a:solidFill>
                <a:latin typeface="Courier New"/>
              </a:rPr>
              <a:t>05</a:t>
            </a:r>
          </a:p>
        </p:txBody>
      </p:sp>
      <p:sp>
        <p:nvSpPr>
          <p:cNvPr id="21" name="TextBox 20"/>
          <p:cNvSpPr txBox="1"/>
          <p:nvPr/>
        </p:nvSpPr>
        <p:spPr>
          <a:xfrm>
            <a:off x="1188720" y="4279392"/>
            <a:ext cx="4407408" cy="585216"/>
          </a:xfrm>
          <a:prstGeom prst="rect">
            <a:avLst/>
          </a:prstGeom>
          <a:noFill/>
        </p:spPr>
        <p:txBody>
          <a:bodyPr wrap="square" anchor="t" lIns="0" rIns="0" tIns="0" bIns="0">
            <a:spAutoFit/>
          </a:bodyPr>
          <a:lstStyle/>
          <a:p>
            <a:pPr algn="l">
              <a:spcAft>
                <a:spcPts val="100"/>
              </a:spcAft>
            </a:pPr>
            <a:r>
              <a:rPr sz="1150" b="1" i="0">
                <a:solidFill>
                  <a:srgbClr val="FFFFFF"/>
                </a:solidFill>
                <a:latin typeface="Calibri"/>
              </a:rPr>
              <a:t>Cloud-Lock Correlation (correlate_sync_lock)</a:t>
            </a:r>
          </a:p>
          <a:p>
            <a:pPr algn="l"/>
            <a:r>
              <a:rPr sz="1000" b="0" i="0">
                <a:solidFill>
                  <a:srgbClr val="A9BCDB"/>
                </a:solidFill>
                <a:latin typeface="Calibri"/>
              </a:rPr>
              <a:t>Upgrades sync tier to confirmed_lock only if a holder matches a sync client.</a:t>
            </a:r>
          </a:p>
        </p:txBody>
      </p:sp>
      <p:sp>
        <p:nvSpPr>
          <p:cNvPr id="22" name="Rounded Rectangle 21"/>
          <p:cNvSpPr/>
          <p:nvPr/>
        </p:nvSpPr>
        <p:spPr>
          <a:xfrm>
            <a:off x="713232" y="4956048"/>
            <a:ext cx="384048" cy="384048"/>
          </a:xfrm>
          <a:prstGeom prst="roundRect">
            <a:avLst>
              <a:gd name="adj" fmla="val 15000"/>
            </a:avLst>
          </a:prstGeom>
          <a:solidFill>
            <a:srgbClr val="0C1A3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4956048"/>
            <a:ext cx="384048" cy="384048"/>
          </a:xfrm>
          <a:prstGeom prst="rect">
            <a:avLst/>
          </a:prstGeom>
          <a:noFill/>
        </p:spPr>
        <p:txBody>
          <a:bodyPr wrap="square" anchor="ctr" lIns="0" rIns="0" tIns="0" bIns="0">
            <a:spAutoFit/>
          </a:bodyPr>
          <a:lstStyle/>
          <a:p>
            <a:pPr algn="ctr"/>
            <a:r>
              <a:rPr sz="1050" b="1" i="0">
                <a:solidFill>
                  <a:srgbClr val="4F8EF7"/>
                </a:solidFill>
                <a:latin typeface="Courier New"/>
              </a:rPr>
              <a:t>06</a:t>
            </a:r>
          </a:p>
        </p:txBody>
      </p:sp>
      <p:sp>
        <p:nvSpPr>
          <p:cNvPr id="24" name="TextBox 23"/>
          <p:cNvSpPr txBox="1"/>
          <p:nvPr/>
        </p:nvSpPr>
        <p:spPr>
          <a:xfrm>
            <a:off x="1188720" y="4937760"/>
            <a:ext cx="4407408" cy="585216"/>
          </a:xfrm>
          <a:prstGeom prst="rect">
            <a:avLst/>
          </a:prstGeom>
          <a:noFill/>
        </p:spPr>
        <p:txBody>
          <a:bodyPr wrap="square" anchor="t" lIns="0" rIns="0" tIns="0" bIns="0">
            <a:spAutoFit/>
          </a:bodyPr>
          <a:lstStyle/>
          <a:p>
            <a:pPr algn="l">
              <a:spcAft>
                <a:spcPts val="100"/>
              </a:spcAft>
            </a:pPr>
            <a:r>
              <a:rPr sz="1150" b="1" i="0">
                <a:solidFill>
                  <a:srgbClr val="FFFFFF"/>
                </a:solidFill>
                <a:latin typeface="Calibri"/>
              </a:rPr>
              <a:t>Primary Classification &amp; Secondary Evidence</a:t>
            </a:r>
          </a:p>
          <a:p>
            <a:pPr algn="l"/>
            <a:r>
              <a:rPr sz="1000" b="0" i="0">
                <a:solidFill>
                  <a:srgbClr val="A9BCDB"/>
                </a:solidFill>
                <a:latin typeface="Calibri"/>
              </a:rPr>
              <a:t>_classify() picks 1 primary DiagnosisType; secondary notes append to reason.</a:t>
            </a:r>
          </a:p>
        </p:txBody>
      </p:sp>
      <p:sp>
        <p:nvSpPr>
          <p:cNvPr id="25" name="Rounded Rectangle 24"/>
          <p:cNvSpPr/>
          <p:nvPr/>
        </p:nvSpPr>
        <p:spPr>
          <a:xfrm>
            <a:off x="713232" y="5614416"/>
            <a:ext cx="384048" cy="384048"/>
          </a:xfrm>
          <a:prstGeom prst="roundRect">
            <a:avLst>
              <a:gd name="adj" fmla="val 15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5614416"/>
            <a:ext cx="384048" cy="384048"/>
          </a:xfrm>
          <a:prstGeom prst="rect">
            <a:avLst/>
          </a:prstGeom>
          <a:noFill/>
        </p:spPr>
        <p:txBody>
          <a:bodyPr wrap="square" anchor="ctr" lIns="0" rIns="0" tIns="0" bIns="0">
            <a:spAutoFit/>
          </a:bodyPr>
          <a:lstStyle/>
          <a:p>
            <a:pPr algn="ctr"/>
            <a:r>
              <a:rPr sz="1050" b="1" i="0">
                <a:solidFill>
                  <a:srgbClr val="2DD4A7"/>
                </a:solidFill>
                <a:latin typeface="Courier New"/>
              </a:rPr>
              <a:t>07</a:t>
            </a:r>
          </a:p>
        </p:txBody>
      </p:sp>
      <p:sp>
        <p:nvSpPr>
          <p:cNvPr id="27" name="TextBox 26"/>
          <p:cNvSpPr txBox="1"/>
          <p:nvPr/>
        </p:nvSpPr>
        <p:spPr>
          <a:xfrm>
            <a:off x="1188720" y="5596128"/>
            <a:ext cx="4407408" cy="585216"/>
          </a:xfrm>
          <a:prstGeom prst="rect">
            <a:avLst/>
          </a:prstGeom>
          <a:noFill/>
        </p:spPr>
        <p:txBody>
          <a:bodyPr wrap="square" anchor="t" lIns="0" rIns="0" tIns="0" bIns="0">
            <a:spAutoFit/>
          </a:bodyPr>
          <a:lstStyle/>
          <a:p>
            <a:pPr algn="l">
              <a:spcAft>
                <a:spcPts val="100"/>
              </a:spcAft>
            </a:pPr>
            <a:r>
              <a:rPr sz="1150" b="1" i="0">
                <a:solidFill>
                  <a:srgbClr val="FFFFFF"/>
                </a:solidFill>
                <a:latin typeface="Calibri"/>
              </a:rPr>
              <a:t>Advisory Recommendation &amp; GUI Refresh</a:t>
            </a:r>
          </a:p>
          <a:p>
            <a:pPr algn="l"/>
            <a:r>
              <a:rPr sz="1000" b="0" i="0">
                <a:solidFill>
                  <a:srgbClr val="A9BCDB"/>
                </a:solidFill>
                <a:latin typeface="Calibri"/>
              </a:rPr>
              <a:t>Recommender.recommend() sets suggested_action; GUI updates all 6 panels.</a:t>
            </a:r>
          </a:p>
        </p:txBody>
      </p:sp>
      <p:sp>
        <p:nvSpPr>
          <p:cNvPr id="28" name="Rounded Rectangle 27"/>
          <p:cNvSpPr/>
          <p:nvPr/>
        </p:nvSpPr>
        <p:spPr>
          <a:xfrm>
            <a:off x="5961888" y="1133856"/>
            <a:ext cx="5724144" cy="5266944"/>
          </a:xfrm>
          <a:prstGeom prst="roundRect">
            <a:avLst>
              <a:gd name="adj" fmla="val 4000"/>
            </a:avLst>
          </a:prstGeom>
          <a:solidFill>
            <a:srgbClr val="16294A"/>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1261872"/>
            <a:ext cx="5303520" cy="256032"/>
          </a:xfrm>
          <a:prstGeom prst="rect">
            <a:avLst/>
          </a:prstGeom>
          <a:noFill/>
        </p:spPr>
        <p:txBody>
          <a:bodyPr wrap="square" anchor="t" lIns="0" rIns="0" tIns="0" bIns="0">
            <a:spAutoFit/>
          </a:bodyPr>
          <a:lstStyle/>
          <a:p>
            <a:pPr algn="l"/>
            <a:r>
              <a:rPr sz="1150" b="1" i="0">
                <a:solidFill>
                  <a:srgbClr val="4F8EF7"/>
                </a:solidFill>
                <a:latin typeface="Calibri"/>
              </a:rPr>
              <a:t>IMPLEMENTED PRIORITY ORDER IN DiagnosisEngine._classify()</a:t>
            </a:r>
          </a:p>
        </p:txBody>
      </p:sp>
      <p:sp>
        <p:nvSpPr>
          <p:cNvPr id="30" name="Rounded Rectangle 29"/>
          <p:cNvSpPr/>
          <p:nvPr/>
        </p:nvSpPr>
        <p:spPr>
          <a:xfrm>
            <a:off x="6172200" y="1572768"/>
            <a:ext cx="5303520" cy="384048"/>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1609344"/>
            <a:ext cx="5120640" cy="310896"/>
          </a:xfrm>
          <a:prstGeom prst="rect">
            <a:avLst/>
          </a:prstGeom>
          <a:noFill/>
        </p:spPr>
        <p:txBody>
          <a:bodyPr wrap="square" anchor="ctr" lIns="0" rIns="0" tIns="0" bIns="0">
            <a:spAutoFit/>
          </a:bodyPr>
          <a:lstStyle/>
          <a:p>
            <a:pPr algn="ctr"/>
            <a:r>
              <a:rPr sz="1050" b="1" i="0">
                <a:solidFill>
                  <a:srgbClr val="F5A524"/>
                </a:solidFill>
                <a:latin typeface="Calibri"/>
              </a:rPr>
              <a:t>Before _classify():  Missing path → FILE_NOT_FOUND   |   Directory target → UNKNOWN_ERROR</a:t>
            </a:r>
          </a:p>
        </p:txBody>
      </p:sp>
      <p:sp>
        <p:nvSpPr>
          <p:cNvPr id="32" name="Rounded Rectangle 31"/>
          <p:cNvSpPr/>
          <p:nvPr/>
        </p:nvSpPr>
        <p:spPr>
          <a:xfrm>
            <a:off x="6172200" y="2029968"/>
            <a:ext cx="5303520" cy="512064"/>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245352" y="2112264"/>
            <a:ext cx="329184" cy="347472"/>
          </a:xfrm>
          <a:prstGeom prst="roundRect">
            <a:avLst>
              <a:gd name="adj" fmla="val 15000"/>
            </a:avLst>
          </a:prstGeom>
          <a:solidFill>
            <a:srgbClr val="1E356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5352" y="2112264"/>
            <a:ext cx="329184" cy="347472"/>
          </a:xfrm>
          <a:prstGeom prst="rect">
            <a:avLst/>
          </a:prstGeom>
          <a:noFill/>
        </p:spPr>
        <p:txBody>
          <a:bodyPr wrap="square" anchor="ctr" lIns="0" rIns="0" tIns="0" bIns="0">
            <a:spAutoFit/>
          </a:bodyPr>
          <a:lstStyle/>
          <a:p>
            <a:pPr algn="ctr"/>
            <a:r>
              <a:rPr sz="1100" b="1" i="0">
                <a:solidFill>
                  <a:srgbClr val="FFFFFF"/>
                </a:solidFill>
                <a:latin typeface="Courier New"/>
              </a:rPr>
              <a:t>1</a:t>
            </a:r>
          </a:p>
        </p:txBody>
      </p:sp>
      <p:sp>
        <p:nvSpPr>
          <p:cNvPr id="35" name="TextBox 34"/>
          <p:cNvSpPr txBox="1"/>
          <p:nvPr/>
        </p:nvSpPr>
        <p:spPr>
          <a:xfrm>
            <a:off x="6656832" y="2084832"/>
            <a:ext cx="2944368" cy="402336"/>
          </a:xfrm>
          <a:prstGeom prst="rect">
            <a:avLst/>
          </a:prstGeom>
          <a:noFill/>
        </p:spPr>
        <p:txBody>
          <a:bodyPr wrap="square" anchor="t" lIns="0" rIns="0" tIns="0" bIns="0">
            <a:spAutoFit/>
          </a:bodyPr>
          <a:lstStyle/>
          <a:p>
            <a:pPr algn="l"/>
            <a:r>
              <a:rPr sz="1050" b="1" i="0">
                <a:solidFill>
                  <a:srgbClr val="FFFFFF"/>
                </a:solidFill>
                <a:latin typeface="Calibri"/>
              </a:rPr>
              <a:t>Confirmed sync-client lock (sync_res.is_conflict)</a:t>
            </a:r>
          </a:p>
          <a:p>
            <a:pPr algn="l"/>
            <a:r>
              <a:rPr sz="1000" b="0" i="0">
                <a:solidFill>
                  <a:srgbClr val="A9BCDB"/>
                </a:solidFill>
                <a:latin typeface="Calibri"/>
              </a:rPr>
              <a:t>Holder matches OneDrive or Google Drive client</a:t>
            </a:r>
          </a:p>
        </p:txBody>
      </p:sp>
      <p:sp>
        <p:nvSpPr>
          <p:cNvPr id="36" name="Rounded Rectangle 35"/>
          <p:cNvSpPr/>
          <p:nvPr/>
        </p:nvSpPr>
        <p:spPr>
          <a:xfrm>
            <a:off x="9646920" y="2121408"/>
            <a:ext cx="1737360" cy="329184"/>
          </a:xfrm>
          <a:prstGeom prst="roundRect">
            <a:avLst>
              <a:gd name="adj" fmla="val 45000"/>
            </a:avLst>
          </a:prstGeom>
          <a:solidFill>
            <a:srgbClr val="16294A"/>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92640" y="2148840"/>
            <a:ext cx="1645919" cy="274320"/>
          </a:xfrm>
          <a:prstGeom prst="rect">
            <a:avLst/>
          </a:prstGeom>
          <a:noFill/>
        </p:spPr>
        <p:txBody>
          <a:bodyPr wrap="square" anchor="ctr" lIns="0" rIns="0" tIns="0" bIns="0">
            <a:spAutoFit/>
          </a:bodyPr>
          <a:lstStyle/>
          <a:p>
            <a:pPr algn="ctr"/>
            <a:r>
              <a:rPr sz="1000" b="1" i="0">
                <a:solidFill>
                  <a:srgbClr val="F5A524"/>
                </a:solidFill>
                <a:latin typeface="Courier New"/>
              </a:rPr>
              <a:t>SYNC_CONFLICT</a:t>
            </a:r>
          </a:p>
        </p:txBody>
      </p:sp>
      <p:sp>
        <p:nvSpPr>
          <p:cNvPr id="38" name="Rounded Rectangle 37"/>
          <p:cNvSpPr/>
          <p:nvPr/>
        </p:nvSpPr>
        <p:spPr>
          <a:xfrm>
            <a:off x="6172200" y="2596896"/>
            <a:ext cx="5303520" cy="512064"/>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245352" y="2679192"/>
            <a:ext cx="329184" cy="347472"/>
          </a:xfrm>
          <a:prstGeom prst="roundRect">
            <a:avLst>
              <a:gd name="adj" fmla="val 15000"/>
            </a:avLst>
          </a:prstGeom>
          <a:solidFill>
            <a:srgbClr val="1E3560"/>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5352" y="2679192"/>
            <a:ext cx="329184" cy="347472"/>
          </a:xfrm>
          <a:prstGeom prst="rect">
            <a:avLst/>
          </a:prstGeom>
          <a:noFill/>
        </p:spPr>
        <p:txBody>
          <a:bodyPr wrap="square" anchor="ctr" lIns="0" rIns="0" tIns="0" bIns="0">
            <a:spAutoFit/>
          </a:bodyPr>
          <a:lstStyle/>
          <a:p>
            <a:pPr algn="ctr"/>
            <a:r>
              <a:rPr sz="1100" b="1" i="0">
                <a:solidFill>
                  <a:srgbClr val="FFFFFF"/>
                </a:solidFill>
                <a:latin typeface="Courier New"/>
              </a:rPr>
              <a:t>2</a:t>
            </a:r>
          </a:p>
        </p:txBody>
      </p:sp>
      <p:sp>
        <p:nvSpPr>
          <p:cNvPr id="41" name="TextBox 40"/>
          <p:cNvSpPr txBox="1"/>
          <p:nvPr/>
        </p:nvSpPr>
        <p:spPr>
          <a:xfrm>
            <a:off x="6656832" y="2651760"/>
            <a:ext cx="2944368" cy="402336"/>
          </a:xfrm>
          <a:prstGeom prst="rect">
            <a:avLst/>
          </a:prstGeom>
          <a:noFill/>
        </p:spPr>
        <p:txBody>
          <a:bodyPr wrap="square" anchor="t" lIns="0" rIns="0" tIns="0" bIns="0">
            <a:spAutoFit/>
          </a:bodyPr>
          <a:lstStyle/>
          <a:p>
            <a:pPr algn="l"/>
            <a:r>
              <a:rPr sz="1050" b="1" i="0">
                <a:solidFill>
                  <a:srgbClr val="FFFFFF"/>
                </a:solidFill>
                <a:latin typeface="Calibri"/>
              </a:rPr>
              <a:t>Detected process lock (lock_res.is_locked)</a:t>
            </a:r>
          </a:p>
          <a:p>
            <a:pPr algn="l"/>
            <a:r>
              <a:rPr sz="1000" b="0" i="0">
                <a:solidFill>
                  <a:srgbClr val="A9BCDB"/>
                </a:solidFill>
                <a:latin typeface="Calibri"/>
              </a:rPr>
              <a:t>Restart Manager reports &gt;= 1 active holder</a:t>
            </a:r>
          </a:p>
        </p:txBody>
      </p:sp>
      <p:sp>
        <p:nvSpPr>
          <p:cNvPr id="42" name="Rounded Rectangle 41"/>
          <p:cNvSpPr/>
          <p:nvPr/>
        </p:nvSpPr>
        <p:spPr>
          <a:xfrm>
            <a:off x="9646920" y="2688336"/>
            <a:ext cx="1737360" cy="329184"/>
          </a:xfrm>
          <a:prstGeom prst="roundRect">
            <a:avLst>
              <a:gd name="adj" fmla="val 45000"/>
            </a:avLst>
          </a:prstGeom>
          <a:solidFill>
            <a:srgbClr val="16294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92640" y="2715768"/>
            <a:ext cx="1645919" cy="274320"/>
          </a:xfrm>
          <a:prstGeom prst="rect">
            <a:avLst/>
          </a:prstGeom>
          <a:noFill/>
        </p:spPr>
        <p:txBody>
          <a:bodyPr wrap="square" anchor="ctr" lIns="0" rIns="0" tIns="0" bIns="0">
            <a:spAutoFit/>
          </a:bodyPr>
          <a:lstStyle/>
          <a:p>
            <a:pPr algn="ctr"/>
            <a:r>
              <a:rPr sz="1000" b="1" i="0">
                <a:solidFill>
                  <a:srgbClr val="E8756B"/>
                </a:solidFill>
                <a:latin typeface="Courier New"/>
              </a:rPr>
              <a:t>FILE_LOCKED</a:t>
            </a:r>
          </a:p>
        </p:txBody>
      </p:sp>
      <p:sp>
        <p:nvSpPr>
          <p:cNvPr id="44" name="Rounded Rectangle 43"/>
          <p:cNvSpPr/>
          <p:nvPr/>
        </p:nvSpPr>
        <p:spPr>
          <a:xfrm>
            <a:off x="6172200" y="3163824"/>
            <a:ext cx="5303520" cy="512064"/>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245352" y="3246120"/>
            <a:ext cx="329184" cy="347472"/>
          </a:xfrm>
          <a:prstGeom prst="roundRect">
            <a:avLst>
              <a:gd name="adj" fmla="val 15000"/>
            </a:avLst>
          </a:prstGeom>
          <a:solidFill>
            <a:srgbClr val="1E356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2" y="3246120"/>
            <a:ext cx="329184" cy="347472"/>
          </a:xfrm>
          <a:prstGeom prst="rect">
            <a:avLst/>
          </a:prstGeom>
          <a:noFill/>
        </p:spPr>
        <p:txBody>
          <a:bodyPr wrap="square" anchor="ctr" lIns="0" rIns="0" tIns="0" bIns="0">
            <a:spAutoFit/>
          </a:bodyPr>
          <a:lstStyle/>
          <a:p>
            <a:pPr algn="ctr"/>
            <a:r>
              <a:rPr sz="1100" b="1" i="0">
                <a:solidFill>
                  <a:srgbClr val="FFFFFF"/>
                </a:solidFill>
                <a:latin typeface="Courier New"/>
              </a:rPr>
              <a:t>3</a:t>
            </a:r>
          </a:p>
        </p:txBody>
      </p:sp>
      <p:sp>
        <p:nvSpPr>
          <p:cNvPr id="47" name="TextBox 46"/>
          <p:cNvSpPr txBox="1"/>
          <p:nvPr/>
        </p:nvSpPr>
        <p:spPr>
          <a:xfrm>
            <a:off x="6656832" y="3218688"/>
            <a:ext cx="2944368" cy="402336"/>
          </a:xfrm>
          <a:prstGeom prst="rect">
            <a:avLst/>
          </a:prstGeom>
          <a:noFill/>
        </p:spPr>
        <p:txBody>
          <a:bodyPr wrap="square" anchor="t" lIns="0" rIns="0" tIns="0" bIns="0">
            <a:spAutoFit/>
          </a:bodyPr>
          <a:lstStyle/>
          <a:p>
            <a:pPr algn="l"/>
            <a:r>
              <a:rPr sz="1050" b="1" i="0">
                <a:solidFill>
                  <a:srgbClr val="FFFFFF"/>
                </a:solidFill>
                <a:latin typeface="Calibri"/>
              </a:rPr>
              <a:t>Read-only restriction for WRITE or DELETE</a:t>
            </a:r>
          </a:p>
          <a:p>
            <a:pPr algn="l"/>
            <a:r>
              <a:rPr sz="1000" b="0" i="0">
                <a:solidFill>
                  <a:srgbClr val="A9BCDB"/>
                </a:solidFill>
                <a:latin typeface="Calibri"/>
              </a:rPr>
              <a:t>is_readonly=True (or write denied + read allowed)</a:t>
            </a:r>
          </a:p>
        </p:txBody>
      </p:sp>
      <p:sp>
        <p:nvSpPr>
          <p:cNvPr id="48" name="Rounded Rectangle 47"/>
          <p:cNvSpPr/>
          <p:nvPr/>
        </p:nvSpPr>
        <p:spPr>
          <a:xfrm>
            <a:off x="9646920" y="3255264"/>
            <a:ext cx="1737360" cy="329184"/>
          </a:xfrm>
          <a:prstGeom prst="roundRect">
            <a:avLst>
              <a:gd name="adj" fmla="val 45000"/>
            </a:avLst>
          </a:prstGeom>
          <a:solidFill>
            <a:srgbClr val="16294A"/>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92640" y="3282696"/>
            <a:ext cx="1645919" cy="274320"/>
          </a:xfrm>
          <a:prstGeom prst="rect">
            <a:avLst/>
          </a:prstGeom>
          <a:noFill/>
        </p:spPr>
        <p:txBody>
          <a:bodyPr wrap="square" anchor="ctr" lIns="0" rIns="0" tIns="0" bIns="0">
            <a:spAutoFit/>
          </a:bodyPr>
          <a:lstStyle/>
          <a:p>
            <a:pPr algn="ctr"/>
            <a:r>
              <a:rPr sz="1000" b="1" i="0">
                <a:solidFill>
                  <a:srgbClr val="F5A524"/>
                </a:solidFill>
                <a:latin typeface="Courier New"/>
              </a:rPr>
              <a:t>READ_ONLY</a:t>
            </a:r>
          </a:p>
        </p:txBody>
      </p:sp>
      <p:sp>
        <p:nvSpPr>
          <p:cNvPr id="50" name="Rounded Rectangle 49"/>
          <p:cNvSpPr/>
          <p:nvPr/>
        </p:nvSpPr>
        <p:spPr>
          <a:xfrm>
            <a:off x="6172200" y="3730752"/>
            <a:ext cx="5303520" cy="512064"/>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245352" y="3813048"/>
            <a:ext cx="329184" cy="347472"/>
          </a:xfrm>
          <a:prstGeom prst="roundRect">
            <a:avLst>
              <a:gd name="adj" fmla="val 15000"/>
            </a:avLst>
          </a:prstGeom>
          <a:solidFill>
            <a:srgbClr val="1E3560"/>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45352" y="3813048"/>
            <a:ext cx="329184" cy="347472"/>
          </a:xfrm>
          <a:prstGeom prst="rect">
            <a:avLst/>
          </a:prstGeom>
          <a:noFill/>
        </p:spPr>
        <p:txBody>
          <a:bodyPr wrap="square" anchor="ctr" lIns="0" rIns="0" tIns="0" bIns="0">
            <a:spAutoFit/>
          </a:bodyPr>
          <a:lstStyle/>
          <a:p>
            <a:pPr algn="ctr"/>
            <a:r>
              <a:rPr sz="1100" b="1" i="0">
                <a:solidFill>
                  <a:srgbClr val="FFFFFF"/>
                </a:solidFill>
                <a:latin typeface="Courier New"/>
              </a:rPr>
              <a:t>4</a:t>
            </a:r>
          </a:p>
        </p:txBody>
      </p:sp>
      <p:sp>
        <p:nvSpPr>
          <p:cNvPr id="53" name="TextBox 52"/>
          <p:cNvSpPr txBox="1"/>
          <p:nvPr/>
        </p:nvSpPr>
        <p:spPr>
          <a:xfrm>
            <a:off x="6656832" y="3785615"/>
            <a:ext cx="2944368" cy="402336"/>
          </a:xfrm>
          <a:prstGeom prst="rect">
            <a:avLst/>
          </a:prstGeom>
          <a:noFill/>
        </p:spPr>
        <p:txBody>
          <a:bodyPr wrap="square" anchor="t" lIns="0" rIns="0" tIns="0" bIns="0">
            <a:spAutoFit/>
          </a:bodyPr>
          <a:lstStyle/>
          <a:p>
            <a:pPr algn="l"/>
            <a:r>
              <a:rPr sz="1050" b="1" i="0">
                <a:solidFill>
                  <a:srgbClr val="FFFFFF"/>
                </a:solidFill>
                <a:latin typeface="Calibri"/>
              </a:rPr>
              <a:t>Proven permission denial (method != 'error')</a:t>
            </a:r>
          </a:p>
          <a:p>
            <a:pPr algn="l"/>
            <a:r>
              <a:rPr sz="1000" b="0" i="0">
                <a:solidFill>
                  <a:srgbClr val="A9BCDB"/>
                </a:solidFill>
                <a:latin typeface="Calibri"/>
              </a:rPr>
              <a:t>Independent denial from PermissionAnalyzer</a:t>
            </a:r>
          </a:p>
        </p:txBody>
      </p:sp>
      <p:sp>
        <p:nvSpPr>
          <p:cNvPr id="54" name="Rounded Rectangle 53"/>
          <p:cNvSpPr/>
          <p:nvPr/>
        </p:nvSpPr>
        <p:spPr>
          <a:xfrm>
            <a:off x="9646920" y="3822191"/>
            <a:ext cx="1737360" cy="329184"/>
          </a:xfrm>
          <a:prstGeom prst="roundRect">
            <a:avLst>
              <a:gd name="adj" fmla="val 45000"/>
            </a:avLst>
          </a:prstGeom>
          <a:solidFill>
            <a:srgbClr val="16294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92640" y="3849624"/>
            <a:ext cx="1645919" cy="274320"/>
          </a:xfrm>
          <a:prstGeom prst="rect">
            <a:avLst/>
          </a:prstGeom>
          <a:noFill/>
        </p:spPr>
        <p:txBody>
          <a:bodyPr wrap="square" anchor="ctr" lIns="0" rIns="0" tIns="0" bIns="0">
            <a:spAutoFit/>
          </a:bodyPr>
          <a:lstStyle/>
          <a:p>
            <a:pPr algn="ctr"/>
            <a:r>
              <a:rPr sz="1000" b="1" i="0">
                <a:solidFill>
                  <a:srgbClr val="E8756B"/>
                </a:solidFill>
                <a:latin typeface="Courier New"/>
              </a:rPr>
              <a:t>PERMISSION_DENIED</a:t>
            </a:r>
          </a:p>
        </p:txBody>
      </p:sp>
      <p:sp>
        <p:nvSpPr>
          <p:cNvPr id="56" name="Rounded Rectangle 55"/>
          <p:cNvSpPr/>
          <p:nvPr/>
        </p:nvSpPr>
        <p:spPr>
          <a:xfrm>
            <a:off x="6172200" y="4297680"/>
            <a:ext cx="5303520" cy="512064"/>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245352" y="4379976"/>
            <a:ext cx="329184" cy="347472"/>
          </a:xfrm>
          <a:prstGeom prst="roundRect">
            <a:avLst>
              <a:gd name="adj" fmla="val 15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45352" y="4379976"/>
            <a:ext cx="329184" cy="347472"/>
          </a:xfrm>
          <a:prstGeom prst="rect">
            <a:avLst/>
          </a:prstGeom>
          <a:noFill/>
        </p:spPr>
        <p:txBody>
          <a:bodyPr wrap="square" anchor="ctr" lIns="0" rIns="0" tIns="0" bIns="0">
            <a:spAutoFit/>
          </a:bodyPr>
          <a:lstStyle/>
          <a:p>
            <a:pPr algn="ctr"/>
            <a:r>
              <a:rPr sz="1100" b="1" i="0">
                <a:solidFill>
                  <a:srgbClr val="FFFFFF"/>
                </a:solidFill>
                <a:latin typeface="Courier New"/>
              </a:rPr>
              <a:t>5</a:t>
            </a:r>
          </a:p>
        </p:txBody>
      </p:sp>
      <p:sp>
        <p:nvSpPr>
          <p:cNvPr id="59" name="TextBox 58"/>
          <p:cNvSpPr txBox="1"/>
          <p:nvPr/>
        </p:nvSpPr>
        <p:spPr>
          <a:xfrm>
            <a:off x="6656832" y="4352544"/>
            <a:ext cx="2944368" cy="402336"/>
          </a:xfrm>
          <a:prstGeom prst="rect">
            <a:avLst/>
          </a:prstGeom>
          <a:noFill/>
        </p:spPr>
        <p:txBody>
          <a:bodyPr wrap="square" anchor="t" lIns="0" rIns="0" tIns="0" bIns="0">
            <a:spAutoFit/>
          </a:bodyPr>
          <a:lstStyle/>
          <a:p>
            <a:pPr algn="l"/>
            <a:r>
              <a:rPr sz="1050" b="1" i="0">
                <a:solidFill>
                  <a:srgbClr val="FFFFFF"/>
                </a:solidFill>
                <a:latin typeface="Calibri"/>
              </a:rPr>
              <a:t>Critical inspection error (perm, then lock)</a:t>
            </a:r>
          </a:p>
          <a:p>
            <a:pPr algn="l"/>
            <a:r>
              <a:rPr sz="1000" b="0" i="0">
                <a:solidFill>
                  <a:srgbClr val="A9BCDB"/>
                </a:solidFill>
                <a:latin typeface="Calibri"/>
              </a:rPr>
              <a:t>Analyzer failed (e.g. RmGetList Win32 error 5)</a:t>
            </a:r>
          </a:p>
        </p:txBody>
      </p:sp>
      <p:sp>
        <p:nvSpPr>
          <p:cNvPr id="60" name="Rounded Rectangle 59"/>
          <p:cNvSpPr/>
          <p:nvPr/>
        </p:nvSpPr>
        <p:spPr>
          <a:xfrm>
            <a:off x="9646920" y="4389120"/>
            <a:ext cx="1737360" cy="329184"/>
          </a:xfrm>
          <a:prstGeom prst="roundRect">
            <a:avLst>
              <a:gd name="adj" fmla="val 45000"/>
            </a:avLst>
          </a:prstGeom>
          <a:solidFill>
            <a:srgbClr val="16294A"/>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692640" y="4416552"/>
            <a:ext cx="1645919" cy="274320"/>
          </a:xfrm>
          <a:prstGeom prst="rect">
            <a:avLst/>
          </a:prstGeom>
          <a:noFill/>
        </p:spPr>
        <p:txBody>
          <a:bodyPr wrap="square" anchor="ctr" lIns="0" rIns="0" tIns="0" bIns="0">
            <a:spAutoFit/>
          </a:bodyPr>
          <a:lstStyle/>
          <a:p>
            <a:pPr algn="ctr"/>
            <a:r>
              <a:rPr sz="1000" b="1" i="0">
                <a:solidFill>
                  <a:srgbClr val="4F8EF7"/>
                </a:solidFill>
                <a:latin typeface="Courier New"/>
              </a:rPr>
              <a:t>UNKNOWN_ERROR</a:t>
            </a:r>
          </a:p>
        </p:txBody>
      </p:sp>
      <p:sp>
        <p:nvSpPr>
          <p:cNvPr id="62" name="Rounded Rectangle 61"/>
          <p:cNvSpPr/>
          <p:nvPr/>
        </p:nvSpPr>
        <p:spPr>
          <a:xfrm>
            <a:off x="6172200" y="4864608"/>
            <a:ext cx="5303520" cy="512064"/>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245352" y="4946904"/>
            <a:ext cx="329184" cy="347472"/>
          </a:xfrm>
          <a:prstGeom prst="roundRect">
            <a:avLst>
              <a:gd name="adj" fmla="val 15000"/>
            </a:avLst>
          </a:prstGeom>
          <a:solidFill>
            <a:srgbClr val="1E3560"/>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45352" y="4946904"/>
            <a:ext cx="329184" cy="347472"/>
          </a:xfrm>
          <a:prstGeom prst="rect">
            <a:avLst/>
          </a:prstGeom>
          <a:noFill/>
        </p:spPr>
        <p:txBody>
          <a:bodyPr wrap="square" anchor="ctr" lIns="0" rIns="0" tIns="0" bIns="0">
            <a:spAutoFit/>
          </a:bodyPr>
          <a:lstStyle/>
          <a:p>
            <a:pPr algn="ctr"/>
            <a:r>
              <a:rPr sz="1100" b="1" i="0">
                <a:solidFill>
                  <a:srgbClr val="FFFFFF"/>
                </a:solidFill>
                <a:latin typeface="Courier New"/>
              </a:rPr>
              <a:t>6</a:t>
            </a:r>
          </a:p>
        </p:txBody>
      </p:sp>
      <p:sp>
        <p:nvSpPr>
          <p:cNvPr id="65" name="TextBox 64"/>
          <p:cNvSpPr txBox="1"/>
          <p:nvPr/>
        </p:nvSpPr>
        <p:spPr>
          <a:xfrm>
            <a:off x="6656832" y="4919472"/>
            <a:ext cx="2944368" cy="402336"/>
          </a:xfrm>
          <a:prstGeom prst="rect">
            <a:avLst/>
          </a:prstGeom>
          <a:noFill/>
        </p:spPr>
        <p:txBody>
          <a:bodyPr wrap="square" anchor="t" lIns="0" rIns="0" tIns="0" bIns="0">
            <a:spAutoFit/>
          </a:bodyPr>
          <a:lstStyle/>
          <a:p>
            <a:pPr algn="l"/>
            <a:r>
              <a:rPr sz="1050" b="1" i="0">
                <a:solidFill>
                  <a:srgbClr val="FFFFFF"/>
                </a:solidFill>
                <a:latin typeface="Calibri"/>
              </a:rPr>
              <a:t>Fallback permission denial (not permitted)</a:t>
            </a:r>
          </a:p>
          <a:p>
            <a:pPr algn="l"/>
            <a:r>
              <a:rPr sz="1000" b="0" i="0">
                <a:solidFill>
                  <a:srgbClr val="A9BCDB"/>
                </a:solidFill>
                <a:latin typeface="Calibri"/>
              </a:rPr>
              <a:t>Catches any remaining permission denial case</a:t>
            </a:r>
          </a:p>
        </p:txBody>
      </p:sp>
      <p:sp>
        <p:nvSpPr>
          <p:cNvPr id="66" name="Rounded Rectangle 65"/>
          <p:cNvSpPr/>
          <p:nvPr/>
        </p:nvSpPr>
        <p:spPr>
          <a:xfrm>
            <a:off x="9646920" y="4956048"/>
            <a:ext cx="1737360" cy="329184"/>
          </a:xfrm>
          <a:prstGeom prst="roundRect">
            <a:avLst>
              <a:gd name="adj" fmla="val 45000"/>
            </a:avLst>
          </a:prstGeom>
          <a:solidFill>
            <a:srgbClr val="16294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692640" y="4983480"/>
            <a:ext cx="1645919" cy="274320"/>
          </a:xfrm>
          <a:prstGeom prst="rect">
            <a:avLst/>
          </a:prstGeom>
          <a:noFill/>
        </p:spPr>
        <p:txBody>
          <a:bodyPr wrap="square" anchor="ctr" lIns="0" rIns="0" tIns="0" bIns="0">
            <a:spAutoFit/>
          </a:bodyPr>
          <a:lstStyle/>
          <a:p>
            <a:pPr algn="ctr"/>
            <a:r>
              <a:rPr sz="1000" b="1" i="0">
                <a:solidFill>
                  <a:srgbClr val="E8756B"/>
                </a:solidFill>
                <a:latin typeface="Courier New"/>
              </a:rPr>
              <a:t>PERMISSION_DENIED</a:t>
            </a:r>
          </a:p>
        </p:txBody>
      </p:sp>
      <p:sp>
        <p:nvSpPr>
          <p:cNvPr id="68" name="Rounded Rectangle 67"/>
          <p:cNvSpPr/>
          <p:nvPr/>
        </p:nvSpPr>
        <p:spPr>
          <a:xfrm>
            <a:off x="6172200" y="5431536"/>
            <a:ext cx="5303520" cy="512064"/>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6245352" y="5513831"/>
            <a:ext cx="329184" cy="347472"/>
          </a:xfrm>
          <a:prstGeom prst="roundRect">
            <a:avLst>
              <a:gd name="adj" fmla="val 15000"/>
            </a:avLst>
          </a:prstGeom>
          <a:solidFill>
            <a:srgbClr val="1E356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45352" y="5513831"/>
            <a:ext cx="329184" cy="347472"/>
          </a:xfrm>
          <a:prstGeom prst="rect">
            <a:avLst/>
          </a:prstGeom>
          <a:noFill/>
        </p:spPr>
        <p:txBody>
          <a:bodyPr wrap="square" anchor="ctr" lIns="0" rIns="0" tIns="0" bIns="0">
            <a:spAutoFit/>
          </a:bodyPr>
          <a:lstStyle/>
          <a:p>
            <a:pPr algn="ctr"/>
            <a:r>
              <a:rPr sz="1100" b="1" i="0">
                <a:solidFill>
                  <a:srgbClr val="FFFFFF"/>
                </a:solidFill>
                <a:latin typeface="Courier New"/>
              </a:rPr>
              <a:t>7</a:t>
            </a:r>
          </a:p>
        </p:txBody>
      </p:sp>
      <p:sp>
        <p:nvSpPr>
          <p:cNvPr id="71" name="TextBox 70"/>
          <p:cNvSpPr txBox="1"/>
          <p:nvPr/>
        </p:nvSpPr>
        <p:spPr>
          <a:xfrm>
            <a:off x="6656832" y="5486399"/>
            <a:ext cx="2944368" cy="402336"/>
          </a:xfrm>
          <a:prstGeom prst="rect">
            <a:avLst/>
          </a:prstGeom>
          <a:noFill/>
        </p:spPr>
        <p:txBody>
          <a:bodyPr wrap="square" anchor="t" lIns="0" rIns="0" tIns="0" bIns="0">
            <a:spAutoFit/>
          </a:bodyPr>
          <a:lstStyle/>
          <a:p>
            <a:pPr algn="l"/>
            <a:r>
              <a:rPr sz="1050" b="1" i="0">
                <a:solidFill>
                  <a:srgbClr val="FFFFFF"/>
                </a:solidFill>
                <a:latin typeface="Calibri"/>
              </a:rPr>
              <a:t>No blocking condition detected</a:t>
            </a:r>
          </a:p>
          <a:p>
            <a:pPr algn="l"/>
            <a:r>
              <a:rPr sz="1000" b="0" i="0">
                <a:solidFill>
                  <a:srgbClr val="A9BCDB"/>
                </a:solidFill>
                <a:latin typeface="Calibri"/>
              </a:rPr>
              <a:t>All checks completed with no blocker found</a:t>
            </a:r>
          </a:p>
        </p:txBody>
      </p:sp>
      <p:sp>
        <p:nvSpPr>
          <p:cNvPr id="72" name="Rounded Rectangle 71"/>
          <p:cNvSpPr/>
          <p:nvPr/>
        </p:nvSpPr>
        <p:spPr>
          <a:xfrm>
            <a:off x="9646920" y="5522975"/>
            <a:ext cx="1737360" cy="329184"/>
          </a:xfrm>
          <a:prstGeom prst="roundRect">
            <a:avLst>
              <a:gd name="adj" fmla="val 45000"/>
            </a:avLst>
          </a:prstGeom>
          <a:solidFill>
            <a:srgbClr val="16294A"/>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92640" y="5550407"/>
            <a:ext cx="1645919" cy="274320"/>
          </a:xfrm>
          <a:prstGeom prst="rect">
            <a:avLst/>
          </a:prstGeom>
          <a:noFill/>
        </p:spPr>
        <p:txBody>
          <a:bodyPr wrap="square" anchor="ctr" lIns="0" rIns="0" tIns="0" bIns="0">
            <a:spAutoFit/>
          </a:bodyPr>
          <a:lstStyle/>
          <a:p>
            <a:pPr algn="ctr"/>
            <a:r>
              <a:rPr sz="1000" b="1" i="0">
                <a:solidFill>
                  <a:srgbClr val="2DD4A7"/>
                </a:solidFill>
                <a:latin typeface="Courier New"/>
              </a:rPr>
              <a:t>OPERATION_ALLOWED</a:t>
            </a:r>
          </a:p>
        </p:txBody>
      </p:sp>
      <p:sp>
        <p:nvSpPr>
          <p:cNvPr id="74" name="TextBox 73"/>
          <p:cNvSpPr txBox="1"/>
          <p:nvPr/>
        </p:nvSpPr>
        <p:spPr>
          <a:xfrm>
            <a:off x="6172200" y="6071616"/>
            <a:ext cx="5303520" cy="256032"/>
          </a:xfrm>
          <a:prstGeom prst="rect">
            <a:avLst/>
          </a:prstGeom>
          <a:noFill/>
        </p:spPr>
        <p:txBody>
          <a:bodyPr wrap="square" anchor="t" lIns="0" rIns="0" tIns="0" bIns="0">
            <a:spAutoFit/>
          </a:bodyPr>
          <a:lstStyle/>
          <a:p>
            <a:pPr algn="ctr"/>
            <a:r>
              <a:rPr sz="1050" b="0" i="1">
                <a:solidFill>
                  <a:srgbClr val="6E86AE"/>
                </a:solidFill>
                <a:latin typeface="Calibri"/>
              </a:rPr>
              <a:t>First matching rule wins; secondary evidence stays attached to DiagnosisResult &amp; reason.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6  •  TECHNICAL IMPLEMENTATION &amp; OS INTERFACES</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How Operating-System Evidence Is Gathered Locally</a:t>
            </a:r>
          </a:p>
        </p:txBody>
      </p:sp>
      <p:sp>
        <p:nvSpPr>
          <p:cNvPr id="4" name="Rounded Rectangle 3"/>
          <p:cNvSpPr/>
          <p:nvPr/>
        </p:nvSpPr>
        <p:spPr>
          <a:xfrm>
            <a:off x="502920" y="1115568"/>
            <a:ext cx="11183112" cy="859536"/>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67512" y="1243584"/>
            <a:ext cx="128016" cy="12801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188720"/>
            <a:ext cx="1600200" cy="402336"/>
          </a:xfrm>
          <a:prstGeom prst="rect">
            <a:avLst/>
          </a:prstGeom>
          <a:noFill/>
        </p:spPr>
        <p:txBody>
          <a:bodyPr wrap="square" anchor="t" lIns="0" rIns="0" tIns="0" bIns="0">
            <a:spAutoFit/>
          </a:bodyPr>
          <a:lstStyle/>
          <a:p>
            <a:pPr algn="l"/>
            <a:r>
              <a:rPr sz="1100" b="1" i="0">
                <a:solidFill>
                  <a:srgbClr val="FFFFFF"/>
                </a:solidFill>
                <a:latin typeface="Calibri"/>
              </a:rPr>
              <a:t>PROCESS / LOCK</a:t>
            </a:r>
          </a:p>
        </p:txBody>
      </p:sp>
      <p:sp>
        <p:nvSpPr>
          <p:cNvPr id="7" name="TextBox 6"/>
          <p:cNvSpPr txBox="1"/>
          <p:nvPr/>
        </p:nvSpPr>
        <p:spPr>
          <a:xfrm>
            <a:off x="859536" y="1627632"/>
            <a:ext cx="1600200" cy="256032"/>
          </a:xfrm>
          <a:prstGeom prst="rect">
            <a:avLst/>
          </a:prstGeom>
          <a:noFill/>
        </p:spPr>
        <p:txBody>
          <a:bodyPr wrap="square" anchor="t" lIns="0" rIns="0" tIns="0" bIns="0">
            <a:spAutoFit/>
          </a:bodyPr>
          <a:lstStyle/>
          <a:p>
            <a:pPr algn="l"/>
            <a:r>
              <a:rPr sz="1000" b="1" i="0">
                <a:solidFill>
                  <a:srgbClr val="2DD4A7"/>
                </a:solidFill>
                <a:latin typeface="Courier New"/>
              </a:rPr>
              <a:t>process_lock.py</a:t>
            </a:r>
          </a:p>
        </p:txBody>
      </p:sp>
      <p:sp>
        <p:nvSpPr>
          <p:cNvPr id="8" name="Rounded Rectangle 7"/>
          <p:cNvSpPr/>
          <p:nvPr/>
        </p:nvSpPr>
        <p:spPr>
          <a:xfrm>
            <a:off x="2487168" y="1225295"/>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42032" y="128016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Python ctypes</a:t>
            </a:r>
          </a:p>
          <a:p>
            <a:pPr algn="ctr"/>
            <a:r>
              <a:rPr sz="1000" b="0" i="0">
                <a:solidFill>
                  <a:srgbClr val="A9BCDB"/>
                </a:solidFill>
                <a:latin typeface="Calibri"/>
              </a:rPr>
              <a:t>rstrtmgr.dll FFI</a:t>
            </a:r>
          </a:p>
        </p:txBody>
      </p:sp>
      <p:sp>
        <p:nvSpPr>
          <p:cNvPr id="10" name="Right Arrow 9"/>
          <p:cNvSpPr/>
          <p:nvPr/>
        </p:nvSpPr>
        <p:spPr>
          <a:xfrm>
            <a:off x="3694176" y="148132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40480" y="1225295"/>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95344" y="128016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RmStartSession</a:t>
            </a:r>
          </a:p>
          <a:p>
            <a:pPr algn="ctr"/>
            <a:r>
              <a:rPr sz="1000" b="0" i="0">
                <a:solidFill>
                  <a:srgbClr val="A9BCDB"/>
                </a:solidFill>
                <a:latin typeface="Calibri"/>
              </a:rPr>
              <a:t>Register target</a:t>
            </a:r>
          </a:p>
        </p:txBody>
      </p:sp>
      <p:sp>
        <p:nvSpPr>
          <p:cNvPr id="13" name="Right Arrow 12"/>
          <p:cNvSpPr/>
          <p:nvPr/>
        </p:nvSpPr>
        <p:spPr>
          <a:xfrm>
            <a:off x="5047488" y="148132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93792" y="1225295"/>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48655" y="128016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RmGetList (2x)</a:t>
            </a:r>
          </a:p>
          <a:p>
            <a:pPr algn="ctr"/>
            <a:r>
              <a:rPr sz="1000" b="0" i="0">
                <a:solidFill>
                  <a:srgbClr val="A9BCDB"/>
                </a:solidFill>
                <a:latin typeface="Calibri"/>
              </a:rPr>
              <a:t>Size + fill array</a:t>
            </a:r>
          </a:p>
        </p:txBody>
      </p:sp>
      <p:sp>
        <p:nvSpPr>
          <p:cNvPr id="16" name="Right Arrow 15"/>
          <p:cNvSpPr/>
          <p:nvPr/>
        </p:nvSpPr>
        <p:spPr>
          <a:xfrm>
            <a:off x="6400800" y="148132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47104" y="1225295"/>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1968" y="128016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RmEndSession</a:t>
            </a:r>
          </a:p>
          <a:p>
            <a:pPr algn="ctr"/>
            <a:r>
              <a:rPr sz="1000" b="0" i="0">
                <a:solidFill>
                  <a:srgbClr val="A9BCDB"/>
                </a:solidFill>
                <a:latin typeface="Calibri"/>
              </a:rPr>
              <a:t>finally cleanup</a:t>
            </a:r>
          </a:p>
        </p:txBody>
      </p:sp>
      <p:sp>
        <p:nvSpPr>
          <p:cNvPr id="19" name="Rounded Rectangle 18"/>
          <p:cNvSpPr/>
          <p:nvPr/>
        </p:nvSpPr>
        <p:spPr>
          <a:xfrm>
            <a:off x="7918704" y="1207008"/>
            <a:ext cx="3639312" cy="676656"/>
          </a:xfrm>
          <a:prstGeom prst="roundRect">
            <a:avLst>
              <a:gd name="adj" fmla="val 6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28431" y="1243584"/>
            <a:ext cx="3419856" cy="603504"/>
          </a:xfrm>
          <a:prstGeom prst="rect">
            <a:avLst/>
          </a:prstGeom>
          <a:noFill/>
        </p:spPr>
        <p:txBody>
          <a:bodyPr wrap="square" anchor="t" lIns="0" rIns="0" tIns="0" bIns="0">
            <a:spAutoFit/>
          </a:bodyPr>
          <a:lstStyle/>
          <a:p>
            <a:pPr algn="l"/>
            <a:r>
              <a:rPr sz="1000" b="0" i="0">
                <a:solidFill>
                  <a:srgbClr val="A9BCDB"/>
                </a:solidFill>
                <a:latin typeface="Calibri"/>
              </a:rPr>
              <a:t>Primary lock detector (RmStartSession, RmRegisterResources, RmGetList, RmEndSession). Installer-oriented API, not a universal handle enumerator; psutil enriches exe paths only.</a:t>
            </a:r>
          </a:p>
        </p:txBody>
      </p:sp>
      <p:sp>
        <p:nvSpPr>
          <p:cNvPr id="21" name="Rounded Rectangle 20"/>
          <p:cNvSpPr/>
          <p:nvPr/>
        </p:nvSpPr>
        <p:spPr>
          <a:xfrm>
            <a:off x="502920" y="2075688"/>
            <a:ext cx="11183112" cy="859536"/>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2203704"/>
            <a:ext cx="128016" cy="128016"/>
          </a:xfrm>
          <a:prstGeom prst="ellipse">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2148840"/>
            <a:ext cx="1600200" cy="402336"/>
          </a:xfrm>
          <a:prstGeom prst="rect">
            <a:avLst/>
          </a:prstGeom>
          <a:noFill/>
        </p:spPr>
        <p:txBody>
          <a:bodyPr wrap="square" anchor="t" lIns="0" rIns="0" tIns="0" bIns="0">
            <a:spAutoFit/>
          </a:bodyPr>
          <a:lstStyle/>
          <a:p>
            <a:pPr algn="l"/>
            <a:r>
              <a:rPr sz="1100" b="1" i="0">
                <a:solidFill>
                  <a:srgbClr val="FFFFFF"/>
                </a:solidFill>
                <a:latin typeface="Calibri"/>
              </a:rPr>
              <a:t>PERMISSIONS &amp;
OWNERSHIP</a:t>
            </a:r>
          </a:p>
        </p:txBody>
      </p:sp>
      <p:sp>
        <p:nvSpPr>
          <p:cNvPr id="24" name="TextBox 23"/>
          <p:cNvSpPr txBox="1"/>
          <p:nvPr/>
        </p:nvSpPr>
        <p:spPr>
          <a:xfrm>
            <a:off x="859536" y="2587752"/>
            <a:ext cx="1600200" cy="256032"/>
          </a:xfrm>
          <a:prstGeom prst="rect">
            <a:avLst/>
          </a:prstGeom>
          <a:noFill/>
        </p:spPr>
        <p:txBody>
          <a:bodyPr wrap="square" anchor="t" lIns="0" rIns="0" tIns="0" bIns="0">
            <a:spAutoFit/>
          </a:bodyPr>
          <a:lstStyle/>
          <a:p>
            <a:pPr algn="l"/>
            <a:r>
              <a:rPr sz="1000" b="1" i="0">
                <a:solidFill>
                  <a:srgbClr val="4F8EF7"/>
                </a:solidFill>
                <a:latin typeface="Courier New"/>
              </a:rPr>
              <a:t>permissions.py</a:t>
            </a:r>
          </a:p>
        </p:txBody>
      </p:sp>
      <p:sp>
        <p:nvSpPr>
          <p:cNvPr id="25" name="Rounded Rectangle 24"/>
          <p:cNvSpPr/>
          <p:nvPr/>
        </p:nvSpPr>
        <p:spPr>
          <a:xfrm>
            <a:off x="2487168" y="218541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42032" y="224028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os.access()</a:t>
            </a:r>
          </a:p>
          <a:p>
            <a:pPr algn="ctr"/>
            <a:r>
              <a:rPr sz="1000" b="0" i="0">
                <a:solidFill>
                  <a:srgbClr val="A9BCDB"/>
                </a:solidFill>
                <a:latin typeface="Calibri"/>
              </a:rPr>
              <a:t>R_OK / W_OK / X_OK</a:t>
            </a:r>
          </a:p>
        </p:txBody>
      </p:sp>
      <p:sp>
        <p:nvSpPr>
          <p:cNvPr id="27" name="Right Arrow 26"/>
          <p:cNvSpPr/>
          <p:nvPr/>
        </p:nvSpPr>
        <p:spPr>
          <a:xfrm>
            <a:off x="3694176" y="244144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40480" y="218541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5344" y="224028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advapi32.dll</a:t>
            </a:r>
          </a:p>
          <a:p>
            <a:pPr algn="ctr"/>
            <a:r>
              <a:rPr sz="750" b="0" i="0">
                <a:solidFill>
                  <a:srgbClr val="A9BCDB"/>
                </a:solidFill>
                <a:latin typeface="Calibri"/>
              </a:rPr>
              <a:t>GetNamedSecurityInfoW</a:t>
            </a:r>
          </a:p>
        </p:txBody>
      </p:sp>
      <p:sp>
        <p:nvSpPr>
          <p:cNvPr id="30" name="Right Arrow 29"/>
          <p:cNvSpPr/>
          <p:nvPr/>
        </p:nvSpPr>
        <p:spPr>
          <a:xfrm>
            <a:off x="5047488" y="244144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193792" y="218541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48655" y="2240280"/>
            <a:ext cx="1078992" cy="493776"/>
          </a:xfrm>
          <a:prstGeom prst="rect">
            <a:avLst/>
          </a:prstGeom>
          <a:noFill/>
        </p:spPr>
        <p:txBody>
          <a:bodyPr wrap="square" anchor="t" lIns="0" rIns="0" tIns="0" bIns="0">
            <a:spAutoFit/>
          </a:bodyPr>
          <a:lstStyle/>
          <a:p>
            <a:pPr algn="ctr">
              <a:spcAft>
                <a:spcPts val="200"/>
              </a:spcAft>
            </a:pPr>
            <a:r>
              <a:rPr sz="850" b="1" i="0">
                <a:solidFill>
                  <a:srgbClr val="FFFFFF"/>
                </a:solidFill>
                <a:latin typeface="Calibri"/>
              </a:rPr>
              <a:t>LookupAccountSidW</a:t>
            </a:r>
          </a:p>
          <a:p>
            <a:pPr algn="ctr"/>
            <a:r>
              <a:rPr sz="1000" b="0" i="0">
                <a:solidFill>
                  <a:srgbClr val="A9BCDB"/>
                </a:solidFill>
                <a:latin typeface="Calibri"/>
              </a:rPr>
              <a:t>SID to DOMAIN\User</a:t>
            </a:r>
          </a:p>
        </p:txBody>
      </p:sp>
      <p:sp>
        <p:nvSpPr>
          <p:cNvPr id="33" name="Right Arrow 32"/>
          <p:cNvSpPr/>
          <p:nvPr/>
        </p:nvSpPr>
        <p:spPr>
          <a:xfrm>
            <a:off x="6400800" y="244144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47104" y="218541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1968" y="224028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LocalFree()</a:t>
            </a:r>
          </a:p>
          <a:p>
            <a:pPr algn="ctr"/>
            <a:r>
              <a:rPr sz="1000" b="0" i="0">
                <a:solidFill>
                  <a:srgbClr val="A9BCDB"/>
                </a:solidFill>
                <a:latin typeface="Calibri"/>
              </a:rPr>
              <a:t>Frees SD buffer</a:t>
            </a:r>
          </a:p>
        </p:txBody>
      </p:sp>
      <p:sp>
        <p:nvSpPr>
          <p:cNvPr id="36" name="Rounded Rectangle 35"/>
          <p:cNvSpPr/>
          <p:nvPr/>
        </p:nvSpPr>
        <p:spPr>
          <a:xfrm>
            <a:off x="7918704" y="2167128"/>
            <a:ext cx="3639312" cy="676656"/>
          </a:xfrm>
          <a:prstGeom prst="roundRect">
            <a:avLst>
              <a:gd name="adj" fmla="val 6000"/>
            </a:avLst>
          </a:prstGeom>
          <a:solidFill>
            <a:srgbClr val="0C1A3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28431" y="2203704"/>
            <a:ext cx="3419856" cy="603504"/>
          </a:xfrm>
          <a:prstGeom prst="rect">
            <a:avLst/>
          </a:prstGeom>
          <a:noFill/>
        </p:spPr>
        <p:txBody>
          <a:bodyPr wrap="square" anchor="t" lIns="0" rIns="0" tIns="0" bIns="0">
            <a:spAutoFit/>
          </a:bodyPr>
          <a:lstStyle/>
          <a:p>
            <a:pPr algn="l"/>
            <a:r>
              <a:rPr sz="1000" b="0" i="0">
                <a:solidFill>
                  <a:srgbClr val="A9BCDB"/>
                </a:solidFill>
                <a:latin typeface="Calibri"/>
              </a:rPr>
              <a:t>Preliminary access &amp; ownership evidence (DELETE approximated via W_OK). Requests OWNER_SECURITY_INFORMATION only; full NTFS DACL is not evaluated.</a:t>
            </a:r>
          </a:p>
        </p:txBody>
      </p:sp>
      <p:sp>
        <p:nvSpPr>
          <p:cNvPr id="38" name="Rounded Rectangle 37"/>
          <p:cNvSpPr/>
          <p:nvPr/>
        </p:nvSpPr>
        <p:spPr>
          <a:xfrm>
            <a:off x="502920" y="3035808"/>
            <a:ext cx="11183112" cy="859536"/>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67512" y="3163824"/>
            <a:ext cx="128016" cy="128016"/>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9536" y="3108960"/>
            <a:ext cx="1600200" cy="402336"/>
          </a:xfrm>
          <a:prstGeom prst="rect">
            <a:avLst/>
          </a:prstGeom>
          <a:noFill/>
        </p:spPr>
        <p:txBody>
          <a:bodyPr wrap="square" anchor="t" lIns="0" rIns="0" tIns="0" bIns="0">
            <a:spAutoFit/>
          </a:bodyPr>
          <a:lstStyle/>
          <a:p>
            <a:pPr algn="l"/>
            <a:r>
              <a:rPr sz="1100" b="1" i="0">
                <a:solidFill>
                  <a:srgbClr val="FFFFFF"/>
                </a:solidFill>
                <a:latin typeface="Calibri"/>
              </a:rPr>
              <a:t>FILE ATTRIBUTES</a:t>
            </a:r>
          </a:p>
        </p:txBody>
      </p:sp>
      <p:sp>
        <p:nvSpPr>
          <p:cNvPr id="41" name="TextBox 40"/>
          <p:cNvSpPr txBox="1"/>
          <p:nvPr/>
        </p:nvSpPr>
        <p:spPr>
          <a:xfrm>
            <a:off x="859536" y="3547872"/>
            <a:ext cx="1600200" cy="256032"/>
          </a:xfrm>
          <a:prstGeom prst="rect">
            <a:avLst/>
          </a:prstGeom>
          <a:noFill/>
        </p:spPr>
        <p:txBody>
          <a:bodyPr wrap="square" anchor="t" lIns="0" rIns="0" tIns="0" bIns="0">
            <a:spAutoFit/>
          </a:bodyPr>
          <a:lstStyle/>
          <a:p>
            <a:pPr algn="l"/>
            <a:r>
              <a:rPr sz="1000" b="1" i="0">
                <a:solidFill>
                  <a:srgbClr val="F5A524"/>
                </a:solidFill>
                <a:latin typeface="Courier New"/>
              </a:rPr>
              <a:t>file_attributes.py</a:t>
            </a:r>
          </a:p>
        </p:txBody>
      </p:sp>
      <p:sp>
        <p:nvSpPr>
          <p:cNvPr id="42" name="Rounded Rectangle 41"/>
          <p:cNvSpPr/>
          <p:nvPr/>
        </p:nvSpPr>
        <p:spPr>
          <a:xfrm>
            <a:off x="2487168" y="314553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42032" y="320040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os.stat(path)</a:t>
            </a:r>
          </a:p>
          <a:p>
            <a:pPr algn="ctr"/>
            <a:r>
              <a:rPr sz="1000" b="0" i="0">
                <a:solidFill>
                  <a:srgbClr val="A9BCDB"/>
                </a:solidFill>
                <a:latin typeface="Calibri"/>
              </a:rPr>
              <a:t>st_file_attributes</a:t>
            </a:r>
          </a:p>
        </p:txBody>
      </p:sp>
      <p:sp>
        <p:nvSpPr>
          <p:cNvPr id="44" name="Right Arrow 43"/>
          <p:cNvSpPr/>
          <p:nvPr/>
        </p:nvSpPr>
        <p:spPr>
          <a:xfrm>
            <a:off x="3694176" y="340156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3840480" y="314553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95344" y="320040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kernel32.dll</a:t>
            </a:r>
          </a:p>
          <a:p>
            <a:pPr algn="ctr"/>
            <a:r>
              <a:rPr sz="1000" b="0" i="0">
                <a:solidFill>
                  <a:srgbClr val="A9BCDB"/>
                </a:solidFill>
                <a:latin typeface="Calibri"/>
              </a:rPr>
              <a:t>GetFileAttributesW</a:t>
            </a:r>
          </a:p>
        </p:txBody>
      </p:sp>
      <p:sp>
        <p:nvSpPr>
          <p:cNvPr id="47" name="Right Arrow 46"/>
          <p:cNvSpPr/>
          <p:nvPr/>
        </p:nvSpPr>
        <p:spPr>
          <a:xfrm>
            <a:off x="5047488" y="340156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193792" y="314553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48655" y="320040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6-Flag Decoder</a:t>
            </a:r>
          </a:p>
          <a:p>
            <a:pPr algn="ctr"/>
            <a:r>
              <a:rPr sz="1000" b="0" i="0">
                <a:solidFill>
                  <a:srgbClr val="A9BCDB"/>
                </a:solidFill>
                <a:latin typeface="Calibri"/>
              </a:rPr>
              <a:t>RO · HID · SYS · ARC</a:t>
            </a:r>
          </a:p>
        </p:txBody>
      </p:sp>
      <p:sp>
        <p:nvSpPr>
          <p:cNvPr id="50" name="Right Arrow 49"/>
          <p:cNvSpPr/>
          <p:nvPr/>
        </p:nvSpPr>
        <p:spPr>
          <a:xfrm>
            <a:off x="6400800" y="340156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547104" y="314553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01968" y="320040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Sync Bits</a:t>
            </a:r>
          </a:p>
          <a:p>
            <a:pPr algn="ctr"/>
            <a:r>
              <a:rPr sz="1000" b="0" i="0">
                <a:solidFill>
                  <a:srgbClr val="A9BCDB"/>
                </a:solidFill>
                <a:latin typeface="Calibri"/>
              </a:rPr>
              <a:t>REPARSE · OFFLINE</a:t>
            </a:r>
          </a:p>
        </p:txBody>
      </p:sp>
      <p:sp>
        <p:nvSpPr>
          <p:cNvPr id="53" name="Rounded Rectangle 52"/>
          <p:cNvSpPr/>
          <p:nvPr/>
        </p:nvSpPr>
        <p:spPr>
          <a:xfrm>
            <a:off x="7918704" y="3127248"/>
            <a:ext cx="3639312" cy="676656"/>
          </a:xfrm>
          <a:prstGeom prst="roundRect">
            <a:avLst>
              <a:gd name="adj" fmla="val 6000"/>
            </a:avLst>
          </a:prstGeom>
          <a:solidFill>
            <a:srgbClr val="0C1A3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28431" y="3163824"/>
            <a:ext cx="3419856" cy="603504"/>
          </a:xfrm>
          <a:prstGeom prst="rect">
            <a:avLst/>
          </a:prstGeom>
          <a:noFill/>
        </p:spPr>
        <p:txBody>
          <a:bodyPr wrap="square" anchor="t" lIns="0" rIns="0" tIns="0" bIns="0">
            <a:spAutoFit/>
          </a:bodyPr>
          <a:lstStyle/>
          <a:p>
            <a:pPr algn="l"/>
            <a:r>
              <a:rPr sz="1000" b="0" i="0">
                <a:solidFill>
                  <a:srgbClr val="A9BCDB"/>
                </a:solidFill>
                <a:latin typeface="Calibri"/>
              </a:rPr>
              <a:t>Reads os.stat().st_file_attributes (with GetFileAttributesW fallback) to decode 6 Win32 flags and raw bitmask (0xNNNN) read-only.</a:t>
            </a:r>
          </a:p>
        </p:txBody>
      </p:sp>
      <p:sp>
        <p:nvSpPr>
          <p:cNvPr id="55" name="Rounded Rectangle 54"/>
          <p:cNvSpPr/>
          <p:nvPr/>
        </p:nvSpPr>
        <p:spPr>
          <a:xfrm>
            <a:off x="502920" y="3995928"/>
            <a:ext cx="11183112" cy="859536"/>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67512" y="4123944"/>
            <a:ext cx="128016" cy="12801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9536" y="4069080"/>
            <a:ext cx="1600200" cy="402336"/>
          </a:xfrm>
          <a:prstGeom prst="rect">
            <a:avLst/>
          </a:prstGeom>
          <a:noFill/>
        </p:spPr>
        <p:txBody>
          <a:bodyPr wrap="square" anchor="t" lIns="0" rIns="0" tIns="0" bIns="0">
            <a:spAutoFit/>
          </a:bodyPr>
          <a:lstStyle/>
          <a:p>
            <a:pPr algn="l"/>
            <a:r>
              <a:rPr sz="1100" b="1" i="0">
                <a:solidFill>
                  <a:srgbClr val="FFFFFF"/>
                </a:solidFill>
                <a:latin typeface="Calibri"/>
              </a:rPr>
              <a:t>CLOUD SYNC &amp;
DISCOVERY</a:t>
            </a:r>
          </a:p>
        </p:txBody>
      </p:sp>
      <p:sp>
        <p:nvSpPr>
          <p:cNvPr id="58" name="TextBox 57"/>
          <p:cNvSpPr txBox="1"/>
          <p:nvPr/>
        </p:nvSpPr>
        <p:spPr>
          <a:xfrm>
            <a:off x="859536" y="4507992"/>
            <a:ext cx="1600200" cy="256032"/>
          </a:xfrm>
          <a:prstGeom prst="rect">
            <a:avLst/>
          </a:prstGeom>
          <a:noFill/>
        </p:spPr>
        <p:txBody>
          <a:bodyPr wrap="square" anchor="t" lIns="0" rIns="0" tIns="0" bIns="0">
            <a:spAutoFit/>
          </a:bodyPr>
          <a:lstStyle/>
          <a:p>
            <a:pPr algn="l"/>
            <a:r>
              <a:rPr sz="1000" b="1" i="0">
                <a:solidFill>
                  <a:srgbClr val="2DD4A7"/>
                </a:solidFill>
                <a:latin typeface="Courier New"/>
              </a:rPr>
              <a:t>sync_conflict.py</a:t>
            </a:r>
          </a:p>
        </p:txBody>
      </p:sp>
      <p:sp>
        <p:nvSpPr>
          <p:cNvPr id="59" name="Rounded Rectangle 58"/>
          <p:cNvSpPr/>
          <p:nvPr/>
        </p:nvSpPr>
        <p:spPr>
          <a:xfrm>
            <a:off x="2487168" y="410565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542032" y="416052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Env + winreg</a:t>
            </a:r>
          </a:p>
          <a:p>
            <a:pPr algn="ctr"/>
            <a:r>
              <a:rPr sz="1000" b="0" i="0">
                <a:solidFill>
                  <a:srgbClr val="A9BCDB"/>
                </a:solidFill>
                <a:latin typeface="Calibri"/>
              </a:rPr>
              <a:t>OneDrive &amp; DriveFS</a:t>
            </a:r>
          </a:p>
        </p:txBody>
      </p:sp>
      <p:sp>
        <p:nvSpPr>
          <p:cNvPr id="61" name="Right Arrow 60"/>
          <p:cNvSpPr/>
          <p:nvPr/>
        </p:nvSpPr>
        <p:spPr>
          <a:xfrm>
            <a:off x="3694176" y="436168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3840480" y="410565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95344" y="4160520"/>
            <a:ext cx="1078992" cy="493776"/>
          </a:xfrm>
          <a:prstGeom prst="rect">
            <a:avLst/>
          </a:prstGeom>
          <a:noFill/>
        </p:spPr>
        <p:txBody>
          <a:bodyPr wrap="square" anchor="t" lIns="0" rIns="0" tIns="0" bIns="0">
            <a:spAutoFit/>
          </a:bodyPr>
          <a:lstStyle/>
          <a:p>
            <a:pPr algn="ctr">
              <a:spcAft>
                <a:spcPts val="200"/>
              </a:spcAft>
            </a:pPr>
            <a:r>
              <a:rPr sz="750" b="1" i="0">
                <a:solidFill>
                  <a:srgbClr val="FFFFFF"/>
                </a:solidFill>
                <a:latin typeface="Calibri"/>
              </a:rPr>
              <a:t>GetVolumeInformationW</a:t>
            </a:r>
          </a:p>
          <a:p>
            <a:pPr algn="ctr"/>
            <a:r>
              <a:rPr sz="1000" b="0" i="0">
                <a:solidFill>
                  <a:srgbClr val="A9BCDB"/>
                </a:solidFill>
                <a:latin typeface="Calibri"/>
              </a:rPr>
              <a:t>DriveFS mounts</a:t>
            </a:r>
          </a:p>
        </p:txBody>
      </p:sp>
      <p:sp>
        <p:nvSpPr>
          <p:cNvPr id="64" name="Right Arrow 63"/>
          <p:cNvSpPr/>
          <p:nvPr/>
        </p:nvSpPr>
        <p:spPr>
          <a:xfrm>
            <a:off x="5047488" y="436168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193792" y="410565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248655" y="416052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process_iter()</a:t>
            </a:r>
          </a:p>
          <a:p>
            <a:pPr algn="ctr"/>
            <a:r>
              <a:rPr sz="1000" b="0" i="0">
                <a:solidFill>
                  <a:srgbClr val="A9BCDB"/>
                </a:solidFill>
                <a:latin typeface="Calibri"/>
              </a:rPr>
              <a:t>Finds sync daemons</a:t>
            </a:r>
          </a:p>
        </p:txBody>
      </p:sp>
      <p:sp>
        <p:nvSpPr>
          <p:cNvPr id="67" name="Right Arrow 66"/>
          <p:cNvSpPr/>
          <p:nvPr/>
        </p:nvSpPr>
        <p:spPr>
          <a:xfrm>
            <a:off x="6400800" y="436168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6547104" y="410565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01968" y="416052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Sync Lock Link</a:t>
            </a:r>
          </a:p>
          <a:p>
            <a:pPr algn="ctr"/>
            <a:r>
              <a:rPr sz="1000" b="0" i="0">
                <a:solidFill>
                  <a:srgbClr val="A9BCDB"/>
                </a:solidFill>
                <a:latin typeface="Calibri"/>
              </a:rPr>
              <a:t>Matches RM PID</a:t>
            </a:r>
          </a:p>
        </p:txBody>
      </p:sp>
      <p:sp>
        <p:nvSpPr>
          <p:cNvPr id="70" name="Rounded Rectangle 69"/>
          <p:cNvSpPr/>
          <p:nvPr/>
        </p:nvSpPr>
        <p:spPr>
          <a:xfrm>
            <a:off x="7918704" y="4087368"/>
            <a:ext cx="3639312" cy="676656"/>
          </a:xfrm>
          <a:prstGeom prst="roundRect">
            <a:avLst>
              <a:gd name="adj" fmla="val 6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028431" y="4123944"/>
            <a:ext cx="3419856" cy="603504"/>
          </a:xfrm>
          <a:prstGeom prst="rect">
            <a:avLst/>
          </a:prstGeom>
          <a:noFill/>
        </p:spPr>
        <p:txBody>
          <a:bodyPr wrap="square" anchor="t" lIns="0" rIns="0" tIns="0" bIns="0">
            <a:spAutoFit/>
          </a:bodyPr>
          <a:lstStyle/>
          <a:p>
            <a:pPr algn="l"/>
            <a:r>
              <a:rPr sz="1000" b="0" i="0">
                <a:solidFill>
                  <a:srgbClr val="A9BCDB"/>
                </a:solidFill>
                <a:latin typeface="Calibri"/>
              </a:rPr>
              <a:t>Bounded to local OneDrive &amp; Google Drive configuration. psutil discovers running daemons &amp; drive mounts; correlate_sync_lock() links RM locks.</a:t>
            </a:r>
          </a:p>
        </p:txBody>
      </p:sp>
      <p:sp>
        <p:nvSpPr>
          <p:cNvPr id="72" name="Rounded Rectangle 71"/>
          <p:cNvSpPr/>
          <p:nvPr/>
        </p:nvSpPr>
        <p:spPr>
          <a:xfrm>
            <a:off x="502920" y="4956048"/>
            <a:ext cx="11183112" cy="859536"/>
          </a:xfrm>
          <a:prstGeom prst="roundRect">
            <a:avLst>
              <a:gd name="adj" fmla="val 5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67512" y="5084064"/>
            <a:ext cx="128016" cy="128016"/>
          </a:xfrm>
          <a:prstGeom prst="ellipse">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59536" y="5029200"/>
            <a:ext cx="1600200" cy="402336"/>
          </a:xfrm>
          <a:prstGeom prst="rect">
            <a:avLst/>
          </a:prstGeom>
          <a:noFill/>
        </p:spPr>
        <p:txBody>
          <a:bodyPr wrap="square" anchor="t" lIns="0" rIns="0" tIns="0" bIns="0">
            <a:spAutoFit/>
          </a:bodyPr>
          <a:lstStyle/>
          <a:p>
            <a:pPr algn="l"/>
            <a:r>
              <a:rPr sz="1100" b="1" i="0">
                <a:solidFill>
                  <a:srgbClr val="FFFFFF"/>
                </a:solidFill>
                <a:latin typeface="Calibri"/>
              </a:rPr>
              <a:t>PRESENTATION
LAYER (GUI)</a:t>
            </a:r>
          </a:p>
        </p:txBody>
      </p:sp>
      <p:sp>
        <p:nvSpPr>
          <p:cNvPr id="75" name="TextBox 74"/>
          <p:cNvSpPr txBox="1"/>
          <p:nvPr/>
        </p:nvSpPr>
        <p:spPr>
          <a:xfrm>
            <a:off x="859536" y="5468112"/>
            <a:ext cx="1600200" cy="256032"/>
          </a:xfrm>
          <a:prstGeom prst="rect">
            <a:avLst/>
          </a:prstGeom>
          <a:noFill/>
        </p:spPr>
        <p:txBody>
          <a:bodyPr wrap="square" anchor="t" lIns="0" rIns="0" tIns="0" bIns="0">
            <a:spAutoFit/>
          </a:bodyPr>
          <a:lstStyle/>
          <a:p>
            <a:pPr algn="l"/>
            <a:r>
              <a:rPr sz="1000" b="1" i="0">
                <a:solidFill>
                  <a:srgbClr val="4F8EF7"/>
                </a:solidFill>
                <a:latin typeface="Courier New"/>
              </a:rPr>
              <a:t>gui/main_window.py</a:t>
            </a:r>
          </a:p>
        </p:txBody>
      </p:sp>
      <p:sp>
        <p:nvSpPr>
          <p:cNvPr id="76" name="Rounded Rectangle 75"/>
          <p:cNvSpPr/>
          <p:nvPr/>
        </p:nvSpPr>
        <p:spPr>
          <a:xfrm>
            <a:off x="2487168" y="506577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542032" y="512064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tkinter + ttk</a:t>
            </a:r>
          </a:p>
          <a:p>
            <a:pPr algn="ctr"/>
            <a:r>
              <a:rPr sz="1000" b="0" i="0">
                <a:solidFill>
                  <a:srgbClr val="A9BCDB"/>
                </a:solidFill>
                <a:latin typeface="Calibri"/>
              </a:rPr>
              <a:t>Dark-themed GUI</a:t>
            </a:r>
          </a:p>
        </p:txBody>
      </p:sp>
      <p:sp>
        <p:nvSpPr>
          <p:cNvPr id="78" name="Right Arrow 77"/>
          <p:cNvSpPr/>
          <p:nvPr/>
        </p:nvSpPr>
        <p:spPr>
          <a:xfrm>
            <a:off x="3694176" y="532180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3840480" y="506577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895344" y="512064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_reset_panels</a:t>
            </a:r>
          </a:p>
          <a:p>
            <a:pPr algn="ctr"/>
            <a:r>
              <a:rPr sz="1000" b="0" i="0">
                <a:solidFill>
                  <a:srgbClr val="A9BCDB"/>
                </a:solidFill>
                <a:latin typeface="Calibri"/>
              </a:rPr>
              <a:t>Clears stale state</a:t>
            </a:r>
          </a:p>
        </p:txBody>
      </p:sp>
      <p:sp>
        <p:nvSpPr>
          <p:cNvPr id="81" name="Right Arrow 80"/>
          <p:cNvSpPr/>
          <p:nvPr/>
        </p:nvSpPr>
        <p:spPr>
          <a:xfrm>
            <a:off x="5047488" y="532180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5193792" y="506577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248655" y="512064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Engine Call</a:t>
            </a:r>
          </a:p>
          <a:p>
            <a:pPr algn="ctr"/>
            <a:r>
              <a:rPr sz="1000" b="0" i="0">
                <a:solidFill>
                  <a:srgbClr val="A9BCDB"/>
                </a:solidFill>
                <a:latin typeface="Calibri"/>
              </a:rPr>
              <a:t>DiagnosisResult</a:t>
            </a:r>
          </a:p>
        </p:txBody>
      </p:sp>
      <p:sp>
        <p:nvSpPr>
          <p:cNvPr id="84" name="Right Arrow 83"/>
          <p:cNvSpPr/>
          <p:nvPr/>
        </p:nvSpPr>
        <p:spPr>
          <a:xfrm>
            <a:off x="6400800" y="5321808"/>
            <a:ext cx="128016" cy="128016"/>
          </a:xfrm>
          <a:prstGeom prst="rightArrow">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6547104" y="5065776"/>
            <a:ext cx="1188720" cy="640080"/>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601968" y="5120640"/>
            <a:ext cx="1078992" cy="493776"/>
          </a:xfrm>
          <a:prstGeom prst="rect">
            <a:avLst/>
          </a:prstGeom>
          <a:noFill/>
        </p:spPr>
        <p:txBody>
          <a:bodyPr wrap="square" anchor="t" lIns="0" rIns="0" tIns="0" bIns="0">
            <a:spAutoFit/>
          </a:bodyPr>
          <a:lstStyle/>
          <a:p>
            <a:pPr algn="ctr">
              <a:spcAft>
                <a:spcPts val="200"/>
              </a:spcAft>
            </a:pPr>
            <a:r>
              <a:rPr sz="1050" b="1" i="0">
                <a:solidFill>
                  <a:srgbClr val="FFFFFF"/>
                </a:solidFill>
                <a:latin typeface="Calibri"/>
              </a:rPr>
              <a:t>6 GUI Panels</a:t>
            </a:r>
          </a:p>
          <a:p>
            <a:pPr algn="ctr"/>
            <a:r>
              <a:rPr sz="1000" b="0" i="0">
                <a:solidFill>
                  <a:srgbClr val="A9BCDB"/>
                </a:solidFill>
                <a:latin typeface="Calibri"/>
              </a:rPr>
              <a:t>Status to Advice</a:t>
            </a:r>
          </a:p>
        </p:txBody>
      </p:sp>
      <p:sp>
        <p:nvSpPr>
          <p:cNvPr id="87" name="Rounded Rectangle 86"/>
          <p:cNvSpPr/>
          <p:nvPr/>
        </p:nvSpPr>
        <p:spPr>
          <a:xfrm>
            <a:off x="7918704" y="5047488"/>
            <a:ext cx="3639312" cy="676656"/>
          </a:xfrm>
          <a:prstGeom prst="roundRect">
            <a:avLst>
              <a:gd name="adj" fmla="val 6000"/>
            </a:avLst>
          </a:prstGeom>
          <a:solidFill>
            <a:srgbClr val="0C1A3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028431" y="5084064"/>
            <a:ext cx="3419856" cy="603504"/>
          </a:xfrm>
          <a:prstGeom prst="rect">
            <a:avLst/>
          </a:prstGeom>
          <a:noFill/>
        </p:spPr>
        <p:txBody>
          <a:bodyPr wrap="square" anchor="t" lIns="0" rIns="0" tIns="0" bIns="0">
            <a:spAutoFit/>
          </a:bodyPr>
          <a:lstStyle/>
          <a:p>
            <a:pPr algn="l"/>
            <a:r>
              <a:rPr sz="1000" b="0" i="0">
                <a:solidFill>
                  <a:srgbClr val="A9BCDB"/>
                </a:solidFill>
                <a:latin typeface="Calibri"/>
              </a:rPr>
              <a:t>100% local user-mode desktop application (~3,700 lines across src/diagnoser/). Never issues raw kernel syscalls, modifies files, or contacts cloud APIs.</a:t>
            </a:r>
          </a:p>
        </p:txBody>
      </p:sp>
      <p:sp>
        <p:nvSpPr>
          <p:cNvPr id="89" name="Rounded Rectangle 88"/>
          <p:cNvSpPr/>
          <p:nvPr/>
        </p:nvSpPr>
        <p:spPr>
          <a:xfrm>
            <a:off x="502920" y="5998464"/>
            <a:ext cx="11183112" cy="438912"/>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85800" y="6071616"/>
            <a:ext cx="10817352" cy="292608"/>
          </a:xfrm>
          <a:prstGeom prst="rect">
            <a:avLst/>
          </a:prstGeom>
          <a:noFill/>
        </p:spPr>
        <p:txBody>
          <a:bodyPr wrap="square" anchor="t" lIns="0" rIns="0" tIns="0" bIns="0">
            <a:spAutoFit/>
          </a:bodyPr>
          <a:lstStyle/>
          <a:p>
            <a:pPr algn="ctr"/>
            <a:r>
              <a:rPr sz="1000" b="0" i="1">
                <a:solidFill>
                  <a:srgbClr val="6E86AE"/>
                </a:solidFill>
                <a:latin typeface="Calibri"/>
              </a:rPr>
              <a:t>Official Documentation Cited in Report: Microsoft Learn (Restart Manager [9–12, 24–25], GetNamedSecurityInfoW / DACLs [13–14, 26], File Attributes &amp; Volumes [17–18, 27]) · Python 3.13 Stdlib [15–16, 19, 21–22] · psutil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7  •  FINAL DESKTOP APPLICATION</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Tkinter Desktop Interface and Six Principal Result Panels</a:t>
            </a:r>
          </a:p>
        </p:txBody>
      </p:sp>
      <p:sp>
        <p:nvSpPr>
          <p:cNvPr id="4" name="Rounded Rectangle 3"/>
          <p:cNvSpPr/>
          <p:nvPr/>
        </p:nvSpPr>
        <p:spPr>
          <a:xfrm>
            <a:off x="502920" y="1133856"/>
            <a:ext cx="6720840" cy="5266944"/>
          </a:xfrm>
          <a:prstGeom prst="roundRect">
            <a:avLst>
              <a:gd name="adj" fmla="val 3000"/>
            </a:avLst>
          </a:prstGeom>
          <a:solidFill>
            <a:srgbClr val="16294A"/>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43584"/>
            <a:ext cx="6355080" cy="256032"/>
          </a:xfrm>
          <a:prstGeom prst="rect">
            <a:avLst/>
          </a:prstGeom>
          <a:noFill/>
        </p:spPr>
        <p:txBody>
          <a:bodyPr wrap="square" anchor="t" lIns="0" rIns="0" tIns="0" bIns="0">
            <a:spAutoFit/>
          </a:bodyPr>
          <a:lstStyle/>
          <a:p>
            <a:pPr algn="l"/>
            <a:r>
              <a:rPr sz="1100" b="1" i="0">
                <a:solidFill>
                  <a:srgbClr val="4F8EF7"/>
                </a:solidFill>
                <a:latin typeface="Calibri"/>
              </a:rPr>
              <a:t>GENUINE PAIRED VIEWPORT CAPTURES — SCENARIO 01b (NORMAL FILE · WRITE)</a:t>
            </a:r>
          </a:p>
        </p:txBody>
      </p:sp>
      <p:pic>
        <p:nvPicPr>
          <p:cNvPr id="6" name="Picture 5" descr="01b_normal_file_write_top.png"/>
          <p:cNvPicPr>
            <a:picLocks noChangeAspect="1"/>
          </p:cNvPicPr>
          <p:nvPr/>
        </p:nvPicPr>
        <p:blipFill>
          <a:blip r:embed="rId3"/>
          <a:stretch>
            <a:fillRect/>
          </a:stretch>
        </p:blipFill>
        <p:spPr>
          <a:xfrm>
            <a:off x="685800" y="1554480"/>
            <a:ext cx="3072384" cy="2885284"/>
          </a:xfrm>
          <a:prstGeom prst="rect">
            <a:avLst/>
          </a:prstGeom>
          <a:ln>
            <a:noFill/>
          </a:ln>
        </p:spPr>
      </p:pic>
      <p:pic>
        <p:nvPicPr>
          <p:cNvPr id="7" name="Picture 6" descr="01b_normal_file_write_bottom.png"/>
          <p:cNvPicPr>
            <a:picLocks noChangeAspect="1"/>
          </p:cNvPicPr>
          <p:nvPr/>
        </p:nvPicPr>
        <p:blipFill>
          <a:blip r:embed="rId4"/>
          <a:stretch>
            <a:fillRect/>
          </a:stretch>
        </p:blipFill>
        <p:spPr>
          <a:xfrm>
            <a:off x="3950208" y="1554480"/>
            <a:ext cx="3072384" cy="2885284"/>
          </a:xfrm>
          <a:prstGeom prst="rect">
            <a:avLst/>
          </a:prstGeom>
          <a:ln>
            <a:noFill/>
          </a:ln>
        </p:spPr>
      </p:pic>
      <p:sp>
        <p:nvSpPr>
          <p:cNvPr id="8" name="Rounded Rectangle 7"/>
          <p:cNvSpPr/>
          <p:nvPr/>
        </p:nvSpPr>
        <p:spPr>
          <a:xfrm>
            <a:off x="685800" y="4512915"/>
            <a:ext cx="3072384" cy="512064"/>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586067"/>
            <a:ext cx="2889503" cy="365760"/>
          </a:xfrm>
          <a:prstGeom prst="rect">
            <a:avLst/>
          </a:prstGeom>
          <a:noFill/>
        </p:spPr>
        <p:txBody>
          <a:bodyPr wrap="square" anchor="t" lIns="0" rIns="0" tIns="0" bIns="0">
            <a:spAutoFit/>
          </a:bodyPr>
          <a:lstStyle/>
          <a:p>
            <a:pPr algn="ctr"/>
            <a:r>
              <a:rPr sz="1050" b="1" i="0">
                <a:solidFill>
                  <a:srgbClr val="2DD4A7"/>
                </a:solidFill>
                <a:latin typeface="Calibri"/>
              </a:rPr>
              <a:t>Scenario 01b (Top Viewport · Scroll 0.0)
Op: WRITE · Actual: OPERATION_ALLOWED</a:t>
            </a:r>
          </a:p>
        </p:txBody>
      </p:sp>
      <p:sp>
        <p:nvSpPr>
          <p:cNvPr id="10" name="Rounded Rectangle 9"/>
          <p:cNvSpPr/>
          <p:nvPr/>
        </p:nvSpPr>
        <p:spPr>
          <a:xfrm>
            <a:off x="3950208" y="4512915"/>
            <a:ext cx="3072384" cy="512064"/>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41648" y="4586067"/>
            <a:ext cx="2889503" cy="365760"/>
          </a:xfrm>
          <a:prstGeom prst="rect">
            <a:avLst/>
          </a:prstGeom>
          <a:noFill/>
        </p:spPr>
        <p:txBody>
          <a:bodyPr wrap="square" anchor="t" lIns="0" rIns="0" tIns="0" bIns="0">
            <a:spAutoFit/>
          </a:bodyPr>
          <a:lstStyle/>
          <a:p>
            <a:pPr algn="ctr"/>
            <a:r>
              <a:rPr sz="1050" b="1" i="0">
                <a:solidFill>
                  <a:srgbClr val="2DD4A7"/>
                </a:solidFill>
                <a:latin typeface="Calibri"/>
              </a:rPr>
              <a:t>Scenario 01b (Bottom Viewport · Scroll 1.0)
Attr: 0x0020 · Sync: None · Advisory Action</a:t>
            </a:r>
          </a:p>
        </p:txBody>
      </p:sp>
      <p:sp>
        <p:nvSpPr>
          <p:cNvPr id="12" name="Rounded Rectangle 11"/>
          <p:cNvSpPr/>
          <p:nvPr/>
        </p:nvSpPr>
        <p:spPr>
          <a:xfrm>
            <a:off x="685800" y="5138928"/>
            <a:ext cx="6336792" cy="1115568"/>
          </a:xfrm>
          <a:prstGeom prst="roundRect">
            <a:avLst>
              <a:gd name="adj" fmla="val 6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5212080"/>
            <a:ext cx="6035040" cy="969264"/>
          </a:xfrm>
          <a:prstGeom prst="rect">
            <a:avLst/>
          </a:prstGeom>
          <a:noFill/>
        </p:spPr>
        <p:txBody>
          <a:bodyPr wrap="square" anchor="t" lIns="0" rIns="0" tIns="0" bIns="0">
            <a:spAutoFit/>
          </a:bodyPr>
          <a:lstStyle/>
          <a:p>
            <a:pPr algn="l">
              <a:spcAft>
                <a:spcPts val="200"/>
              </a:spcAft>
            </a:pPr>
            <a:r>
              <a:rPr sz="1150" b="1" i="0">
                <a:solidFill>
                  <a:srgbClr val="2DD4A7"/>
                </a:solidFill>
                <a:latin typeface="Calibri"/>
              </a:rPr>
              <a:t>Read-Only Diagnostic Guarantee &amp; Panel Reset (Scenario 14)</a:t>
            </a:r>
          </a:p>
          <a:p>
            <a:pPr algn="l"/>
            <a:r>
              <a:rPr sz="1050" b="0" i="0">
                <a:solidFill>
                  <a:srgbClr val="A9BCDB"/>
                </a:solidFill>
                <a:latin typeface="Calibri"/>
              </a:rPr>
              <a:t>The application evaluates whether READ, WRITE, EXECUTE or DELETE would succeed without ever modifying, executing or deleting the target file. Before each run, _reset_panels() clears all six panels so stale process locks never leak across diagnoses.</a:t>
            </a:r>
          </a:p>
        </p:txBody>
      </p:sp>
      <p:sp>
        <p:nvSpPr>
          <p:cNvPr id="14" name="Rounded Rectangle 13"/>
          <p:cNvSpPr/>
          <p:nvPr/>
        </p:nvSpPr>
        <p:spPr>
          <a:xfrm>
            <a:off x="7388352" y="1133856"/>
            <a:ext cx="4297680" cy="5266944"/>
          </a:xfrm>
          <a:prstGeom prst="roundRect">
            <a:avLst>
              <a:gd name="adj" fmla="val 4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1261872"/>
            <a:ext cx="3895344" cy="256032"/>
          </a:xfrm>
          <a:prstGeom prst="rect">
            <a:avLst/>
          </a:prstGeom>
          <a:noFill/>
        </p:spPr>
        <p:txBody>
          <a:bodyPr wrap="square" anchor="t" lIns="0" rIns="0" tIns="0" bIns="0">
            <a:spAutoFit/>
          </a:bodyPr>
          <a:lstStyle/>
          <a:p>
            <a:pPr algn="l"/>
            <a:r>
              <a:rPr sz="1150" b="1" i="0">
                <a:solidFill>
                  <a:srgbClr val="4F8EF7"/>
                </a:solidFill>
                <a:latin typeface="Calibri"/>
              </a:rPr>
              <a:t>SIX PRINCIPAL GUI PANELS (TABLE 4.6)</a:t>
            </a:r>
          </a:p>
        </p:txBody>
      </p:sp>
      <p:sp>
        <p:nvSpPr>
          <p:cNvPr id="16" name="Rounded Rectangle 15"/>
          <p:cNvSpPr/>
          <p:nvPr/>
        </p:nvSpPr>
        <p:spPr>
          <a:xfrm>
            <a:off x="7589520" y="1609344"/>
            <a:ext cx="3895344" cy="676656"/>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17536" y="1700784"/>
            <a:ext cx="128016" cy="12801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18704" y="1664208"/>
            <a:ext cx="3474720" cy="219456"/>
          </a:xfrm>
          <a:prstGeom prst="rect">
            <a:avLst/>
          </a:prstGeom>
          <a:noFill/>
        </p:spPr>
        <p:txBody>
          <a:bodyPr wrap="square" anchor="t" lIns="0" rIns="0" tIns="0" bIns="0">
            <a:spAutoFit/>
          </a:bodyPr>
          <a:lstStyle/>
          <a:p>
            <a:pPr algn="l"/>
            <a:r>
              <a:rPr sz="1150" b="1" i="0">
                <a:solidFill>
                  <a:srgbClr val="FFFFFF"/>
                </a:solidFill>
                <a:latin typeface="Calibri"/>
              </a:rPr>
              <a:t>1. Status Panel</a:t>
            </a:r>
          </a:p>
        </p:txBody>
      </p:sp>
      <p:sp>
        <p:nvSpPr>
          <p:cNvPr id="19" name="TextBox 18"/>
          <p:cNvSpPr txBox="1"/>
          <p:nvPr/>
        </p:nvSpPr>
        <p:spPr>
          <a:xfrm>
            <a:off x="7717536" y="1901952"/>
            <a:ext cx="3675887" cy="329184"/>
          </a:xfrm>
          <a:prstGeom prst="rect">
            <a:avLst/>
          </a:prstGeom>
          <a:noFill/>
        </p:spPr>
        <p:txBody>
          <a:bodyPr wrap="square" anchor="t" lIns="0" rIns="0" tIns="0" bIns="0">
            <a:spAutoFit/>
          </a:bodyPr>
          <a:lstStyle/>
          <a:p>
            <a:pPr algn="l"/>
            <a:r>
              <a:rPr sz="1000" b="0" i="0">
                <a:solidFill>
                  <a:srgbClr val="A9BCDB"/>
                </a:solidFill>
                <a:latin typeface="Calibri"/>
              </a:rPr>
              <a:t>Colour-coded badge, path, operation, and primary + secondary reason text.</a:t>
            </a:r>
          </a:p>
        </p:txBody>
      </p:sp>
      <p:sp>
        <p:nvSpPr>
          <p:cNvPr id="20" name="Rounded Rectangle 19"/>
          <p:cNvSpPr/>
          <p:nvPr/>
        </p:nvSpPr>
        <p:spPr>
          <a:xfrm>
            <a:off x="7589520" y="2377440"/>
            <a:ext cx="3895344" cy="676656"/>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17536" y="2468880"/>
            <a:ext cx="128016" cy="128016"/>
          </a:xfrm>
          <a:prstGeom prst="ellipse">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18704" y="2432304"/>
            <a:ext cx="3474720" cy="219456"/>
          </a:xfrm>
          <a:prstGeom prst="rect">
            <a:avLst/>
          </a:prstGeom>
          <a:noFill/>
        </p:spPr>
        <p:txBody>
          <a:bodyPr wrap="square" anchor="t" lIns="0" rIns="0" tIns="0" bIns="0">
            <a:spAutoFit/>
          </a:bodyPr>
          <a:lstStyle/>
          <a:p>
            <a:pPr algn="l"/>
            <a:r>
              <a:rPr sz="1150" b="1" i="0">
                <a:solidFill>
                  <a:srgbClr val="FFFFFF"/>
                </a:solidFill>
                <a:latin typeface="Calibri"/>
              </a:rPr>
              <a:t>2. Process List</a:t>
            </a:r>
          </a:p>
        </p:txBody>
      </p:sp>
      <p:sp>
        <p:nvSpPr>
          <p:cNvPr id="23" name="TextBox 22"/>
          <p:cNvSpPr txBox="1"/>
          <p:nvPr/>
        </p:nvSpPr>
        <p:spPr>
          <a:xfrm>
            <a:off x="7717536" y="2670048"/>
            <a:ext cx="3675887" cy="329184"/>
          </a:xfrm>
          <a:prstGeom prst="rect">
            <a:avLst/>
          </a:prstGeom>
          <a:noFill/>
        </p:spPr>
        <p:txBody>
          <a:bodyPr wrap="square" anchor="t" lIns="0" rIns="0" tIns="0" bIns="0">
            <a:spAutoFit/>
          </a:bodyPr>
          <a:lstStyle/>
          <a:p>
            <a:pPr algn="l"/>
            <a:r>
              <a:rPr sz="1000" b="0" i="0">
                <a:solidFill>
                  <a:srgbClr val="A9BCDB"/>
                </a:solidFill>
                <a:latin typeface="Calibri"/>
              </a:rPr>
              <a:t>Holding process name, PID, and psutil exe path (or skipped/error status).</a:t>
            </a:r>
          </a:p>
        </p:txBody>
      </p:sp>
      <p:sp>
        <p:nvSpPr>
          <p:cNvPr id="24" name="Rounded Rectangle 23"/>
          <p:cNvSpPr/>
          <p:nvPr/>
        </p:nvSpPr>
        <p:spPr>
          <a:xfrm>
            <a:off x="7589520" y="3145536"/>
            <a:ext cx="3895344" cy="676656"/>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17536" y="3236976"/>
            <a:ext cx="128016" cy="128016"/>
          </a:xfrm>
          <a:prstGeom prst="ellipse">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18704" y="3200400"/>
            <a:ext cx="3474720" cy="219456"/>
          </a:xfrm>
          <a:prstGeom prst="rect">
            <a:avLst/>
          </a:prstGeom>
          <a:noFill/>
        </p:spPr>
        <p:txBody>
          <a:bodyPr wrap="square" anchor="t" lIns="0" rIns="0" tIns="0" bIns="0">
            <a:spAutoFit/>
          </a:bodyPr>
          <a:lstStyle/>
          <a:p>
            <a:pPr algn="l"/>
            <a:r>
              <a:rPr sz="1150" b="1" i="0">
                <a:solidFill>
                  <a:srgbClr val="FFFFFF"/>
                </a:solidFill>
                <a:latin typeface="Calibri"/>
              </a:rPr>
              <a:t>3. Permissions</a:t>
            </a:r>
          </a:p>
        </p:txBody>
      </p:sp>
      <p:sp>
        <p:nvSpPr>
          <p:cNvPr id="27" name="TextBox 26"/>
          <p:cNvSpPr txBox="1"/>
          <p:nvPr/>
        </p:nvSpPr>
        <p:spPr>
          <a:xfrm>
            <a:off x="7717536" y="3438144"/>
            <a:ext cx="3675887" cy="329184"/>
          </a:xfrm>
          <a:prstGeom prst="rect">
            <a:avLst/>
          </a:prstGeom>
          <a:noFill/>
        </p:spPr>
        <p:txBody>
          <a:bodyPr wrap="square" anchor="t" lIns="0" rIns="0" tIns="0" bIns="0">
            <a:spAutoFit/>
          </a:bodyPr>
          <a:lstStyle/>
          <a:p>
            <a:pPr algn="l"/>
            <a:r>
              <a:rPr sz="1000" b="0" i="0">
                <a:solidFill>
                  <a:srgbClr val="A9BCDB"/>
                </a:solidFill>
                <a:latin typeface="Calibri"/>
              </a:rPr>
              <a:t>Owner (YOS\pradh), current user, 'full NTFS DACL not evaluated', R/W/X/D rows.</a:t>
            </a:r>
          </a:p>
        </p:txBody>
      </p:sp>
      <p:sp>
        <p:nvSpPr>
          <p:cNvPr id="28" name="Rounded Rectangle 27"/>
          <p:cNvSpPr/>
          <p:nvPr/>
        </p:nvSpPr>
        <p:spPr>
          <a:xfrm>
            <a:off x="7589520" y="3913632"/>
            <a:ext cx="3895344" cy="676656"/>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717536" y="4005072"/>
            <a:ext cx="128016" cy="128016"/>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18704" y="3968496"/>
            <a:ext cx="3474720" cy="219456"/>
          </a:xfrm>
          <a:prstGeom prst="rect">
            <a:avLst/>
          </a:prstGeom>
          <a:noFill/>
        </p:spPr>
        <p:txBody>
          <a:bodyPr wrap="square" anchor="t" lIns="0" rIns="0" tIns="0" bIns="0">
            <a:spAutoFit/>
          </a:bodyPr>
          <a:lstStyle/>
          <a:p>
            <a:pPr algn="l"/>
            <a:r>
              <a:rPr sz="1150" b="1" i="0">
                <a:solidFill>
                  <a:srgbClr val="FFFFFF"/>
                </a:solidFill>
                <a:latin typeface="Calibri"/>
              </a:rPr>
              <a:t>4. File Attributes</a:t>
            </a:r>
          </a:p>
        </p:txBody>
      </p:sp>
      <p:sp>
        <p:nvSpPr>
          <p:cNvPr id="31" name="TextBox 30"/>
          <p:cNvSpPr txBox="1"/>
          <p:nvPr/>
        </p:nvSpPr>
        <p:spPr>
          <a:xfrm>
            <a:off x="7717536" y="4206240"/>
            <a:ext cx="3675887" cy="329184"/>
          </a:xfrm>
          <a:prstGeom prst="rect">
            <a:avLst/>
          </a:prstGeom>
          <a:noFill/>
        </p:spPr>
        <p:txBody>
          <a:bodyPr wrap="square" anchor="t" lIns="0" rIns="0" tIns="0" bIns="0">
            <a:spAutoFit/>
          </a:bodyPr>
          <a:lstStyle/>
          <a:p>
            <a:pPr algn="l"/>
            <a:r>
              <a:rPr sz="1000" b="0" i="0">
                <a:solidFill>
                  <a:srgbClr val="A9BCDB"/>
                </a:solidFill>
                <a:latin typeface="Calibri"/>
              </a:rPr>
              <a:t>Raw bitmask (0x0020), windows_stat method, operation effect, and 6 flags.</a:t>
            </a:r>
          </a:p>
        </p:txBody>
      </p:sp>
      <p:sp>
        <p:nvSpPr>
          <p:cNvPr id="32" name="Rounded Rectangle 31"/>
          <p:cNvSpPr/>
          <p:nvPr/>
        </p:nvSpPr>
        <p:spPr>
          <a:xfrm>
            <a:off x="7589520" y="4681728"/>
            <a:ext cx="3895344" cy="676656"/>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717536" y="4773168"/>
            <a:ext cx="128016" cy="12801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18704" y="4736592"/>
            <a:ext cx="3474720" cy="219456"/>
          </a:xfrm>
          <a:prstGeom prst="rect">
            <a:avLst/>
          </a:prstGeom>
          <a:noFill/>
        </p:spPr>
        <p:txBody>
          <a:bodyPr wrap="square" anchor="t" lIns="0" rIns="0" tIns="0" bIns="0">
            <a:spAutoFit/>
          </a:bodyPr>
          <a:lstStyle/>
          <a:p>
            <a:pPr algn="l"/>
            <a:r>
              <a:rPr sz="1150" b="1" i="0">
                <a:solidFill>
                  <a:srgbClr val="FFFFFF"/>
                </a:solidFill>
                <a:latin typeface="Calibri"/>
              </a:rPr>
              <a:t>5. Cloud Sync</a:t>
            </a:r>
          </a:p>
        </p:txBody>
      </p:sp>
      <p:sp>
        <p:nvSpPr>
          <p:cNvPr id="35" name="TextBox 34"/>
          <p:cNvSpPr txBox="1"/>
          <p:nvPr/>
        </p:nvSpPr>
        <p:spPr>
          <a:xfrm>
            <a:off x="7717536" y="4974336"/>
            <a:ext cx="3675887" cy="329184"/>
          </a:xfrm>
          <a:prstGeom prst="rect">
            <a:avLst/>
          </a:prstGeom>
          <a:noFill/>
        </p:spPr>
        <p:txBody>
          <a:bodyPr wrap="square" anchor="t" lIns="0" rIns="0" tIns="0" bIns="0">
            <a:spAutoFit/>
          </a:bodyPr>
          <a:lstStyle/>
          <a:p>
            <a:pPr algn="l"/>
            <a:r>
              <a:rPr sz="1000" b="0" i="0">
                <a:solidFill>
                  <a:srgbClr val="A9BCDB"/>
                </a:solidFill>
                <a:latin typeface="Calibri"/>
              </a:rPr>
              <a:t>Provider, sync root, client daemon, evidence tier, and discovery notes.</a:t>
            </a:r>
          </a:p>
        </p:txBody>
      </p:sp>
      <p:sp>
        <p:nvSpPr>
          <p:cNvPr id="36" name="Rounded Rectangle 35"/>
          <p:cNvSpPr/>
          <p:nvPr/>
        </p:nvSpPr>
        <p:spPr>
          <a:xfrm>
            <a:off x="7589520" y="5449824"/>
            <a:ext cx="3895344" cy="676656"/>
          </a:xfrm>
          <a:prstGeom prst="roundRect">
            <a:avLst>
              <a:gd name="adj" fmla="val 8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717536" y="5541264"/>
            <a:ext cx="128016" cy="128016"/>
          </a:xfrm>
          <a:prstGeom prst="ellipse">
            <a:avLst/>
          </a:prstGeom>
          <a:solidFill>
            <a:srgbClr val="4F8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18704" y="5504688"/>
            <a:ext cx="3474720" cy="219456"/>
          </a:xfrm>
          <a:prstGeom prst="rect">
            <a:avLst/>
          </a:prstGeom>
          <a:noFill/>
        </p:spPr>
        <p:txBody>
          <a:bodyPr wrap="square" anchor="t" lIns="0" rIns="0" tIns="0" bIns="0">
            <a:spAutoFit/>
          </a:bodyPr>
          <a:lstStyle/>
          <a:p>
            <a:pPr algn="l"/>
            <a:r>
              <a:rPr sz="1150" b="1" i="0">
                <a:solidFill>
                  <a:srgbClr val="FFFFFF"/>
                </a:solidFill>
                <a:latin typeface="Calibri"/>
              </a:rPr>
              <a:t>6. Recommendation</a:t>
            </a:r>
          </a:p>
        </p:txBody>
      </p:sp>
      <p:sp>
        <p:nvSpPr>
          <p:cNvPr id="39" name="TextBox 38"/>
          <p:cNvSpPr txBox="1"/>
          <p:nvPr/>
        </p:nvSpPr>
        <p:spPr>
          <a:xfrm>
            <a:off x="7717536" y="5742432"/>
            <a:ext cx="3675887" cy="329184"/>
          </a:xfrm>
          <a:prstGeom prst="rect">
            <a:avLst/>
          </a:prstGeom>
          <a:noFill/>
        </p:spPr>
        <p:txBody>
          <a:bodyPr wrap="square" anchor="t" lIns="0" rIns="0" tIns="0" bIns="0">
            <a:spAutoFit/>
          </a:bodyPr>
          <a:lstStyle/>
          <a:p>
            <a:pPr algn="l"/>
            <a:r>
              <a:rPr sz="1000" b="0" i="0">
                <a:solidFill>
                  <a:srgbClr val="A9BCDB"/>
                </a:solidFill>
                <a:latin typeface="Calibri"/>
              </a:rPr>
              <a:t>Context-aware, human-readable advisory guidance from Recommender.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8  •  DEMONSTRATION: LOCK DETECTION &amp; CORRELATION</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Live Process-Lock Detection and Secondary Evidence Correlation</a:t>
            </a:r>
          </a:p>
        </p:txBody>
      </p:sp>
      <p:sp>
        <p:nvSpPr>
          <p:cNvPr id="4" name="Rounded Rectangle 3"/>
          <p:cNvSpPr/>
          <p:nvPr/>
        </p:nvSpPr>
        <p:spPr>
          <a:xfrm>
            <a:off x="502920" y="1133856"/>
            <a:ext cx="5468112" cy="5266944"/>
          </a:xfrm>
          <a:prstGeom prst="roundRect">
            <a:avLst>
              <a:gd name="adj" fmla="val 3000"/>
            </a:avLst>
          </a:prstGeom>
          <a:solidFill>
            <a:srgbClr val="16294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43584"/>
            <a:ext cx="5102352" cy="256032"/>
          </a:xfrm>
          <a:prstGeom prst="rect">
            <a:avLst/>
          </a:prstGeom>
          <a:noFill/>
        </p:spPr>
        <p:txBody>
          <a:bodyPr wrap="square" anchor="t" lIns="0" rIns="0" tIns="0" bIns="0">
            <a:spAutoFit/>
          </a:bodyPr>
          <a:lstStyle/>
          <a:p>
            <a:pPr algn="l"/>
            <a:r>
              <a:rPr sz="1150" b="1" i="0">
                <a:solidFill>
                  <a:srgbClr val="E8756B"/>
                </a:solidFill>
                <a:latin typeface="Calibri"/>
              </a:rPr>
              <a:t>SCENARIO 03 — ACTIVE PROCESS LOCK DETECTION</a:t>
            </a:r>
          </a:p>
        </p:txBody>
      </p:sp>
      <p:pic>
        <p:nvPicPr>
          <p:cNvPr id="6" name="Picture 5" descr="03_process_locked_write_bottom.png"/>
          <p:cNvPicPr>
            <a:picLocks noChangeAspect="1"/>
          </p:cNvPicPr>
          <p:nvPr/>
        </p:nvPicPr>
        <p:blipFill>
          <a:blip r:embed="rId3"/>
          <a:stretch>
            <a:fillRect/>
          </a:stretch>
        </p:blipFill>
        <p:spPr>
          <a:xfrm>
            <a:off x="685800" y="1554480"/>
            <a:ext cx="3063240" cy="2876697"/>
          </a:xfrm>
          <a:prstGeom prst="rect">
            <a:avLst/>
          </a:prstGeom>
          <a:ln>
            <a:noFill/>
          </a:ln>
        </p:spPr>
      </p:pic>
      <p:sp>
        <p:nvSpPr>
          <p:cNvPr id="7" name="Rounded Rectangle 6"/>
          <p:cNvSpPr/>
          <p:nvPr/>
        </p:nvSpPr>
        <p:spPr>
          <a:xfrm>
            <a:off x="3858768" y="1554480"/>
            <a:ext cx="1956816" cy="2876696"/>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68496" y="1645920"/>
            <a:ext cx="1737360" cy="2730392"/>
          </a:xfrm>
          <a:prstGeom prst="rect">
            <a:avLst/>
          </a:prstGeom>
          <a:noFill/>
        </p:spPr>
        <p:txBody>
          <a:bodyPr wrap="square" anchor="t" lIns="0" rIns="0" tIns="0" bIns="0">
            <a:spAutoFit/>
          </a:bodyPr>
          <a:lstStyle/>
          <a:p>
            <a:pPr algn="l">
              <a:spcAft>
                <a:spcPts val="400"/>
              </a:spcAft>
            </a:pPr>
            <a:r>
              <a:rPr sz="1150" b="1" i="0">
                <a:solidFill>
                  <a:srgbClr val="4F8EF7"/>
                </a:solidFill>
                <a:latin typeface="Calibri"/>
              </a:rPr>
              <a:t>Captured Telemetry</a:t>
            </a:r>
          </a:p>
          <a:p>
            <a:pPr algn="l">
              <a:spcAft>
                <a:spcPts val="400"/>
              </a:spcAft>
            </a:pPr>
            <a:r>
              <a:rPr sz="1050" b="1" i="0">
                <a:solidFill>
                  <a:srgbClr val="E8756B"/>
                </a:solidFill>
                <a:latin typeface="Calibri"/>
              </a:rPr>
              <a:t>• Diagnosis: FILE_LOCKED (Rule 2)</a:t>
            </a:r>
          </a:p>
          <a:p>
            <a:pPr algn="l">
              <a:spcAft>
                <a:spcPts val="400"/>
              </a:spcAft>
            </a:pPr>
            <a:r>
              <a:rPr sz="1000" b="0" i="0">
                <a:solidFill>
                  <a:srgbClr val="FFFFFF"/>
                </a:solidFill>
                <a:latin typeface="Calibri"/>
              </a:rPr>
              <a:t>• Holder: Python (PID 5848) via Restart Manager</a:t>
            </a:r>
          </a:p>
          <a:p>
            <a:pPr algn="l">
              <a:spcAft>
                <a:spcPts val="400"/>
              </a:spcAft>
            </a:pPr>
            <a:r>
              <a:rPr sz="1000" b="0" i="0">
                <a:solidFill>
                  <a:srgbClr val="A9BCDB"/>
                </a:solidFill>
                <a:latin typeface="Calibri"/>
              </a:rPr>
              <a:t>• Exe Path: C:\Users\pradh\...\python.exe (via psutil)</a:t>
            </a:r>
          </a:p>
          <a:p>
            <a:pPr algn="l">
              <a:spcAft>
                <a:spcPts val="400"/>
              </a:spcAft>
            </a:pPr>
            <a:r>
              <a:rPr sz="1000" b="0" i="0">
                <a:solidFill>
                  <a:srgbClr val="A9BCDB"/>
                </a:solidFill>
                <a:latin typeface="Calibri"/>
              </a:rPr>
              <a:t>• Attributes: 0x0080 (No attribute blocker)</a:t>
            </a:r>
          </a:p>
          <a:p>
            <a:pPr algn="l"/>
            <a:r>
              <a:rPr sz="1000" b="0" i="0">
                <a:solidFill>
                  <a:srgbClr val="A9BCDB"/>
                </a:solidFill>
                <a:latin typeface="Calibri"/>
              </a:rPr>
              <a:t>• Sync Note: Locked by non-sync app (PID 5848)</a:t>
            </a:r>
          </a:p>
        </p:txBody>
      </p:sp>
      <p:sp>
        <p:nvSpPr>
          <p:cNvPr id="9" name="Rounded Rectangle 8"/>
          <p:cNvSpPr/>
          <p:nvPr/>
        </p:nvSpPr>
        <p:spPr>
          <a:xfrm>
            <a:off x="685800" y="4517136"/>
            <a:ext cx="5129784" cy="512064"/>
          </a:xfrm>
          <a:prstGeom prst="roundRect">
            <a:avLst>
              <a:gd name="adj" fmla="val 8000"/>
            </a:avLst>
          </a:prstGeom>
          <a:solidFill>
            <a:srgbClr val="0C1A30"/>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4590288"/>
            <a:ext cx="4892040" cy="365760"/>
          </a:xfrm>
          <a:prstGeom prst="rect">
            <a:avLst/>
          </a:prstGeom>
          <a:noFill/>
        </p:spPr>
        <p:txBody>
          <a:bodyPr wrap="square" anchor="t" lIns="0" rIns="0" tIns="0" bIns="0">
            <a:spAutoFit/>
          </a:bodyPr>
          <a:lstStyle/>
          <a:p>
            <a:pPr algn="l"/>
            <a:r>
              <a:rPr sz="1050" b="1" i="0">
                <a:solidFill>
                  <a:srgbClr val="E8756B"/>
                </a:solidFill>
                <a:latin typeface="Calibri"/>
              </a:rPr>
              <a:t>Scenario 03 · Op: WRITE on 05_locked_file.txt · Actual: FILE_LOCKED
Status Reason: "File is currently locked by Python (PID 5848)."</a:t>
            </a:r>
          </a:p>
        </p:txBody>
      </p:sp>
      <p:sp>
        <p:nvSpPr>
          <p:cNvPr id="11" name="Rounded Rectangle 10"/>
          <p:cNvSpPr/>
          <p:nvPr/>
        </p:nvSpPr>
        <p:spPr>
          <a:xfrm>
            <a:off x="685800" y="5120640"/>
            <a:ext cx="5129784" cy="1133856"/>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193792"/>
            <a:ext cx="4855464" cy="987552"/>
          </a:xfrm>
          <a:prstGeom prst="rect">
            <a:avLst/>
          </a:prstGeom>
          <a:noFill/>
        </p:spPr>
        <p:txBody>
          <a:bodyPr wrap="square" anchor="t" lIns="0" rIns="0" tIns="0" bIns="0">
            <a:spAutoFit/>
          </a:bodyPr>
          <a:lstStyle/>
          <a:p>
            <a:pPr algn="l">
              <a:spcAft>
                <a:spcPts val="200"/>
              </a:spcAft>
            </a:pPr>
            <a:r>
              <a:rPr sz="1100" b="1" i="0">
                <a:solidFill>
                  <a:srgbClr val="2DD4A7"/>
                </a:solidFill>
                <a:latin typeface="Calibri"/>
              </a:rPr>
              <a:t>Advisory Recommendation &amp; OS Interface Proof</a:t>
            </a:r>
          </a:p>
          <a:p>
            <a:pPr algn="l"/>
            <a:r>
              <a:rPr sz="1000" b="0" i="0">
                <a:solidFill>
                  <a:srgbClr val="A9BCDB"/>
                </a:solidFill>
                <a:latin typeface="Calibri"/>
              </a:rPr>
              <a:t>"Save your work in Python (PID 5848) and close the application before retrying the operation." Confirms read-only Restart Manager session query without closing handles or terminating the process.</a:t>
            </a:r>
          </a:p>
        </p:txBody>
      </p:sp>
      <p:sp>
        <p:nvSpPr>
          <p:cNvPr id="13" name="Rounded Rectangle 12"/>
          <p:cNvSpPr/>
          <p:nvPr/>
        </p:nvSpPr>
        <p:spPr>
          <a:xfrm>
            <a:off x="6217920" y="1133856"/>
            <a:ext cx="5468112" cy="5266944"/>
          </a:xfrm>
          <a:prstGeom prst="roundRect">
            <a:avLst>
              <a:gd name="adj" fmla="val 3000"/>
            </a:avLst>
          </a:prstGeom>
          <a:solidFill>
            <a:srgbClr val="16294A"/>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243584"/>
            <a:ext cx="5102352" cy="256032"/>
          </a:xfrm>
          <a:prstGeom prst="rect">
            <a:avLst/>
          </a:prstGeom>
          <a:noFill/>
        </p:spPr>
        <p:txBody>
          <a:bodyPr wrap="square" anchor="t" lIns="0" rIns="0" tIns="0" bIns="0">
            <a:spAutoFit/>
          </a:bodyPr>
          <a:lstStyle/>
          <a:p>
            <a:pPr algn="l"/>
            <a:r>
              <a:rPr sz="1150" b="1" i="0">
                <a:solidFill>
                  <a:srgbClr val="F5A524"/>
                </a:solidFill>
                <a:latin typeface="Calibri"/>
              </a:rPr>
              <a:t>SCENARIO 08 — MULTIPLE FINDINGS (LOCK + READ-ONLY)</a:t>
            </a:r>
          </a:p>
        </p:txBody>
      </p:sp>
      <p:pic>
        <p:nvPicPr>
          <p:cNvPr id="15" name="Picture 14" descr="08_multiple_findings_lock_and_readonly_bottom.png"/>
          <p:cNvPicPr>
            <a:picLocks noChangeAspect="1"/>
          </p:cNvPicPr>
          <p:nvPr/>
        </p:nvPicPr>
        <p:blipFill>
          <a:blip r:embed="rId4"/>
          <a:stretch>
            <a:fillRect/>
          </a:stretch>
        </p:blipFill>
        <p:spPr>
          <a:xfrm>
            <a:off x="6400800" y="1554480"/>
            <a:ext cx="3063240" cy="2876697"/>
          </a:xfrm>
          <a:prstGeom prst="rect">
            <a:avLst/>
          </a:prstGeom>
          <a:ln>
            <a:noFill/>
          </a:ln>
        </p:spPr>
      </p:pic>
      <p:sp>
        <p:nvSpPr>
          <p:cNvPr id="16" name="Rounded Rectangle 15"/>
          <p:cNvSpPr/>
          <p:nvPr/>
        </p:nvSpPr>
        <p:spPr>
          <a:xfrm>
            <a:off x="9573768" y="1554480"/>
            <a:ext cx="1956816" cy="2876696"/>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83496" y="1645920"/>
            <a:ext cx="1737360" cy="2730392"/>
          </a:xfrm>
          <a:prstGeom prst="rect">
            <a:avLst/>
          </a:prstGeom>
          <a:noFill/>
        </p:spPr>
        <p:txBody>
          <a:bodyPr wrap="square" anchor="t" lIns="0" rIns="0" tIns="0" bIns="0">
            <a:spAutoFit/>
          </a:bodyPr>
          <a:lstStyle/>
          <a:p>
            <a:pPr algn="l">
              <a:spcAft>
                <a:spcPts val="400"/>
              </a:spcAft>
            </a:pPr>
            <a:r>
              <a:rPr sz="1150" b="1" i="0">
                <a:solidFill>
                  <a:srgbClr val="F5A524"/>
                </a:solidFill>
                <a:latin typeface="Calibri"/>
              </a:rPr>
              <a:t>Coexisting Evidence</a:t>
            </a:r>
          </a:p>
          <a:p>
            <a:pPr algn="l">
              <a:spcAft>
                <a:spcPts val="400"/>
              </a:spcAft>
            </a:pPr>
            <a:r>
              <a:rPr sz="1050" b="1" i="0">
                <a:solidFill>
                  <a:srgbClr val="E8756B"/>
                </a:solidFill>
                <a:latin typeface="Calibri"/>
              </a:rPr>
              <a:t>• Primary (Rule 2): FILE_LOCKED by Python (PID 38060)</a:t>
            </a:r>
          </a:p>
          <a:p>
            <a:pPr algn="l">
              <a:spcAft>
                <a:spcPts val="400"/>
              </a:spcAft>
            </a:pPr>
            <a:r>
              <a:rPr sz="1000" b="0" i="0">
                <a:solidFill>
                  <a:srgbClr val="F5A524"/>
                </a:solidFill>
                <a:latin typeface="Calibri"/>
              </a:rPr>
              <a:t>• Secondary Note: '(File also has the read-only attribute set.)'</a:t>
            </a:r>
          </a:p>
          <a:p>
            <a:pPr algn="l">
              <a:spcAft>
                <a:spcPts val="400"/>
              </a:spcAft>
            </a:pPr>
            <a:r>
              <a:rPr sz="1000" b="0" i="0">
                <a:solidFill>
                  <a:srgbClr val="FFFFFF"/>
                </a:solidFill>
                <a:latin typeface="Calibri"/>
              </a:rPr>
              <a:t>• Attributes Panel: 0x0021 (33) · Read-only = Yes, Archive = Yes</a:t>
            </a:r>
          </a:p>
          <a:p>
            <a:pPr algn="l"/>
            <a:r>
              <a:rPr sz="1000" b="0" i="0">
                <a:solidFill>
                  <a:srgbClr val="A9BCDB"/>
                </a:solidFill>
                <a:latin typeface="Calibri"/>
              </a:rPr>
              <a:t>• Permissions Panel: WRITE &amp; DELETE Denied; READ &amp; EXECUTE Allowed</a:t>
            </a:r>
          </a:p>
        </p:txBody>
      </p:sp>
      <p:sp>
        <p:nvSpPr>
          <p:cNvPr id="18" name="Rounded Rectangle 17"/>
          <p:cNvSpPr/>
          <p:nvPr/>
        </p:nvSpPr>
        <p:spPr>
          <a:xfrm>
            <a:off x="6400800" y="4517136"/>
            <a:ext cx="5129784" cy="512064"/>
          </a:xfrm>
          <a:prstGeom prst="roundRect">
            <a:avLst>
              <a:gd name="adj" fmla="val 8000"/>
            </a:avLst>
          </a:prstGeom>
          <a:solidFill>
            <a:srgbClr val="0C1A3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4590288"/>
            <a:ext cx="4892040" cy="365760"/>
          </a:xfrm>
          <a:prstGeom prst="rect">
            <a:avLst/>
          </a:prstGeom>
          <a:noFill/>
        </p:spPr>
        <p:txBody>
          <a:bodyPr wrap="square" anchor="t" lIns="0" rIns="0" tIns="0" bIns="0">
            <a:spAutoFit/>
          </a:bodyPr>
          <a:lstStyle/>
          <a:p>
            <a:pPr algn="l"/>
            <a:r>
              <a:rPr sz="1050" b="1" i="0">
                <a:solidFill>
                  <a:srgbClr val="F5A524"/>
                </a:solidFill>
                <a:latin typeface="Calibri"/>
              </a:rPr>
              <a:t>Scenario 08 · Op: WRITE on 05_locked_file.txt · Actual: FILE_LOCKED
Primary: Python (PID 38060)  |  Secondary: Read-only attribute (0x0021)</a:t>
            </a:r>
          </a:p>
        </p:txBody>
      </p:sp>
      <p:sp>
        <p:nvSpPr>
          <p:cNvPr id="20" name="Rounded Rectangle 19"/>
          <p:cNvSpPr/>
          <p:nvPr/>
        </p:nvSpPr>
        <p:spPr>
          <a:xfrm>
            <a:off x="6400800" y="5120640"/>
            <a:ext cx="5129784" cy="1133856"/>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5193792"/>
            <a:ext cx="4855464" cy="987552"/>
          </a:xfrm>
          <a:prstGeom prst="rect">
            <a:avLst/>
          </a:prstGeom>
          <a:noFill/>
        </p:spPr>
        <p:txBody>
          <a:bodyPr wrap="square" anchor="t" lIns="0" rIns="0" tIns="0" bIns="0">
            <a:spAutoFit/>
          </a:bodyPr>
          <a:lstStyle/>
          <a:p>
            <a:pPr algn="l">
              <a:spcAft>
                <a:spcPts val="200"/>
              </a:spcAft>
            </a:pPr>
            <a:r>
              <a:rPr sz="1100" b="1" i="0">
                <a:solidFill>
                  <a:srgbClr val="4F8EF7"/>
                </a:solidFill>
                <a:latin typeface="Calibri"/>
              </a:rPr>
              <a:t>Why Primary Priority + Secondary Preservation Matters</a:t>
            </a:r>
          </a:p>
          <a:p>
            <a:pPr algn="l"/>
            <a:r>
              <a:rPr sz="1000" b="0" i="0">
                <a:solidFill>
                  <a:srgbClr val="A9BCDB"/>
                </a:solidFill>
                <a:latin typeface="Calibri"/>
              </a:rPr>
              <a:t>Reason: "File is currently locked by Python (PID 38060). (File also has the read-only attribute set.)" Rule 2 ranks the active runtime lock first while preserving the Read-only finding as secondary evidence.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9  •  DEMONSTRATION: ATTRIBUTES &amp; OPERATION SEMANTICS</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Operation-Aware Attribute Evaluation (READ, WRITE, DELETE)</a:t>
            </a:r>
          </a:p>
        </p:txBody>
      </p:sp>
      <p:sp>
        <p:nvSpPr>
          <p:cNvPr id="4" name="Rounded Rectangle 3"/>
          <p:cNvSpPr/>
          <p:nvPr/>
        </p:nvSpPr>
        <p:spPr>
          <a:xfrm>
            <a:off x="502920" y="1133856"/>
            <a:ext cx="3611880" cy="4553712"/>
          </a:xfrm>
          <a:prstGeom prst="roundRect">
            <a:avLst>
              <a:gd name="adj" fmla="val 4000"/>
            </a:avLst>
          </a:prstGeom>
          <a:solidFill>
            <a:srgbClr val="16294A"/>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9224" y="1225296"/>
            <a:ext cx="3319272" cy="237744"/>
          </a:xfrm>
          <a:prstGeom prst="rect">
            <a:avLst/>
          </a:prstGeom>
          <a:noFill/>
        </p:spPr>
        <p:txBody>
          <a:bodyPr wrap="square" anchor="t" lIns="0" rIns="0" tIns="0" bIns="0">
            <a:spAutoFit/>
          </a:bodyPr>
          <a:lstStyle/>
          <a:p>
            <a:pPr algn="ctr"/>
            <a:r>
              <a:rPr sz="1100" b="1" i="0">
                <a:solidFill>
                  <a:srgbClr val="F5A524"/>
                </a:solidFill>
                <a:latin typeface="Calibri"/>
              </a:rPr>
              <a:t>SCENARIO 04a — WRITE ON READ-ONLY</a:t>
            </a:r>
          </a:p>
        </p:txBody>
      </p:sp>
      <p:pic>
        <p:nvPicPr>
          <p:cNvPr id="6" name="Picture 5" descr="04a_read_only_write_bottom.png"/>
          <p:cNvPicPr>
            <a:picLocks noChangeAspect="1"/>
          </p:cNvPicPr>
          <p:nvPr/>
        </p:nvPicPr>
        <p:blipFill>
          <a:blip r:embed="rId3"/>
          <a:stretch>
            <a:fillRect/>
          </a:stretch>
        </p:blipFill>
        <p:spPr>
          <a:xfrm>
            <a:off x="882396" y="1499616"/>
            <a:ext cx="2852928" cy="2679192"/>
          </a:xfrm>
          <a:prstGeom prst="rect">
            <a:avLst/>
          </a:prstGeom>
          <a:ln>
            <a:noFill/>
          </a:ln>
        </p:spPr>
      </p:pic>
      <p:sp>
        <p:nvSpPr>
          <p:cNvPr id="7" name="Rounded Rectangle 6"/>
          <p:cNvSpPr/>
          <p:nvPr/>
        </p:nvSpPr>
        <p:spPr>
          <a:xfrm>
            <a:off x="649224" y="4233672"/>
            <a:ext cx="3319272" cy="329184"/>
          </a:xfrm>
          <a:prstGeom prst="roundRect">
            <a:avLst>
              <a:gd name="adj" fmla="val 10000"/>
            </a:avLst>
          </a:prstGeom>
          <a:solidFill>
            <a:srgbClr val="0C1A3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4297680"/>
            <a:ext cx="3209544" cy="201168"/>
          </a:xfrm>
          <a:prstGeom prst="rect">
            <a:avLst/>
          </a:prstGeom>
          <a:noFill/>
        </p:spPr>
        <p:txBody>
          <a:bodyPr wrap="square" anchor="ctr" lIns="0" rIns="0" tIns="0" bIns="0">
            <a:spAutoFit/>
          </a:bodyPr>
          <a:lstStyle/>
          <a:p>
            <a:pPr algn="ctr"/>
            <a:r>
              <a:rPr sz="1050" b="1" i="0">
                <a:solidFill>
                  <a:srgbClr val="F5A524"/>
                </a:solidFill>
                <a:latin typeface="Calibri"/>
              </a:rPr>
              <a:t>Scenario 04a · WRITE → READ_ONLY</a:t>
            </a:r>
          </a:p>
        </p:txBody>
      </p:sp>
      <p:sp>
        <p:nvSpPr>
          <p:cNvPr id="9" name="TextBox 8"/>
          <p:cNvSpPr txBox="1"/>
          <p:nvPr/>
        </p:nvSpPr>
        <p:spPr>
          <a:xfrm>
            <a:off x="667512" y="4636008"/>
            <a:ext cx="3282696" cy="914400"/>
          </a:xfrm>
          <a:prstGeom prst="rect">
            <a:avLst/>
          </a:prstGeom>
          <a:noFill/>
        </p:spPr>
        <p:txBody>
          <a:bodyPr wrap="square" anchor="t" lIns="0" rIns="0" tIns="0" bIns="0">
            <a:spAutoFit/>
          </a:bodyPr>
          <a:lstStyle/>
          <a:p>
            <a:pPr algn="l"/>
            <a:r>
              <a:rPr sz="1000" b="0" i="0">
                <a:solidFill>
                  <a:srgbClr val="A9BCDB"/>
                </a:solidFill>
                <a:latin typeface="Calibri"/>
              </a:rPr>
              <a:t>• Fixture: 02_read_only_file.txt (0x0021 = Read-only + Archive)
• Effect: 'Read-only attribute is set; prevents WRITE operations.'
• Also Verified for DELETE (Scenario 12 → READ_ONLY under Rule 3).</a:t>
            </a:r>
          </a:p>
        </p:txBody>
      </p:sp>
      <p:sp>
        <p:nvSpPr>
          <p:cNvPr id="10" name="Rounded Rectangle 9"/>
          <p:cNvSpPr/>
          <p:nvPr/>
        </p:nvSpPr>
        <p:spPr>
          <a:xfrm>
            <a:off x="4288536" y="1133856"/>
            <a:ext cx="3611880" cy="4553712"/>
          </a:xfrm>
          <a:prstGeom prst="roundRect">
            <a:avLst>
              <a:gd name="adj" fmla="val 4000"/>
            </a:avLst>
          </a:prstGeom>
          <a:solidFill>
            <a:srgbClr val="16294A"/>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225296"/>
            <a:ext cx="3319272" cy="237744"/>
          </a:xfrm>
          <a:prstGeom prst="rect">
            <a:avLst/>
          </a:prstGeom>
          <a:noFill/>
        </p:spPr>
        <p:txBody>
          <a:bodyPr wrap="square" anchor="t" lIns="0" rIns="0" tIns="0" bIns="0">
            <a:spAutoFit/>
          </a:bodyPr>
          <a:lstStyle/>
          <a:p>
            <a:pPr algn="ctr"/>
            <a:r>
              <a:rPr sz="1100" b="1" i="0">
                <a:solidFill>
                  <a:srgbClr val="2DD4A7"/>
                </a:solidFill>
                <a:latin typeface="Calibri"/>
              </a:rPr>
              <a:t>SCENARIO 04b — READ ON READ-ONLY</a:t>
            </a:r>
          </a:p>
        </p:txBody>
      </p:sp>
      <p:pic>
        <p:nvPicPr>
          <p:cNvPr id="12" name="Picture 11" descr="04b_read_only_read_bottom.png"/>
          <p:cNvPicPr>
            <a:picLocks noChangeAspect="1"/>
          </p:cNvPicPr>
          <p:nvPr/>
        </p:nvPicPr>
        <p:blipFill>
          <a:blip r:embed="rId4"/>
          <a:stretch>
            <a:fillRect/>
          </a:stretch>
        </p:blipFill>
        <p:spPr>
          <a:xfrm>
            <a:off x="4668012" y="1499616"/>
            <a:ext cx="2852928" cy="2679192"/>
          </a:xfrm>
          <a:prstGeom prst="rect">
            <a:avLst/>
          </a:prstGeom>
          <a:ln>
            <a:noFill/>
          </a:ln>
        </p:spPr>
      </p:pic>
      <p:sp>
        <p:nvSpPr>
          <p:cNvPr id="13" name="Rounded Rectangle 12"/>
          <p:cNvSpPr/>
          <p:nvPr/>
        </p:nvSpPr>
        <p:spPr>
          <a:xfrm>
            <a:off x="4434840" y="4233672"/>
            <a:ext cx="3319272" cy="329184"/>
          </a:xfrm>
          <a:prstGeom prst="roundRect">
            <a:avLst>
              <a:gd name="adj" fmla="val 10000"/>
            </a:avLst>
          </a:prstGeom>
          <a:solidFill>
            <a:srgbClr val="0C1A30"/>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9704" y="4297680"/>
            <a:ext cx="3209544" cy="201168"/>
          </a:xfrm>
          <a:prstGeom prst="rect">
            <a:avLst/>
          </a:prstGeom>
          <a:noFill/>
        </p:spPr>
        <p:txBody>
          <a:bodyPr wrap="square" anchor="ctr" lIns="0" rIns="0" tIns="0" bIns="0">
            <a:spAutoFit/>
          </a:bodyPr>
          <a:lstStyle/>
          <a:p>
            <a:pPr algn="ctr"/>
            <a:r>
              <a:rPr sz="1050" b="1" i="0">
                <a:solidFill>
                  <a:srgbClr val="2DD4A7"/>
                </a:solidFill>
                <a:latin typeface="Calibri"/>
              </a:rPr>
              <a:t>Scenario 04b · READ → OPERATION_ALLOWED</a:t>
            </a:r>
          </a:p>
        </p:txBody>
      </p:sp>
      <p:sp>
        <p:nvSpPr>
          <p:cNvPr id="15" name="TextBox 14"/>
          <p:cNvSpPr txBox="1"/>
          <p:nvPr/>
        </p:nvSpPr>
        <p:spPr>
          <a:xfrm>
            <a:off x="4453128" y="4636008"/>
            <a:ext cx="3282696" cy="914400"/>
          </a:xfrm>
          <a:prstGeom prst="rect">
            <a:avLst/>
          </a:prstGeom>
          <a:noFill/>
        </p:spPr>
        <p:txBody>
          <a:bodyPr wrap="square" anchor="t" lIns="0" rIns="0" tIns="0" bIns="0">
            <a:spAutoFit/>
          </a:bodyPr>
          <a:lstStyle/>
          <a:p>
            <a:pPr algn="l"/>
            <a:r>
              <a:rPr sz="1000" b="0" i="0">
                <a:solidFill>
                  <a:srgbClr val="A9BCDB"/>
                </a:solidFill>
                <a:latin typeface="Calibri"/>
              </a:rPr>
              <a:t>• Same Fixture: 02_read_only_file.txt (Bitmask 0x0021)
• Effect: 'Read-only attribute is set, but does not block READ operations.'
• Rule 3 applies only to WRITE/DELETE, so READ is allowed.</a:t>
            </a:r>
          </a:p>
        </p:txBody>
      </p:sp>
      <p:sp>
        <p:nvSpPr>
          <p:cNvPr id="16" name="Rounded Rectangle 15"/>
          <p:cNvSpPr/>
          <p:nvPr/>
        </p:nvSpPr>
        <p:spPr>
          <a:xfrm>
            <a:off x="8074152" y="1133856"/>
            <a:ext cx="3611880" cy="4553712"/>
          </a:xfrm>
          <a:prstGeom prst="roundRect">
            <a:avLst>
              <a:gd name="adj" fmla="val 4000"/>
            </a:avLst>
          </a:prstGeom>
          <a:solidFill>
            <a:srgbClr val="16294A"/>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0456" y="1225296"/>
            <a:ext cx="3319272" cy="237744"/>
          </a:xfrm>
          <a:prstGeom prst="rect">
            <a:avLst/>
          </a:prstGeom>
          <a:noFill/>
        </p:spPr>
        <p:txBody>
          <a:bodyPr wrap="square" anchor="t" lIns="0" rIns="0" tIns="0" bIns="0">
            <a:spAutoFit/>
          </a:bodyPr>
          <a:lstStyle/>
          <a:p>
            <a:pPr algn="ctr"/>
            <a:r>
              <a:rPr sz="1100" b="1" i="0">
                <a:solidFill>
                  <a:srgbClr val="4F8EF7"/>
                </a:solidFill>
                <a:latin typeface="Calibri"/>
              </a:rPr>
              <a:t>SCENARIO 06 — HIDDEN &amp; ARCHIVE FLAGS</a:t>
            </a:r>
          </a:p>
        </p:txBody>
      </p:sp>
      <p:pic>
        <p:nvPicPr>
          <p:cNvPr id="18" name="Picture 17" descr="06_file_attributes_hidden_archive_bottom.png"/>
          <p:cNvPicPr>
            <a:picLocks noChangeAspect="1"/>
          </p:cNvPicPr>
          <p:nvPr/>
        </p:nvPicPr>
        <p:blipFill>
          <a:blip r:embed="rId5"/>
          <a:stretch>
            <a:fillRect/>
          </a:stretch>
        </p:blipFill>
        <p:spPr>
          <a:xfrm>
            <a:off x="8453628" y="1499616"/>
            <a:ext cx="2852928" cy="2679192"/>
          </a:xfrm>
          <a:prstGeom prst="rect">
            <a:avLst/>
          </a:prstGeom>
          <a:ln>
            <a:noFill/>
          </a:ln>
        </p:spPr>
      </p:pic>
      <p:sp>
        <p:nvSpPr>
          <p:cNvPr id="19" name="Rounded Rectangle 18"/>
          <p:cNvSpPr/>
          <p:nvPr/>
        </p:nvSpPr>
        <p:spPr>
          <a:xfrm>
            <a:off x="8220456" y="4233672"/>
            <a:ext cx="3319272" cy="329184"/>
          </a:xfrm>
          <a:prstGeom prst="roundRect">
            <a:avLst>
              <a:gd name="adj" fmla="val 10000"/>
            </a:avLst>
          </a:prstGeom>
          <a:solidFill>
            <a:srgbClr val="0C1A3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4297680"/>
            <a:ext cx="3209544" cy="201168"/>
          </a:xfrm>
          <a:prstGeom prst="rect">
            <a:avLst/>
          </a:prstGeom>
          <a:noFill/>
        </p:spPr>
        <p:txBody>
          <a:bodyPr wrap="square" anchor="ctr" lIns="0" rIns="0" tIns="0" bIns="0">
            <a:spAutoFit/>
          </a:bodyPr>
          <a:lstStyle/>
          <a:p>
            <a:pPr algn="ctr"/>
            <a:r>
              <a:rPr sz="1050" b="1" i="0">
                <a:solidFill>
                  <a:srgbClr val="4F8EF7"/>
                </a:solidFill>
                <a:latin typeface="Calibri"/>
              </a:rPr>
              <a:t>Scenario 06 · READ → OPERATION_ALLOWED</a:t>
            </a:r>
          </a:p>
        </p:txBody>
      </p:sp>
      <p:sp>
        <p:nvSpPr>
          <p:cNvPr id="21" name="TextBox 20"/>
          <p:cNvSpPr txBox="1"/>
          <p:nvPr/>
        </p:nvSpPr>
        <p:spPr>
          <a:xfrm>
            <a:off x="8238744" y="4636008"/>
            <a:ext cx="3282696" cy="914400"/>
          </a:xfrm>
          <a:prstGeom prst="rect">
            <a:avLst/>
          </a:prstGeom>
          <a:noFill/>
        </p:spPr>
        <p:txBody>
          <a:bodyPr wrap="square" anchor="t" lIns="0" rIns="0" tIns="0" bIns="0">
            <a:spAutoFit/>
          </a:bodyPr>
          <a:lstStyle/>
          <a:p>
            <a:pPr algn="l"/>
            <a:r>
              <a:rPr sz="1000" b="0" i="0">
                <a:solidFill>
                  <a:srgbClr val="A9BCDB"/>
                </a:solidFill>
                <a:latin typeface="Calibri"/>
              </a:rPr>
              <a:t>• Fixture: 03_hidden_archive_file.txt (0x0022 = Hidden + Archive)
• Scenario 13: 04_system_attribute_file.txt (0x0024 = System + Archive) → OPERATION_ALLOWED.
• Informational flags never trigger false failure alarms.</a:t>
            </a:r>
          </a:p>
        </p:txBody>
      </p:sp>
      <p:sp>
        <p:nvSpPr>
          <p:cNvPr id="22" name="Rounded Rectangle 21"/>
          <p:cNvSpPr/>
          <p:nvPr/>
        </p:nvSpPr>
        <p:spPr>
          <a:xfrm>
            <a:off x="502920" y="5779008"/>
            <a:ext cx="11183112" cy="676656"/>
          </a:xfrm>
          <a:prstGeom prst="roundRect">
            <a:avLst>
              <a:gd name="adj" fmla="val 6000"/>
            </a:avLst>
          </a:prstGeom>
          <a:solidFill>
            <a:srgbClr val="0C1A3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5852160"/>
            <a:ext cx="10762488" cy="530352"/>
          </a:xfrm>
          <a:prstGeom prst="rect">
            <a:avLst/>
          </a:prstGeom>
          <a:noFill/>
        </p:spPr>
        <p:txBody>
          <a:bodyPr wrap="square" anchor="t" lIns="0" rIns="0" tIns="0" bIns="0">
            <a:spAutoFit/>
          </a:bodyPr>
          <a:lstStyle/>
          <a:p>
            <a:pPr algn="l"/>
            <a:r>
              <a:rPr sz="1150" b="1" i="0">
                <a:solidFill>
                  <a:srgbClr val="4F8EF7"/>
                </a:solidFill>
                <a:latin typeface="Calibri"/>
              </a:rPr>
              <a:t>Complete Operation Coverage (Scenarios 10, 11, 12): </a:t>
            </a:r>
            <a:r>
              <a:rPr sz="1100" b="0" i="0">
                <a:solidFill>
                  <a:srgbClr val="A9BCDB"/>
                </a:solidFill>
                <a:latin typeface="Calibri"/>
              </a:rPr>
              <a:t>Scenario 10 (</a:t>
            </a:r>
            <a:r>
              <a:rPr sz="1100" b="1" i="0">
                <a:solidFill>
                  <a:srgbClr val="2DD4A7"/>
                </a:solidFill>
                <a:latin typeface="Courier New"/>
              </a:rPr>
              <a:t>EXECUTE</a:t>
            </a:r>
            <a:r>
              <a:rPr sz="1100" b="0" i="0">
                <a:solidFill>
                  <a:srgbClr val="A9BCDB"/>
                </a:solidFill>
                <a:latin typeface="Calibri"/>
              </a:rPr>
              <a:t> on 08_execute_check.cmd → OPERATION_ALLOWED) and Scenario 11 (</a:t>
            </a:r>
            <a:r>
              <a:rPr sz="1100" b="1" i="0">
                <a:solidFill>
                  <a:srgbClr val="2DD4A7"/>
                </a:solidFill>
                <a:latin typeface="Courier New"/>
              </a:rPr>
              <a:t>DELETE</a:t>
            </a:r>
            <a:r>
              <a:rPr sz="1100" b="0" i="0">
                <a:solidFill>
                  <a:srgbClr val="A9BCDB"/>
                </a:solidFill>
                <a:latin typeface="Calibri"/>
              </a:rPr>
              <a:t> on 07_delete_check_file.txt → OPERATION_ALLOWED) verify static diagnostic evaluation: </a:t>
            </a:r>
            <a:r>
              <a:rPr sz="1100" b="1" i="0">
                <a:solidFill>
                  <a:srgbClr val="FFFFFF"/>
                </a:solidFill>
                <a:latin typeface="Calibri"/>
              </a:rPr>
              <a:t>the script is never executed and the target file is never deleted.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10  •  CLOUD-SYNC ANALYSIS &amp; THE HONEST BOUNDARY</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Local Cloud-Sync Discovery, Evidence Tiers and Boundary</a:t>
            </a:r>
          </a:p>
        </p:txBody>
      </p:sp>
      <p:sp>
        <p:nvSpPr>
          <p:cNvPr id="4" name="Rounded Rectangle 3"/>
          <p:cNvSpPr/>
          <p:nvPr/>
        </p:nvSpPr>
        <p:spPr>
          <a:xfrm>
            <a:off x="502920" y="1133856"/>
            <a:ext cx="5806440" cy="5266944"/>
          </a:xfrm>
          <a:prstGeom prst="roundRect">
            <a:avLst>
              <a:gd name="adj" fmla="val 4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261872"/>
            <a:ext cx="5394960" cy="256032"/>
          </a:xfrm>
          <a:prstGeom prst="rect">
            <a:avLst/>
          </a:prstGeom>
          <a:noFill/>
        </p:spPr>
        <p:txBody>
          <a:bodyPr wrap="square" anchor="t" lIns="0" rIns="0" tIns="0" bIns="0">
            <a:spAutoFit/>
          </a:bodyPr>
          <a:lstStyle/>
          <a:p>
            <a:pPr algn="l"/>
            <a:r>
              <a:rPr sz="1150" b="1" i="0">
                <a:solidFill>
                  <a:srgbClr val="4F8EF7"/>
                </a:solidFill>
                <a:latin typeface="Calibri"/>
              </a:rPr>
              <a:t>LOCAL DISCOVERY &amp; CONSERVATIVE EVIDENCE TIERS</a:t>
            </a:r>
          </a:p>
        </p:txBody>
      </p:sp>
      <p:sp>
        <p:nvSpPr>
          <p:cNvPr id="6" name="Rounded Rectangle 5"/>
          <p:cNvSpPr/>
          <p:nvPr/>
        </p:nvSpPr>
        <p:spPr>
          <a:xfrm>
            <a:off x="713232" y="1572768"/>
            <a:ext cx="2615184" cy="1115568"/>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45920"/>
            <a:ext cx="2395728" cy="969264"/>
          </a:xfrm>
          <a:prstGeom prst="rect">
            <a:avLst/>
          </a:prstGeom>
          <a:noFill/>
        </p:spPr>
        <p:txBody>
          <a:bodyPr wrap="square" anchor="t" lIns="0" rIns="0" tIns="0" bIns="0">
            <a:spAutoFit/>
          </a:bodyPr>
          <a:lstStyle/>
          <a:p>
            <a:pPr algn="l">
              <a:spcAft>
                <a:spcPts val="200"/>
              </a:spcAft>
            </a:pPr>
            <a:r>
              <a:rPr sz="1150" b="1" i="0">
                <a:solidFill>
                  <a:srgbClr val="4F8EF7"/>
                </a:solidFill>
                <a:latin typeface="Calibri"/>
              </a:rPr>
              <a:t>Microsoft OneDrive</a:t>
            </a:r>
          </a:p>
          <a:p>
            <a:pPr algn="l"/>
            <a:r>
              <a:rPr sz="1000" b="0" i="0">
                <a:solidFill>
                  <a:srgbClr val="A9BCDB"/>
                </a:solidFill>
                <a:latin typeface="Calibri"/>
              </a:rPr>
              <a:t>• Roots: Env vars (OneDrive*) &amp; registry HKCU\Software\Microsoft\OneDrive
• Daemons: onedrive.exe, filecoauth.exe</a:t>
            </a:r>
          </a:p>
        </p:txBody>
      </p:sp>
      <p:sp>
        <p:nvSpPr>
          <p:cNvPr id="8" name="Rounded Rectangle 7"/>
          <p:cNvSpPr/>
          <p:nvPr/>
        </p:nvSpPr>
        <p:spPr>
          <a:xfrm>
            <a:off x="3474720" y="1572768"/>
            <a:ext cx="2615184" cy="1115568"/>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84448" y="1645920"/>
            <a:ext cx="2395728" cy="969264"/>
          </a:xfrm>
          <a:prstGeom prst="rect">
            <a:avLst/>
          </a:prstGeom>
          <a:noFill/>
        </p:spPr>
        <p:txBody>
          <a:bodyPr wrap="square" anchor="t" lIns="0" rIns="0" tIns="0" bIns="0">
            <a:spAutoFit/>
          </a:bodyPr>
          <a:lstStyle/>
          <a:p>
            <a:pPr algn="l">
              <a:spcAft>
                <a:spcPts val="200"/>
              </a:spcAft>
            </a:pPr>
            <a:r>
              <a:rPr sz="1150" b="1" i="0">
                <a:solidFill>
                  <a:srgbClr val="2DD4A7"/>
                </a:solidFill>
                <a:latin typeface="Calibri"/>
              </a:rPr>
              <a:t>Google Drive for Desktop</a:t>
            </a:r>
          </a:p>
          <a:p>
            <a:pPr algn="l"/>
            <a:r>
              <a:rPr sz="1000" b="0" i="0">
                <a:solidFill>
                  <a:srgbClr val="A9BCDB"/>
                </a:solidFill>
                <a:latin typeface="Calibri"/>
              </a:rPr>
              <a:t>• Roots: Registry DriveFS mounts, psutil.disk_partitions &amp; GetVolumeInformationW
• Daemon: googledrivefs.exe</a:t>
            </a:r>
          </a:p>
        </p:txBody>
      </p:sp>
      <p:sp>
        <p:nvSpPr>
          <p:cNvPr id="10" name="TextBox 9"/>
          <p:cNvSpPr txBox="1"/>
          <p:nvPr/>
        </p:nvSpPr>
        <p:spPr>
          <a:xfrm>
            <a:off x="713232" y="2779776"/>
            <a:ext cx="5394960" cy="237744"/>
          </a:xfrm>
          <a:prstGeom prst="rect">
            <a:avLst/>
          </a:prstGeom>
          <a:noFill/>
        </p:spPr>
        <p:txBody>
          <a:bodyPr wrap="square" anchor="t" lIns="0" rIns="0" tIns="0" bIns="0">
            <a:spAutoFit/>
          </a:bodyPr>
          <a:lstStyle/>
          <a:p>
            <a:pPr algn="l"/>
            <a:r>
              <a:rPr sz="1100" b="1" i="0">
                <a:solidFill>
                  <a:srgbClr val="4F8EF7"/>
                </a:solidFill>
                <a:latin typeface="Calibri"/>
              </a:rPr>
              <a:t>FOUR CONSERVATIVE EVIDENCE TIERS (TABLE 5.1)</a:t>
            </a:r>
          </a:p>
        </p:txBody>
      </p:sp>
      <p:sp>
        <p:nvSpPr>
          <p:cNvPr id="11" name="Rounded Rectangle 10"/>
          <p:cNvSpPr/>
          <p:nvPr/>
        </p:nvSpPr>
        <p:spPr>
          <a:xfrm>
            <a:off x="713232" y="3072384"/>
            <a:ext cx="5376672" cy="713232"/>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45536"/>
            <a:ext cx="1783080" cy="274320"/>
          </a:xfrm>
          <a:prstGeom prst="roundRect">
            <a:avLst>
              <a:gd name="adj" fmla="val 45000"/>
            </a:avLst>
          </a:prstGeom>
          <a:solidFill>
            <a:srgbClr val="16294A"/>
          </a:solidFill>
          <a:ln w="12700">
            <a:solidFill>
              <a:srgbClr val="6E8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172968"/>
            <a:ext cx="1691639" cy="219456"/>
          </a:xfrm>
          <a:prstGeom prst="rect">
            <a:avLst/>
          </a:prstGeom>
          <a:noFill/>
        </p:spPr>
        <p:txBody>
          <a:bodyPr wrap="square" anchor="ctr" lIns="0" rIns="0" tIns="0" bIns="0">
            <a:spAutoFit/>
          </a:bodyPr>
          <a:lstStyle/>
          <a:p>
            <a:pPr algn="ctr"/>
            <a:r>
              <a:rPr sz="1050" b="1" i="0">
                <a:solidFill>
                  <a:srgbClr val="6E86AE"/>
                </a:solidFill>
                <a:latin typeface="Calibri"/>
              </a:rPr>
              <a:t>none</a:t>
            </a:r>
          </a:p>
        </p:txBody>
      </p:sp>
      <p:sp>
        <p:nvSpPr>
          <p:cNvPr id="14" name="Rounded Rectangle 13"/>
          <p:cNvSpPr/>
          <p:nvPr/>
        </p:nvSpPr>
        <p:spPr>
          <a:xfrm>
            <a:off x="4187952" y="3145536"/>
            <a:ext cx="1792224" cy="274320"/>
          </a:xfrm>
          <a:prstGeom prst="roundRect">
            <a:avLst>
              <a:gd name="adj" fmla="val 45000"/>
            </a:avLst>
          </a:prstGeom>
          <a:solidFill>
            <a:srgbClr val="16294A"/>
          </a:solidFill>
          <a:ln w="12700">
            <a:solidFill>
              <a:srgbClr val="6E8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33672" y="3172968"/>
            <a:ext cx="1700784" cy="219456"/>
          </a:xfrm>
          <a:prstGeom prst="rect">
            <a:avLst/>
          </a:prstGeom>
          <a:noFill/>
        </p:spPr>
        <p:txBody>
          <a:bodyPr wrap="square" anchor="ctr" lIns="0" rIns="0" tIns="0" bIns="0">
            <a:spAutoFit/>
          </a:bodyPr>
          <a:lstStyle/>
          <a:p>
            <a:pPr algn="ctr"/>
            <a:r>
              <a:rPr sz="1000" b="1" i="0">
                <a:solidFill>
                  <a:srgbClr val="6E86AE"/>
                </a:solidFill>
                <a:latin typeface="Calibri"/>
              </a:rPr>
              <a:t>Primary: No</a:t>
            </a:r>
          </a:p>
        </p:txBody>
      </p:sp>
      <p:sp>
        <p:nvSpPr>
          <p:cNvPr id="16" name="TextBox 15"/>
          <p:cNvSpPr txBox="1"/>
          <p:nvPr/>
        </p:nvSpPr>
        <p:spPr>
          <a:xfrm>
            <a:off x="822960" y="3474720"/>
            <a:ext cx="5157216" cy="256032"/>
          </a:xfrm>
          <a:prstGeom prst="rect">
            <a:avLst/>
          </a:prstGeom>
          <a:noFill/>
        </p:spPr>
        <p:txBody>
          <a:bodyPr wrap="square" anchor="t" lIns="0" rIns="0" tIns="0" bIns="0">
            <a:spAutoFit/>
          </a:bodyPr>
          <a:lstStyle/>
          <a:p>
            <a:pPr algn="l"/>
            <a:r>
              <a:rPr sz="1000" b="0" i="0">
                <a:solidFill>
                  <a:srgbClr val="A9BCDB"/>
                </a:solidFill>
                <a:latin typeface="Calibri"/>
              </a:rPr>
              <a:t>Outside detected OneDrive / Google Drive roots → 'No provider association detected'.</a:t>
            </a:r>
          </a:p>
        </p:txBody>
      </p:sp>
      <p:sp>
        <p:nvSpPr>
          <p:cNvPr id="17" name="Rounded Rectangle 16"/>
          <p:cNvSpPr/>
          <p:nvPr/>
        </p:nvSpPr>
        <p:spPr>
          <a:xfrm>
            <a:off x="713232" y="3858768"/>
            <a:ext cx="5376672" cy="713232"/>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 y="3931920"/>
            <a:ext cx="1783080" cy="274320"/>
          </a:xfrm>
          <a:prstGeom prst="roundRect">
            <a:avLst>
              <a:gd name="adj" fmla="val 45000"/>
            </a:avLst>
          </a:prstGeom>
          <a:solidFill>
            <a:srgbClr val="16294A"/>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959352"/>
            <a:ext cx="1691639" cy="219456"/>
          </a:xfrm>
          <a:prstGeom prst="rect">
            <a:avLst/>
          </a:prstGeom>
          <a:noFill/>
        </p:spPr>
        <p:txBody>
          <a:bodyPr wrap="square" anchor="ctr" lIns="0" rIns="0" tIns="0" bIns="0">
            <a:spAutoFit/>
          </a:bodyPr>
          <a:lstStyle/>
          <a:p>
            <a:pPr algn="ctr"/>
            <a:r>
              <a:rPr sz="1050" b="1" i="0">
                <a:solidFill>
                  <a:srgbClr val="4F8EF7"/>
                </a:solidFill>
                <a:latin typeface="Calibri"/>
              </a:rPr>
              <a:t>path_only</a:t>
            </a:r>
          </a:p>
        </p:txBody>
      </p:sp>
      <p:sp>
        <p:nvSpPr>
          <p:cNvPr id="20" name="Rounded Rectangle 19"/>
          <p:cNvSpPr/>
          <p:nvPr/>
        </p:nvSpPr>
        <p:spPr>
          <a:xfrm>
            <a:off x="4187952" y="3931920"/>
            <a:ext cx="1792224" cy="274320"/>
          </a:xfrm>
          <a:prstGeom prst="roundRect">
            <a:avLst>
              <a:gd name="adj" fmla="val 45000"/>
            </a:avLst>
          </a:prstGeom>
          <a:solidFill>
            <a:srgbClr val="16294A"/>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33672" y="3959352"/>
            <a:ext cx="1700784" cy="219456"/>
          </a:xfrm>
          <a:prstGeom prst="rect">
            <a:avLst/>
          </a:prstGeom>
          <a:noFill/>
        </p:spPr>
        <p:txBody>
          <a:bodyPr wrap="square" anchor="ctr" lIns="0" rIns="0" tIns="0" bIns="0">
            <a:spAutoFit/>
          </a:bodyPr>
          <a:lstStyle/>
          <a:p>
            <a:pPr algn="ctr"/>
            <a:r>
              <a:rPr sz="1000" b="1" i="0">
                <a:solidFill>
                  <a:srgbClr val="4F8EF7"/>
                </a:solidFill>
                <a:latin typeface="Calibri"/>
              </a:rPr>
              <a:t>Primary: No</a:t>
            </a:r>
          </a:p>
        </p:txBody>
      </p:sp>
      <p:sp>
        <p:nvSpPr>
          <p:cNvPr id="22" name="TextBox 21"/>
          <p:cNvSpPr txBox="1"/>
          <p:nvPr/>
        </p:nvSpPr>
        <p:spPr>
          <a:xfrm>
            <a:off x="822960" y="4261104"/>
            <a:ext cx="5157216" cy="256032"/>
          </a:xfrm>
          <a:prstGeom prst="rect">
            <a:avLst/>
          </a:prstGeom>
          <a:noFill/>
        </p:spPr>
        <p:txBody>
          <a:bodyPr wrap="square" anchor="t" lIns="0" rIns="0" tIns="0" bIns="0">
            <a:spAutoFit/>
          </a:bodyPr>
          <a:lstStyle/>
          <a:p>
            <a:pPr algn="l"/>
            <a:r>
              <a:rPr sz="1000" b="0" i="0">
                <a:solidFill>
                  <a:srgbClr val="A9BCDB"/>
                </a:solidFill>
                <a:latin typeface="Calibri"/>
              </a:rPr>
              <a:t>Inside sync root (is_subpath), client not running, no placeholder attributes.</a:t>
            </a:r>
          </a:p>
        </p:txBody>
      </p:sp>
      <p:sp>
        <p:nvSpPr>
          <p:cNvPr id="23" name="Rounded Rectangle 22"/>
          <p:cNvSpPr/>
          <p:nvPr/>
        </p:nvSpPr>
        <p:spPr>
          <a:xfrm>
            <a:off x="713232" y="4645152"/>
            <a:ext cx="5376672" cy="713232"/>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4672" y="4718304"/>
            <a:ext cx="1783080" cy="274320"/>
          </a:xfrm>
          <a:prstGeom prst="roundRect">
            <a:avLst>
              <a:gd name="adj" fmla="val 45000"/>
            </a:avLst>
          </a:prstGeom>
          <a:solidFill>
            <a:srgbClr val="16294A"/>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 y="4745736"/>
            <a:ext cx="1691639" cy="219456"/>
          </a:xfrm>
          <a:prstGeom prst="rect">
            <a:avLst/>
          </a:prstGeom>
          <a:noFill/>
        </p:spPr>
        <p:txBody>
          <a:bodyPr wrap="square" anchor="ctr" lIns="0" rIns="0" tIns="0" bIns="0">
            <a:spAutoFit/>
          </a:bodyPr>
          <a:lstStyle/>
          <a:p>
            <a:pPr algn="ctr"/>
            <a:r>
              <a:rPr sz="1050" b="1" i="0">
                <a:solidFill>
                  <a:srgbClr val="F5A524"/>
                </a:solidFill>
                <a:latin typeface="Calibri"/>
              </a:rPr>
              <a:t>potential_contention</a:t>
            </a:r>
          </a:p>
        </p:txBody>
      </p:sp>
      <p:sp>
        <p:nvSpPr>
          <p:cNvPr id="26" name="Rounded Rectangle 25"/>
          <p:cNvSpPr/>
          <p:nvPr/>
        </p:nvSpPr>
        <p:spPr>
          <a:xfrm>
            <a:off x="4187952" y="4718304"/>
            <a:ext cx="1792224" cy="274320"/>
          </a:xfrm>
          <a:prstGeom prst="roundRect">
            <a:avLst>
              <a:gd name="adj" fmla="val 45000"/>
            </a:avLst>
          </a:prstGeom>
          <a:solidFill>
            <a:srgbClr val="16294A"/>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33672" y="4745736"/>
            <a:ext cx="1700784" cy="219456"/>
          </a:xfrm>
          <a:prstGeom prst="rect">
            <a:avLst/>
          </a:prstGeom>
          <a:noFill/>
        </p:spPr>
        <p:txBody>
          <a:bodyPr wrap="square" anchor="ctr" lIns="0" rIns="0" tIns="0" bIns="0">
            <a:spAutoFit/>
          </a:bodyPr>
          <a:lstStyle/>
          <a:p>
            <a:pPr algn="ctr"/>
            <a:r>
              <a:rPr sz="1000" b="1" i="0">
                <a:solidFill>
                  <a:srgbClr val="F5A524"/>
                </a:solidFill>
                <a:latin typeface="Calibri"/>
              </a:rPr>
              <a:t>Primary: No</a:t>
            </a:r>
          </a:p>
        </p:txBody>
      </p:sp>
      <p:sp>
        <p:nvSpPr>
          <p:cNvPr id="28" name="TextBox 27"/>
          <p:cNvSpPr txBox="1"/>
          <p:nvPr/>
        </p:nvSpPr>
        <p:spPr>
          <a:xfrm>
            <a:off x="822960" y="5047488"/>
            <a:ext cx="5157216" cy="256032"/>
          </a:xfrm>
          <a:prstGeom prst="rect">
            <a:avLst/>
          </a:prstGeom>
          <a:noFill/>
        </p:spPr>
        <p:txBody>
          <a:bodyPr wrap="square" anchor="t" lIns="0" rIns="0" tIns="0" bIns="0">
            <a:spAutoFit/>
          </a:bodyPr>
          <a:lstStyle/>
          <a:p>
            <a:pPr algn="l"/>
            <a:r>
              <a:rPr sz="1000" b="0" i="0">
                <a:solidFill>
                  <a:srgbClr val="A9BCDB"/>
                </a:solidFill>
                <a:latin typeface="Calibri"/>
              </a:rPr>
              <a:t>Inside sync root with client running, or REPARSE_POINT / OFFLINE bits.</a:t>
            </a:r>
          </a:p>
        </p:txBody>
      </p:sp>
      <p:sp>
        <p:nvSpPr>
          <p:cNvPr id="29" name="Rounded Rectangle 28"/>
          <p:cNvSpPr/>
          <p:nvPr/>
        </p:nvSpPr>
        <p:spPr>
          <a:xfrm>
            <a:off x="713232" y="5431536"/>
            <a:ext cx="5376672" cy="713232"/>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5504688"/>
            <a:ext cx="1783080" cy="274320"/>
          </a:xfrm>
          <a:prstGeom prst="roundRect">
            <a:avLst>
              <a:gd name="adj" fmla="val 45000"/>
            </a:avLst>
          </a:prstGeom>
          <a:solidFill>
            <a:srgbClr val="16294A"/>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 y="5532120"/>
            <a:ext cx="1691639" cy="219456"/>
          </a:xfrm>
          <a:prstGeom prst="rect">
            <a:avLst/>
          </a:prstGeom>
          <a:noFill/>
        </p:spPr>
        <p:txBody>
          <a:bodyPr wrap="square" anchor="ctr" lIns="0" rIns="0" tIns="0" bIns="0">
            <a:spAutoFit/>
          </a:bodyPr>
          <a:lstStyle/>
          <a:p>
            <a:pPr algn="ctr"/>
            <a:r>
              <a:rPr sz="1050" b="1" i="0">
                <a:solidFill>
                  <a:srgbClr val="2DD4A7"/>
                </a:solidFill>
                <a:latin typeface="Calibri"/>
              </a:rPr>
              <a:t>confirmed_lock</a:t>
            </a:r>
          </a:p>
        </p:txBody>
      </p:sp>
      <p:sp>
        <p:nvSpPr>
          <p:cNvPr id="32" name="Rounded Rectangle 31"/>
          <p:cNvSpPr/>
          <p:nvPr/>
        </p:nvSpPr>
        <p:spPr>
          <a:xfrm>
            <a:off x="4187952" y="5504688"/>
            <a:ext cx="1792224" cy="274320"/>
          </a:xfrm>
          <a:prstGeom prst="roundRect">
            <a:avLst>
              <a:gd name="adj" fmla="val 45000"/>
            </a:avLst>
          </a:prstGeom>
          <a:solidFill>
            <a:srgbClr val="16294A"/>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33672" y="5532120"/>
            <a:ext cx="1700784" cy="219456"/>
          </a:xfrm>
          <a:prstGeom prst="rect">
            <a:avLst/>
          </a:prstGeom>
          <a:noFill/>
        </p:spPr>
        <p:txBody>
          <a:bodyPr wrap="square" anchor="ctr" lIns="0" rIns="0" tIns="0" bIns="0">
            <a:spAutoFit/>
          </a:bodyPr>
          <a:lstStyle/>
          <a:p>
            <a:pPr algn="ctr"/>
            <a:r>
              <a:rPr sz="1000" b="1" i="0">
                <a:solidFill>
                  <a:srgbClr val="2DD4A7"/>
                </a:solidFill>
                <a:latin typeface="Calibri"/>
              </a:rPr>
              <a:t>Rule 1: SYNC_CONFLICT</a:t>
            </a:r>
          </a:p>
        </p:txBody>
      </p:sp>
      <p:sp>
        <p:nvSpPr>
          <p:cNvPr id="34" name="TextBox 33"/>
          <p:cNvSpPr txBox="1"/>
          <p:nvPr/>
        </p:nvSpPr>
        <p:spPr>
          <a:xfrm>
            <a:off x="822960" y="5833872"/>
            <a:ext cx="5157216" cy="256032"/>
          </a:xfrm>
          <a:prstGeom prst="rect">
            <a:avLst/>
          </a:prstGeom>
          <a:noFill/>
        </p:spPr>
        <p:txBody>
          <a:bodyPr wrap="square" anchor="t" lIns="0" rIns="0" tIns="0" bIns="0">
            <a:spAutoFit/>
          </a:bodyPr>
          <a:lstStyle/>
          <a:p>
            <a:pPr algn="l"/>
            <a:r>
              <a:rPr sz="1000" b="0" i="0">
                <a:solidFill>
                  <a:srgbClr val="A9BCDB"/>
                </a:solidFill>
                <a:latin typeface="Calibri"/>
              </a:rPr>
              <a:t>correlate_sync_lock() matched a Restart Manager holder to a sync daemon.</a:t>
            </a:r>
          </a:p>
        </p:txBody>
      </p:sp>
      <p:sp>
        <p:nvSpPr>
          <p:cNvPr id="35" name="Rounded Rectangle 34"/>
          <p:cNvSpPr/>
          <p:nvPr/>
        </p:nvSpPr>
        <p:spPr>
          <a:xfrm>
            <a:off x="6473952" y="1133856"/>
            <a:ext cx="5212080" cy="5266944"/>
          </a:xfrm>
          <a:prstGeom prst="roundRect">
            <a:avLst>
              <a:gd name="adj" fmla="val 4000"/>
            </a:avLst>
          </a:prstGeom>
          <a:solidFill>
            <a:srgbClr val="16294A"/>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56832" y="1261872"/>
            <a:ext cx="4846320" cy="256032"/>
          </a:xfrm>
          <a:prstGeom prst="rect">
            <a:avLst/>
          </a:prstGeom>
          <a:noFill/>
        </p:spPr>
        <p:txBody>
          <a:bodyPr wrap="square" anchor="t" lIns="0" rIns="0" tIns="0" bIns="0">
            <a:spAutoFit/>
          </a:bodyPr>
          <a:lstStyle/>
          <a:p>
            <a:pPr algn="l"/>
            <a:r>
              <a:rPr sz="1150" b="1" i="0">
                <a:solidFill>
                  <a:srgbClr val="F5A524"/>
                </a:solidFill>
                <a:latin typeface="Calibri"/>
              </a:rPr>
              <a:t>SCENARIO 07 — NEGATIVE BOUNDARY CAPTURE</a:t>
            </a:r>
          </a:p>
        </p:txBody>
      </p:sp>
      <p:pic>
        <p:nvPicPr>
          <p:cNvPr id="37" name="Picture 36" descr="07_cloud_sync_negative_bottom.png"/>
          <p:cNvPicPr>
            <a:picLocks noChangeAspect="1"/>
          </p:cNvPicPr>
          <p:nvPr/>
        </p:nvPicPr>
        <p:blipFill>
          <a:blip r:embed="rId3"/>
          <a:stretch>
            <a:fillRect/>
          </a:stretch>
        </p:blipFill>
        <p:spPr>
          <a:xfrm>
            <a:off x="7571231" y="1536192"/>
            <a:ext cx="3017520" cy="2833761"/>
          </a:xfrm>
          <a:prstGeom prst="rect">
            <a:avLst/>
          </a:prstGeom>
          <a:ln>
            <a:noFill/>
          </a:ln>
        </p:spPr>
      </p:pic>
      <p:sp>
        <p:nvSpPr>
          <p:cNvPr id="38" name="Rounded Rectangle 37"/>
          <p:cNvSpPr/>
          <p:nvPr/>
        </p:nvSpPr>
        <p:spPr>
          <a:xfrm>
            <a:off x="6656832" y="4424816"/>
            <a:ext cx="4846320" cy="512064"/>
          </a:xfrm>
          <a:prstGeom prst="roundRect">
            <a:avLst>
              <a:gd name="adj" fmla="val 8000"/>
            </a:avLst>
          </a:prstGeom>
          <a:solidFill>
            <a:srgbClr val="0C1A30"/>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48272" y="4497968"/>
            <a:ext cx="4663440" cy="365760"/>
          </a:xfrm>
          <a:prstGeom prst="rect">
            <a:avLst/>
          </a:prstGeom>
          <a:noFill/>
        </p:spPr>
        <p:txBody>
          <a:bodyPr wrap="square" anchor="t" lIns="0" rIns="0" tIns="0" bIns="0">
            <a:spAutoFit/>
          </a:bodyPr>
          <a:lstStyle/>
          <a:p>
            <a:pPr algn="ctr"/>
            <a:r>
              <a:rPr sz="1050" b="1" i="0">
                <a:solidFill>
                  <a:srgbClr val="F5A524"/>
                </a:solidFill>
                <a:latin typeface="Calibri"/>
              </a:rPr>
              <a:t>Scenario 07 · READ on 01_normal_file.txt → OPERATION_ALLOWED
Cloud Sync Panel: "No provider association detected" (Negative Boundary)</a:t>
            </a:r>
          </a:p>
        </p:txBody>
      </p:sp>
      <p:sp>
        <p:nvSpPr>
          <p:cNvPr id="40" name="Rounded Rectangle 39"/>
          <p:cNvSpPr/>
          <p:nvPr/>
        </p:nvSpPr>
        <p:spPr>
          <a:xfrm>
            <a:off x="6656832" y="5010032"/>
            <a:ext cx="4846320" cy="1280160"/>
          </a:xfrm>
          <a:prstGeom prst="roundRect">
            <a:avLst>
              <a:gd name="adj" fmla="val 6000"/>
            </a:avLst>
          </a:prstGeom>
          <a:solidFill>
            <a:srgbClr val="0C1A3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84848" y="5083184"/>
            <a:ext cx="4590288" cy="1133856"/>
          </a:xfrm>
          <a:prstGeom prst="rect">
            <a:avLst/>
          </a:prstGeom>
          <a:noFill/>
        </p:spPr>
        <p:txBody>
          <a:bodyPr wrap="square" anchor="t" lIns="0" rIns="0" tIns="0" bIns="0">
            <a:spAutoFit/>
          </a:bodyPr>
          <a:lstStyle/>
          <a:p>
            <a:pPr algn="l">
              <a:spcAft>
                <a:spcPts val="300"/>
              </a:spcAft>
            </a:pPr>
            <a:r>
              <a:rPr sz="1100" b="1" i="0">
                <a:solidFill>
                  <a:srgbClr val="4F8EF7"/>
                </a:solidFill>
                <a:latin typeface="Calibri"/>
              </a:rPr>
              <a:t>Honest Verification Boundary (Section 6.9 &amp; Table 6.10)</a:t>
            </a:r>
          </a:p>
          <a:p>
            <a:pPr algn="l"/>
            <a:r>
              <a:rPr sz="1000" b="0" i="0">
                <a:solidFill>
                  <a:srgbClr val="A9BCDB"/>
                </a:solidFill>
                <a:latin typeface="Calibri"/>
              </a:rPr>
              <a:t>• Scenario 07 is a negative boundary case (file outside detected sync roots); no positive live OneDrive or Google Drive lock was demonstrated (live user sync folders were left untouched for safety).
• Confirmed provider-lock classification (SYNC_CONFLICT) and non-lock contention tiers are verified by 20 automated tests in test_sync_conflict.py and test_diagnoser.py using injected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11  •  TESTING &amp; VERIFICATION RESULTS</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Automated Regression Suite (Windows 11 Pro · pytest 9.1.1)</a:t>
            </a:r>
          </a:p>
        </p:txBody>
      </p:sp>
      <p:sp>
        <p:nvSpPr>
          <p:cNvPr id="4" name="Rounded Rectangle 3"/>
          <p:cNvSpPr/>
          <p:nvPr/>
        </p:nvSpPr>
        <p:spPr>
          <a:xfrm>
            <a:off x="502920" y="1133856"/>
            <a:ext cx="2651760" cy="1783080"/>
          </a:xfrm>
          <a:prstGeom prst="roundRect">
            <a:avLst>
              <a:gd name="adj" fmla="val 5000"/>
            </a:avLst>
          </a:prstGeom>
          <a:solidFill>
            <a:srgbClr val="16294A"/>
          </a:solidFill>
          <a:ln w="1524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43584"/>
            <a:ext cx="2468880" cy="1051560"/>
          </a:xfrm>
          <a:prstGeom prst="rect">
            <a:avLst/>
          </a:prstGeom>
          <a:noFill/>
        </p:spPr>
        <p:txBody>
          <a:bodyPr wrap="square" anchor="ctr" lIns="0" rIns="0" tIns="0" bIns="0">
            <a:spAutoFit/>
          </a:bodyPr>
          <a:lstStyle/>
          <a:p>
            <a:pPr algn="ctr"/>
            <a:r>
              <a:rPr sz="5400" b="1" i="0">
                <a:solidFill>
                  <a:srgbClr val="FFFFFF"/>
                </a:solidFill>
                <a:latin typeface="Cambria"/>
              </a:rPr>
              <a:t>157</a:t>
            </a:r>
          </a:p>
        </p:txBody>
      </p:sp>
      <p:sp>
        <p:nvSpPr>
          <p:cNvPr id="6" name="TextBox 5"/>
          <p:cNvSpPr txBox="1"/>
          <p:nvPr/>
        </p:nvSpPr>
        <p:spPr>
          <a:xfrm>
            <a:off x="594360" y="2414016"/>
            <a:ext cx="2468880" cy="310896"/>
          </a:xfrm>
          <a:prstGeom prst="rect">
            <a:avLst/>
          </a:prstGeom>
          <a:noFill/>
        </p:spPr>
        <p:txBody>
          <a:bodyPr wrap="square" anchor="t" lIns="0" rIns="0" tIns="0" bIns="0">
            <a:spAutoFit/>
          </a:bodyPr>
          <a:lstStyle/>
          <a:p>
            <a:pPr algn="ctr"/>
            <a:r>
              <a:rPr sz="1150" b="1" i="0">
                <a:solidFill>
                  <a:srgbClr val="4F8EF7"/>
                </a:solidFill>
                <a:latin typeface="Calibri"/>
              </a:rPr>
              <a:t>TESTS COLLECTED</a:t>
            </a:r>
          </a:p>
        </p:txBody>
      </p:sp>
      <p:sp>
        <p:nvSpPr>
          <p:cNvPr id="7" name="Rounded Rectangle 6"/>
          <p:cNvSpPr/>
          <p:nvPr/>
        </p:nvSpPr>
        <p:spPr>
          <a:xfrm>
            <a:off x="3346704" y="1133856"/>
            <a:ext cx="2651760" cy="1783080"/>
          </a:xfrm>
          <a:prstGeom prst="roundRect">
            <a:avLst>
              <a:gd name="adj" fmla="val 5000"/>
            </a:avLst>
          </a:prstGeom>
          <a:solidFill>
            <a:srgbClr val="16294A"/>
          </a:solidFill>
          <a:ln w="1524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38144" y="1243584"/>
            <a:ext cx="2468880" cy="1051560"/>
          </a:xfrm>
          <a:prstGeom prst="rect">
            <a:avLst/>
          </a:prstGeom>
          <a:noFill/>
        </p:spPr>
        <p:txBody>
          <a:bodyPr wrap="square" anchor="ctr" lIns="0" rIns="0" tIns="0" bIns="0">
            <a:spAutoFit/>
          </a:bodyPr>
          <a:lstStyle/>
          <a:p>
            <a:pPr algn="ctr"/>
            <a:r>
              <a:rPr sz="5400" b="1" i="0">
                <a:solidFill>
                  <a:srgbClr val="2DD4A7"/>
                </a:solidFill>
                <a:latin typeface="Cambria"/>
              </a:rPr>
              <a:t>156</a:t>
            </a:r>
          </a:p>
        </p:txBody>
      </p:sp>
      <p:sp>
        <p:nvSpPr>
          <p:cNvPr id="9" name="TextBox 8"/>
          <p:cNvSpPr txBox="1"/>
          <p:nvPr/>
        </p:nvSpPr>
        <p:spPr>
          <a:xfrm>
            <a:off x="3438144" y="2414016"/>
            <a:ext cx="2468880" cy="310896"/>
          </a:xfrm>
          <a:prstGeom prst="rect">
            <a:avLst/>
          </a:prstGeom>
          <a:noFill/>
        </p:spPr>
        <p:txBody>
          <a:bodyPr wrap="square" anchor="t" lIns="0" rIns="0" tIns="0" bIns="0">
            <a:spAutoFit/>
          </a:bodyPr>
          <a:lstStyle/>
          <a:p>
            <a:pPr algn="ctr"/>
            <a:r>
              <a:rPr sz="1150" b="1" i="0">
                <a:solidFill>
                  <a:srgbClr val="2DD4A7"/>
                </a:solidFill>
                <a:latin typeface="Calibri"/>
              </a:rPr>
              <a:t>PASSED</a:t>
            </a:r>
          </a:p>
        </p:txBody>
      </p:sp>
      <p:sp>
        <p:nvSpPr>
          <p:cNvPr id="10" name="Rounded Rectangle 9"/>
          <p:cNvSpPr/>
          <p:nvPr/>
        </p:nvSpPr>
        <p:spPr>
          <a:xfrm>
            <a:off x="6190488" y="1133856"/>
            <a:ext cx="2651760" cy="1783080"/>
          </a:xfrm>
          <a:prstGeom prst="roundRect">
            <a:avLst>
              <a:gd name="adj" fmla="val 5000"/>
            </a:avLst>
          </a:prstGeom>
          <a:solidFill>
            <a:srgbClr val="16294A"/>
          </a:solidFill>
          <a:ln w="1524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81927" y="1243584"/>
            <a:ext cx="2468880" cy="1051560"/>
          </a:xfrm>
          <a:prstGeom prst="rect">
            <a:avLst/>
          </a:prstGeom>
          <a:noFill/>
        </p:spPr>
        <p:txBody>
          <a:bodyPr wrap="square" anchor="ctr" lIns="0" rIns="0" tIns="0" bIns="0">
            <a:spAutoFit/>
          </a:bodyPr>
          <a:lstStyle/>
          <a:p>
            <a:pPr algn="ctr"/>
            <a:r>
              <a:rPr sz="5400" b="1" i="0">
                <a:solidFill>
                  <a:srgbClr val="FFFFFF"/>
                </a:solidFill>
                <a:latin typeface="Cambria"/>
              </a:rPr>
              <a:t>0</a:t>
            </a:r>
          </a:p>
        </p:txBody>
      </p:sp>
      <p:sp>
        <p:nvSpPr>
          <p:cNvPr id="12" name="TextBox 11"/>
          <p:cNvSpPr txBox="1"/>
          <p:nvPr/>
        </p:nvSpPr>
        <p:spPr>
          <a:xfrm>
            <a:off x="6281927" y="2414016"/>
            <a:ext cx="2468880" cy="310896"/>
          </a:xfrm>
          <a:prstGeom prst="rect">
            <a:avLst/>
          </a:prstGeom>
          <a:noFill/>
        </p:spPr>
        <p:txBody>
          <a:bodyPr wrap="square" anchor="t" lIns="0" rIns="0" tIns="0" bIns="0">
            <a:spAutoFit/>
          </a:bodyPr>
          <a:lstStyle/>
          <a:p>
            <a:pPr algn="ctr"/>
            <a:r>
              <a:rPr sz="1150" b="1" i="0">
                <a:solidFill>
                  <a:srgbClr val="C0392B"/>
                </a:solidFill>
                <a:latin typeface="Calibri"/>
              </a:rPr>
              <a:t>FAILED</a:t>
            </a:r>
          </a:p>
        </p:txBody>
      </p:sp>
      <p:sp>
        <p:nvSpPr>
          <p:cNvPr id="13" name="Rounded Rectangle 12"/>
          <p:cNvSpPr/>
          <p:nvPr/>
        </p:nvSpPr>
        <p:spPr>
          <a:xfrm>
            <a:off x="9034272" y="1133856"/>
            <a:ext cx="2651760" cy="1783080"/>
          </a:xfrm>
          <a:prstGeom prst="roundRect">
            <a:avLst>
              <a:gd name="adj" fmla="val 5000"/>
            </a:avLst>
          </a:prstGeom>
          <a:solidFill>
            <a:srgbClr val="16294A"/>
          </a:solidFill>
          <a:ln w="1524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25712" y="1243584"/>
            <a:ext cx="2468880" cy="1051560"/>
          </a:xfrm>
          <a:prstGeom prst="rect">
            <a:avLst/>
          </a:prstGeom>
          <a:noFill/>
        </p:spPr>
        <p:txBody>
          <a:bodyPr wrap="square" anchor="ctr" lIns="0" rIns="0" tIns="0" bIns="0">
            <a:spAutoFit/>
          </a:bodyPr>
          <a:lstStyle/>
          <a:p>
            <a:pPr algn="ctr"/>
            <a:r>
              <a:rPr sz="5400" b="1" i="0">
                <a:solidFill>
                  <a:srgbClr val="F5A524"/>
                </a:solidFill>
                <a:latin typeface="Cambria"/>
              </a:rPr>
              <a:t>1</a:t>
            </a:r>
          </a:p>
        </p:txBody>
      </p:sp>
      <p:sp>
        <p:nvSpPr>
          <p:cNvPr id="15" name="TextBox 14"/>
          <p:cNvSpPr txBox="1"/>
          <p:nvPr/>
        </p:nvSpPr>
        <p:spPr>
          <a:xfrm>
            <a:off x="9125712" y="2414016"/>
            <a:ext cx="2468880" cy="310896"/>
          </a:xfrm>
          <a:prstGeom prst="rect">
            <a:avLst/>
          </a:prstGeom>
          <a:noFill/>
        </p:spPr>
        <p:txBody>
          <a:bodyPr wrap="square" anchor="t" lIns="0" rIns="0" tIns="0" bIns="0">
            <a:spAutoFit/>
          </a:bodyPr>
          <a:lstStyle/>
          <a:p>
            <a:pPr algn="ctr"/>
            <a:r>
              <a:rPr sz="1150" b="1" i="0">
                <a:solidFill>
                  <a:srgbClr val="F5A524"/>
                </a:solidFill>
                <a:latin typeface="Calibri"/>
              </a:rPr>
              <a:t>SKIPPED (BY DESIGN)</a:t>
            </a:r>
          </a:p>
        </p:txBody>
      </p:sp>
      <p:sp>
        <p:nvSpPr>
          <p:cNvPr id="16" name="Rounded Rectangle 15"/>
          <p:cNvSpPr/>
          <p:nvPr/>
        </p:nvSpPr>
        <p:spPr>
          <a:xfrm>
            <a:off x="502920" y="3035808"/>
            <a:ext cx="11183112" cy="384048"/>
          </a:xfrm>
          <a:prstGeom prst="roundRect">
            <a:avLst>
              <a:gd name="adj" fmla="val 8000"/>
            </a:avLst>
          </a:prstGeom>
          <a:solidFill>
            <a:srgbClr val="1E3560"/>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072384"/>
            <a:ext cx="10817352" cy="310896"/>
          </a:xfrm>
          <a:prstGeom prst="rect">
            <a:avLst/>
          </a:prstGeom>
          <a:noFill/>
        </p:spPr>
        <p:txBody>
          <a:bodyPr wrap="square" anchor="ctr" lIns="0" rIns="0" tIns="0" bIns="0">
            <a:spAutoFit/>
          </a:bodyPr>
          <a:lstStyle/>
          <a:p>
            <a:pPr algn="ctr"/>
            <a:r>
              <a:rPr sz="1100" b="1" i="0">
                <a:solidFill>
                  <a:srgbClr val="FFFFFF"/>
                </a:solidFill>
                <a:latin typeface="Calibri"/>
              </a:rPr>
              <a:t>Verified Environment: Windows 11 Pro 64-bit   •   Python 3.13.14   •   pytest 9.1.1   •   Execution Time: 4.20 s   (Expanded from 72 tests in Review 2 to 157 final tests)</a:t>
            </a:r>
          </a:p>
        </p:txBody>
      </p:sp>
      <p:sp>
        <p:nvSpPr>
          <p:cNvPr id="18" name="Rounded Rectangle 17"/>
          <p:cNvSpPr/>
          <p:nvPr/>
        </p:nvSpPr>
        <p:spPr>
          <a:xfrm>
            <a:off x="502920" y="3529584"/>
            <a:ext cx="6720840" cy="2889504"/>
          </a:xfrm>
          <a:prstGeom prst="roundRect">
            <a:avLst>
              <a:gd name="adj" fmla="val 4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639312"/>
            <a:ext cx="6309360" cy="256032"/>
          </a:xfrm>
          <a:prstGeom prst="rect">
            <a:avLst/>
          </a:prstGeom>
          <a:noFill/>
        </p:spPr>
        <p:txBody>
          <a:bodyPr wrap="square" anchor="t" lIns="0" rIns="0" tIns="0" bIns="0">
            <a:spAutoFit/>
          </a:bodyPr>
          <a:lstStyle/>
          <a:p>
            <a:pPr algn="l"/>
            <a:r>
              <a:rPr sz="1100" b="1" i="0">
                <a:solidFill>
                  <a:srgbClr val="4F8EF7"/>
                </a:solidFill>
                <a:latin typeface="Calibri"/>
              </a:rPr>
              <a:t>FINAL-RUN TEST COUNTS BY MODULE (TABLE 6.5 — logs/test_results.txt)</a:t>
            </a:r>
          </a:p>
        </p:txBody>
      </p:sp>
      <p:sp>
        <p:nvSpPr>
          <p:cNvPr id="20" name="Rounded Rectangle 19"/>
          <p:cNvSpPr/>
          <p:nvPr/>
        </p:nvSpPr>
        <p:spPr>
          <a:xfrm>
            <a:off x="685800" y="3950208"/>
            <a:ext cx="6355080" cy="256032"/>
          </a:xfrm>
          <a:prstGeom prst="roundRect">
            <a:avLst>
              <a:gd name="adj" fmla="val 5000"/>
            </a:avLst>
          </a:prstGeom>
          <a:solidFill>
            <a:srgbClr val="0C1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986784"/>
            <a:ext cx="2057400" cy="182880"/>
          </a:xfrm>
          <a:prstGeom prst="rect">
            <a:avLst/>
          </a:prstGeom>
          <a:noFill/>
        </p:spPr>
        <p:txBody>
          <a:bodyPr wrap="square" anchor="t" lIns="0" rIns="0" tIns="0" bIns="0">
            <a:spAutoFit/>
          </a:bodyPr>
          <a:lstStyle/>
          <a:p>
            <a:pPr algn="l"/>
            <a:r>
              <a:rPr sz="1050" b="1" i="0">
                <a:solidFill>
                  <a:srgbClr val="FFFFFF"/>
                </a:solidFill>
                <a:latin typeface="Calibri"/>
              </a:rPr>
              <a:t>tests/test_diagnoser.py</a:t>
            </a:r>
          </a:p>
        </p:txBody>
      </p:sp>
      <p:sp>
        <p:nvSpPr>
          <p:cNvPr id="22" name="TextBox 21"/>
          <p:cNvSpPr txBox="1"/>
          <p:nvPr/>
        </p:nvSpPr>
        <p:spPr>
          <a:xfrm>
            <a:off x="2852928" y="3986784"/>
            <a:ext cx="1234440" cy="182880"/>
          </a:xfrm>
          <a:prstGeom prst="rect">
            <a:avLst/>
          </a:prstGeom>
          <a:noFill/>
        </p:spPr>
        <p:txBody>
          <a:bodyPr wrap="square" anchor="t" lIns="0" rIns="0" tIns="0" bIns="0">
            <a:spAutoFit/>
          </a:bodyPr>
          <a:lstStyle/>
          <a:p>
            <a:pPr algn="l"/>
            <a:r>
              <a:rPr sz="1000" b="1" i="0">
                <a:solidFill>
                  <a:srgbClr val="2DD4A7"/>
                </a:solidFill>
                <a:latin typeface="Calibri"/>
              </a:rPr>
              <a:t>43 / 43 Pass</a:t>
            </a:r>
          </a:p>
        </p:txBody>
      </p:sp>
      <p:sp>
        <p:nvSpPr>
          <p:cNvPr id="23" name="TextBox 22"/>
          <p:cNvSpPr txBox="1"/>
          <p:nvPr/>
        </p:nvSpPr>
        <p:spPr>
          <a:xfrm>
            <a:off x="4133087" y="3986784"/>
            <a:ext cx="2834640" cy="182880"/>
          </a:xfrm>
          <a:prstGeom prst="rect">
            <a:avLst/>
          </a:prstGeom>
          <a:noFill/>
        </p:spPr>
        <p:txBody>
          <a:bodyPr wrap="square" anchor="t" lIns="0" rIns="0" tIns="0" bIns="0">
            <a:spAutoFit/>
          </a:bodyPr>
          <a:lstStyle/>
          <a:p>
            <a:pPr algn="l"/>
            <a:r>
              <a:rPr sz="1000" b="0" i="0">
                <a:solidFill>
                  <a:srgbClr val="A9BCDB"/>
                </a:solidFill>
                <a:latin typeface="Calibri"/>
              </a:rPr>
              <a:t>Priority rules, correlation, secondary notes</a:t>
            </a:r>
          </a:p>
        </p:txBody>
      </p:sp>
      <p:sp>
        <p:nvSpPr>
          <p:cNvPr id="24" name="Rounded Rectangle 23"/>
          <p:cNvSpPr/>
          <p:nvPr/>
        </p:nvSpPr>
        <p:spPr>
          <a:xfrm>
            <a:off x="685800" y="4242816"/>
            <a:ext cx="6355080" cy="256032"/>
          </a:xfrm>
          <a:prstGeom prst="roundRect">
            <a:avLst>
              <a:gd name="adj" fmla="val 5000"/>
            </a:avLst>
          </a:prstGeom>
          <a:solidFill>
            <a:srgbClr val="1E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279392"/>
            <a:ext cx="2057400" cy="182880"/>
          </a:xfrm>
          <a:prstGeom prst="rect">
            <a:avLst/>
          </a:prstGeom>
          <a:noFill/>
        </p:spPr>
        <p:txBody>
          <a:bodyPr wrap="square" anchor="t" lIns="0" rIns="0" tIns="0" bIns="0">
            <a:spAutoFit/>
          </a:bodyPr>
          <a:lstStyle/>
          <a:p>
            <a:pPr algn="l"/>
            <a:r>
              <a:rPr sz="1050" b="1" i="0">
                <a:solidFill>
                  <a:srgbClr val="FFFFFF"/>
                </a:solidFill>
                <a:latin typeface="Calibri"/>
              </a:rPr>
              <a:t>tests/test_models.py</a:t>
            </a:r>
          </a:p>
        </p:txBody>
      </p:sp>
      <p:sp>
        <p:nvSpPr>
          <p:cNvPr id="26" name="TextBox 25"/>
          <p:cNvSpPr txBox="1"/>
          <p:nvPr/>
        </p:nvSpPr>
        <p:spPr>
          <a:xfrm>
            <a:off x="2852928" y="4279392"/>
            <a:ext cx="1234440" cy="182880"/>
          </a:xfrm>
          <a:prstGeom prst="rect">
            <a:avLst/>
          </a:prstGeom>
          <a:noFill/>
        </p:spPr>
        <p:txBody>
          <a:bodyPr wrap="square" anchor="t" lIns="0" rIns="0" tIns="0" bIns="0">
            <a:spAutoFit/>
          </a:bodyPr>
          <a:lstStyle/>
          <a:p>
            <a:pPr algn="l"/>
            <a:r>
              <a:rPr sz="1000" b="1" i="0">
                <a:solidFill>
                  <a:srgbClr val="2DD4A7"/>
                </a:solidFill>
                <a:latin typeface="Calibri"/>
              </a:rPr>
              <a:t>23 / 23 Pass</a:t>
            </a:r>
          </a:p>
        </p:txBody>
      </p:sp>
      <p:sp>
        <p:nvSpPr>
          <p:cNvPr id="27" name="TextBox 26"/>
          <p:cNvSpPr txBox="1"/>
          <p:nvPr/>
        </p:nvSpPr>
        <p:spPr>
          <a:xfrm>
            <a:off x="4133087" y="4279392"/>
            <a:ext cx="2834640" cy="182880"/>
          </a:xfrm>
          <a:prstGeom prst="rect">
            <a:avLst/>
          </a:prstGeom>
          <a:noFill/>
        </p:spPr>
        <p:txBody>
          <a:bodyPr wrap="square" anchor="t" lIns="0" rIns="0" tIns="0" bIns="0">
            <a:spAutoFit/>
          </a:bodyPr>
          <a:lstStyle/>
          <a:p>
            <a:pPr algn="l"/>
            <a:r>
              <a:rPr sz="1000" b="0" i="0">
                <a:solidFill>
                  <a:srgbClr val="A9BCDB"/>
                </a:solidFill>
                <a:latin typeface="Calibri"/>
              </a:rPr>
              <a:t>Enums &amp; structured result dataclasses</a:t>
            </a:r>
          </a:p>
        </p:txBody>
      </p:sp>
      <p:sp>
        <p:nvSpPr>
          <p:cNvPr id="28" name="Rounded Rectangle 27"/>
          <p:cNvSpPr/>
          <p:nvPr/>
        </p:nvSpPr>
        <p:spPr>
          <a:xfrm>
            <a:off x="685800" y="4535424"/>
            <a:ext cx="6355080" cy="256032"/>
          </a:xfrm>
          <a:prstGeom prst="roundRect">
            <a:avLst>
              <a:gd name="adj" fmla="val 5000"/>
            </a:avLst>
          </a:prstGeom>
          <a:solidFill>
            <a:srgbClr val="0C1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572000"/>
            <a:ext cx="2057400" cy="182880"/>
          </a:xfrm>
          <a:prstGeom prst="rect">
            <a:avLst/>
          </a:prstGeom>
          <a:noFill/>
        </p:spPr>
        <p:txBody>
          <a:bodyPr wrap="square" anchor="t" lIns="0" rIns="0" tIns="0" bIns="0">
            <a:spAutoFit/>
          </a:bodyPr>
          <a:lstStyle/>
          <a:p>
            <a:pPr algn="l"/>
            <a:r>
              <a:rPr sz="1050" b="1" i="0">
                <a:solidFill>
                  <a:srgbClr val="FFFFFF"/>
                </a:solidFill>
                <a:latin typeface="Calibri"/>
              </a:rPr>
              <a:t>tests/test_sync_conflict.py</a:t>
            </a:r>
          </a:p>
        </p:txBody>
      </p:sp>
      <p:sp>
        <p:nvSpPr>
          <p:cNvPr id="30" name="TextBox 29"/>
          <p:cNvSpPr txBox="1"/>
          <p:nvPr/>
        </p:nvSpPr>
        <p:spPr>
          <a:xfrm>
            <a:off x="2852928" y="4572000"/>
            <a:ext cx="1234440" cy="182880"/>
          </a:xfrm>
          <a:prstGeom prst="rect">
            <a:avLst/>
          </a:prstGeom>
          <a:noFill/>
        </p:spPr>
        <p:txBody>
          <a:bodyPr wrap="square" anchor="t" lIns="0" rIns="0" tIns="0" bIns="0">
            <a:spAutoFit/>
          </a:bodyPr>
          <a:lstStyle/>
          <a:p>
            <a:pPr algn="l"/>
            <a:r>
              <a:rPr sz="1000" b="1" i="0">
                <a:solidFill>
                  <a:srgbClr val="2DD4A7"/>
                </a:solidFill>
                <a:latin typeface="Calibri"/>
              </a:rPr>
              <a:t>20 / 20 Pass</a:t>
            </a:r>
          </a:p>
        </p:txBody>
      </p:sp>
      <p:sp>
        <p:nvSpPr>
          <p:cNvPr id="31" name="TextBox 30"/>
          <p:cNvSpPr txBox="1"/>
          <p:nvPr/>
        </p:nvSpPr>
        <p:spPr>
          <a:xfrm>
            <a:off x="4133087" y="4572000"/>
            <a:ext cx="2834640" cy="182880"/>
          </a:xfrm>
          <a:prstGeom prst="rect">
            <a:avLst/>
          </a:prstGeom>
          <a:noFill/>
        </p:spPr>
        <p:txBody>
          <a:bodyPr wrap="square" anchor="t" lIns="0" rIns="0" tIns="0" bIns="0">
            <a:spAutoFit/>
          </a:bodyPr>
          <a:lstStyle/>
          <a:p>
            <a:pPr algn="l"/>
            <a:r>
              <a:rPr sz="1000" b="0" i="0">
                <a:solidFill>
                  <a:srgbClr val="A9BCDB"/>
                </a:solidFill>
                <a:latin typeface="Calibri"/>
              </a:rPr>
              <a:t>OneDrive/Google Drive roots, tiers &amp; correlation</a:t>
            </a:r>
          </a:p>
        </p:txBody>
      </p:sp>
      <p:sp>
        <p:nvSpPr>
          <p:cNvPr id="32" name="Rounded Rectangle 31"/>
          <p:cNvSpPr/>
          <p:nvPr/>
        </p:nvSpPr>
        <p:spPr>
          <a:xfrm>
            <a:off x="685800" y="4828032"/>
            <a:ext cx="6355080" cy="256032"/>
          </a:xfrm>
          <a:prstGeom prst="roundRect">
            <a:avLst>
              <a:gd name="adj" fmla="val 5000"/>
            </a:avLst>
          </a:prstGeom>
          <a:solidFill>
            <a:srgbClr val="1E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864608"/>
            <a:ext cx="2057400" cy="182880"/>
          </a:xfrm>
          <a:prstGeom prst="rect">
            <a:avLst/>
          </a:prstGeom>
          <a:noFill/>
        </p:spPr>
        <p:txBody>
          <a:bodyPr wrap="square" anchor="t" lIns="0" rIns="0" tIns="0" bIns="0">
            <a:spAutoFit/>
          </a:bodyPr>
          <a:lstStyle/>
          <a:p>
            <a:pPr algn="l"/>
            <a:r>
              <a:rPr sz="1050" b="1" i="0">
                <a:solidFill>
                  <a:srgbClr val="FFFFFF"/>
                </a:solidFill>
                <a:latin typeface="Calibri"/>
              </a:rPr>
              <a:t>tests/test_permissions.py</a:t>
            </a:r>
          </a:p>
        </p:txBody>
      </p:sp>
      <p:sp>
        <p:nvSpPr>
          <p:cNvPr id="34" name="TextBox 33"/>
          <p:cNvSpPr txBox="1"/>
          <p:nvPr/>
        </p:nvSpPr>
        <p:spPr>
          <a:xfrm>
            <a:off x="2852928" y="4864608"/>
            <a:ext cx="1234440" cy="182880"/>
          </a:xfrm>
          <a:prstGeom prst="rect">
            <a:avLst/>
          </a:prstGeom>
          <a:noFill/>
        </p:spPr>
        <p:txBody>
          <a:bodyPr wrap="square" anchor="t" lIns="0" rIns="0" tIns="0" bIns="0">
            <a:spAutoFit/>
          </a:bodyPr>
          <a:lstStyle/>
          <a:p>
            <a:pPr algn="l"/>
            <a:r>
              <a:rPr sz="1000" b="1" i="0">
                <a:solidFill>
                  <a:srgbClr val="2DD4A7"/>
                </a:solidFill>
                <a:latin typeface="Calibri"/>
              </a:rPr>
              <a:t>19 / 19 Pass</a:t>
            </a:r>
          </a:p>
        </p:txBody>
      </p:sp>
      <p:sp>
        <p:nvSpPr>
          <p:cNvPr id="35" name="TextBox 34"/>
          <p:cNvSpPr txBox="1"/>
          <p:nvPr/>
        </p:nvSpPr>
        <p:spPr>
          <a:xfrm>
            <a:off x="4133087" y="4864608"/>
            <a:ext cx="2834640" cy="182880"/>
          </a:xfrm>
          <a:prstGeom prst="rect">
            <a:avLst/>
          </a:prstGeom>
          <a:noFill/>
        </p:spPr>
        <p:txBody>
          <a:bodyPr wrap="square" anchor="t" lIns="0" rIns="0" tIns="0" bIns="0">
            <a:spAutoFit/>
          </a:bodyPr>
          <a:lstStyle/>
          <a:p>
            <a:pPr algn="l"/>
            <a:r>
              <a:rPr sz="1000" b="0" i="0">
                <a:solidFill>
                  <a:srgbClr val="A9BCDB"/>
                </a:solidFill>
                <a:latin typeface="Calibri"/>
              </a:rPr>
              <a:t>os.access() flags, DELETE &amp; Win32 owner</a:t>
            </a:r>
          </a:p>
        </p:txBody>
      </p:sp>
      <p:sp>
        <p:nvSpPr>
          <p:cNvPr id="36" name="Rounded Rectangle 35"/>
          <p:cNvSpPr/>
          <p:nvPr/>
        </p:nvSpPr>
        <p:spPr>
          <a:xfrm>
            <a:off x="685800" y="5120640"/>
            <a:ext cx="6355080" cy="256032"/>
          </a:xfrm>
          <a:prstGeom prst="roundRect">
            <a:avLst>
              <a:gd name="adj" fmla="val 5000"/>
            </a:avLst>
          </a:prstGeom>
          <a:solidFill>
            <a:srgbClr val="0C1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157216"/>
            <a:ext cx="2057400" cy="182880"/>
          </a:xfrm>
          <a:prstGeom prst="rect">
            <a:avLst/>
          </a:prstGeom>
          <a:noFill/>
        </p:spPr>
        <p:txBody>
          <a:bodyPr wrap="square" anchor="t" lIns="0" rIns="0" tIns="0" bIns="0">
            <a:spAutoFit/>
          </a:bodyPr>
          <a:lstStyle/>
          <a:p>
            <a:pPr algn="l"/>
            <a:r>
              <a:rPr sz="1050" b="1" i="0">
                <a:solidFill>
                  <a:srgbClr val="FFFFFF"/>
                </a:solidFill>
                <a:latin typeface="Calibri"/>
              </a:rPr>
              <a:t>tests/test_gui.py</a:t>
            </a:r>
          </a:p>
        </p:txBody>
      </p:sp>
      <p:sp>
        <p:nvSpPr>
          <p:cNvPr id="38" name="TextBox 37"/>
          <p:cNvSpPr txBox="1"/>
          <p:nvPr/>
        </p:nvSpPr>
        <p:spPr>
          <a:xfrm>
            <a:off x="2852928" y="5157216"/>
            <a:ext cx="1234440" cy="182880"/>
          </a:xfrm>
          <a:prstGeom prst="rect">
            <a:avLst/>
          </a:prstGeom>
          <a:noFill/>
        </p:spPr>
        <p:txBody>
          <a:bodyPr wrap="square" anchor="t" lIns="0" rIns="0" tIns="0" bIns="0">
            <a:spAutoFit/>
          </a:bodyPr>
          <a:lstStyle/>
          <a:p>
            <a:pPr algn="l"/>
            <a:r>
              <a:rPr sz="1000" b="1" i="0">
                <a:solidFill>
                  <a:srgbClr val="2DD4A7"/>
                </a:solidFill>
                <a:latin typeface="Calibri"/>
              </a:rPr>
              <a:t>17 / 17 Pass</a:t>
            </a:r>
          </a:p>
        </p:txBody>
      </p:sp>
      <p:sp>
        <p:nvSpPr>
          <p:cNvPr id="39" name="TextBox 38"/>
          <p:cNvSpPr txBox="1"/>
          <p:nvPr/>
        </p:nvSpPr>
        <p:spPr>
          <a:xfrm>
            <a:off x="4133087" y="5157216"/>
            <a:ext cx="2834640" cy="182880"/>
          </a:xfrm>
          <a:prstGeom prst="rect">
            <a:avLst/>
          </a:prstGeom>
          <a:noFill/>
        </p:spPr>
        <p:txBody>
          <a:bodyPr wrap="square" anchor="t" lIns="0" rIns="0" tIns="0" bIns="0">
            <a:spAutoFit/>
          </a:bodyPr>
          <a:lstStyle/>
          <a:p>
            <a:pPr algn="l"/>
            <a:r>
              <a:rPr sz="1000" b="0" i="0">
                <a:solidFill>
                  <a:srgbClr val="A9BCDB"/>
                </a:solidFill>
                <a:latin typeface="Calibri"/>
              </a:rPr>
              <a:t>MainWindow panels, _reset_panels() &amp; badges</a:t>
            </a:r>
          </a:p>
        </p:txBody>
      </p:sp>
      <p:sp>
        <p:nvSpPr>
          <p:cNvPr id="40" name="Rounded Rectangle 39"/>
          <p:cNvSpPr/>
          <p:nvPr/>
        </p:nvSpPr>
        <p:spPr>
          <a:xfrm>
            <a:off x="685800" y="5413248"/>
            <a:ext cx="6355080" cy="256032"/>
          </a:xfrm>
          <a:prstGeom prst="roundRect">
            <a:avLst>
              <a:gd name="adj" fmla="val 5000"/>
            </a:avLst>
          </a:prstGeom>
          <a:solidFill>
            <a:srgbClr val="1E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5449824"/>
            <a:ext cx="2057400" cy="182880"/>
          </a:xfrm>
          <a:prstGeom prst="rect">
            <a:avLst/>
          </a:prstGeom>
          <a:noFill/>
        </p:spPr>
        <p:txBody>
          <a:bodyPr wrap="square" anchor="t" lIns="0" rIns="0" tIns="0" bIns="0">
            <a:spAutoFit/>
          </a:bodyPr>
          <a:lstStyle/>
          <a:p>
            <a:pPr algn="l"/>
            <a:r>
              <a:rPr sz="1050" b="1" i="0">
                <a:solidFill>
                  <a:srgbClr val="FFFFFF"/>
                </a:solidFill>
                <a:latin typeface="Calibri"/>
              </a:rPr>
              <a:t>tests/test_recommender.py</a:t>
            </a:r>
          </a:p>
        </p:txBody>
      </p:sp>
      <p:sp>
        <p:nvSpPr>
          <p:cNvPr id="42" name="TextBox 41"/>
          <p:cNvSpPr txBox="1"/>
          <p:nvPr/>
        </p:nvSpPr>
        <p:spPr>
          <a:xfrm>
            <a:off x="2852928" y="5449824"/>
            <a:ext cx="1234440" cy="182880"/>
          </a:xfrm>
          <a:prstGeom prst="rect">
            <a:avLst/>
          </a:prstGeom>
          <a:noFill/>
        </p:spPr>
        <p:txBody>
          <a:bodyPr wrap="square" anchor="t" lIns="0" rIns="0" tIns="0" bIns="0">
            <a:spAutoFit/>
          </a:bodyPr>
          <a:lstStyle/>
          <a:p>
            <a:pPr algn="l"/>
            <a:r>
              <a:rPr sz="1000" b="1" i="0">
                <a:solidFill>
                  <a:srgbClr val="2DD4A7"/>
                </a:solidFill>
                <a:latin typeface="Calibri"/>
              </a:rPr>
              <a:t>15 / 15 Pass</a:t>
            </a:r>
          </a:p>
        </p:txBody>
      </p:sp>
      <p:sp>
        <p:nvSpPr>
          <p:cNvPr id="43" name="TextBox 42"/>
          <p:cNvSpPr txBox="1"/>
          <p:nvPr/>
        </p:nvSpPr>
        <p:spPr>
          <a:xfrm>
            <a:off x="4133087" y="5449824"/>
            <a:ext cx="2834640" cy="182880"/>
          </a:xfrm>
          <a:prstGeom prst="rect">
            <a:avLst/>
          </a:prstGeom>
          <a:noFill/>
        </p:spPr>
        <p:txBody>
          <a:bodyPr wrap="square" anchor="t" lIns="0" rIns="0" tIns="0" bIns="0">
            <a:spAutoFit/>
          </a:bodyPr>
          <a:lstStyle/>
          <a:p>
            <a:pPr algn="l"/>
            <a:r>
              <a:rPr sz="1000" b="0" i="0">
                <a:solidFill>
                  <a:srgbClr val="A9BCDB"/>
                </a:solidFill>
                <a:latin typeface="Calibri"/>
              </a:rPr>
              <a:t>Advisory text across all 7 DiagnosisTypes</a:t>
            </a:r>
          </a:p>
        </p:txBody>
      </p:sp>
      <p:sp>
        <p:nvSpPr>
          <p:cNvPr id="44" name="Rounded Rectangle 43"/>
          <p:cNvSpPr/>
          <p:nvPr/>
        </p:nvSpPr>
        <p:spPr>
          <a:xfrm>
            <a:off x="685800" y="5705856"/>
            <a:ext cx="6355080" cy="256032"/>
          </a:xfrm>
          <a:prstGeom prst="roundRect">
            <a:avLst>
              <a:gd name="adj" fmla="val 5000"/>
            </a:avLst>
          </a:prstGeom>
          <a:solidFill>
            <a:srgbClr val="0C1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742432"/>
            <a:ext cx="2057400" cy="182880"/>
          </a:xfrm>
          <a:prstGeom prst="rect">
            <a:avLst/>
          </a:prstGeom>
          <a:noFill/>
        </p:spPr>
        <p:txBody>
          <a:bodyPr wrap="square" anchor="t" lIns="0" rIns="0" tIns="0" bIns="0">
            <a:spAutoFit/>
          </a:bodyPr>
          <a:lstStyle/>
          <a:p>
            <a:pPr algn="l"/>
            <a:r>
              <a:rPr sz="1050" b="1" i="0">
                <a:solidFill>
                  <a:srgbClr val="FFFFFF"/>
                </a:solidFill>
                <a:latin typeface="Calibri"/>
              </a:rPr>
              <a:t>tests/test_file_attributes.py</a:t>
            </a:r>
          </a:p>
        </p:txBody>
      </p:sp>
      <p:sp>
        <p:nvSpPr>
          <p:cNvPr id="46" name="TextBox 45"/>
          <p:cNvSpPr txBox="1"/>
          <p:nvPr/>
        </p:nvSpPr>
        <p:spPr>
          <a:xfrm>
            <a:off x="2852928" y="5742432"/>
            <a:ext cx="1234440" cy="182880"/>
          </a:xfrm>
          <a:prstGeom prst="rect">
            <a:avLst/>
          </a:prstGeom>
          <a:noFill/>
        </p:spPr>
        <p:txBody>
          <a:bodyPr wrap="square" anchor="t" lIns="0" rIns="0" tIns="0" bIns="0">
            <a:spAutoFit/>
          </a:bodyPr>
          <a:lstStyle/>
          <a:p>
            <a:pPr algn="l"/>
            <a:r>
              <a:rPr sz="1000" b="1" i="0">
                <a:solidFill>
                  <a:srgbClr val="2DD4A7"/>
                </a:solidFill>
                <a:latin typeface="Calibri"/>
              </a:rPr>
              <a:t>12 / 12 Pass</a:t>
            </a:r>
          </a:p>
        </p:txBody>
      </p:sp>
      <p:sp>
        <p:nvSpPr>
          <p:cNvPr id="47" name="TextBox 46"/>
          <p:cNvSpPr txBox="1"/>
          <p:nvPr/>
        </p:nvSpPr>
        <p:spPr>
          <a:xfrm>
            <a:off x="4133087" y="5742432"/>
            <a:ext cx="2834640" cy="182880"/>
          </a:xfrm>
          <a:prstGeom prst="rect">
            <a:avLst/>
          </a:prstGeom>
          <a:noFill/>
        </p:spPr>
        <p:txBody>
          <a:bodyPr wrap="square" anchor="t" lIns="0" rIns="0" tIns="0" bIns="0">
            <a:spAutoFit/>
          </a:bodyPr>
          <a:lstStyle/>
          <a:p>
            <a:pPr algn="l"/>
            <a:r>
              <a:rPr sz="1000" b="0" i="0">
                <a:solidFill>
                  <a:srgbClr val="A9BCDB"/>
                </a:solidFill>
                <a:latin typeface="Calibri"/>
              </a:rPr>
              <a:t>Win32 attribute bitmask &amp; 6 flag decodings</a:t>
            </a:r>
          </a:p>
        </p:txBody>
      </p:sp>
      <p:sp>
        <p:nvSpPr>
          <p:cNvPr id="48" name="Rounded Rectangle 47"/>
          <p:cNvSpPr/>
          <p:nvPr/>
        </p:nvSpPr>
        <p:spPr>
          <a:xfrm>
            <a:off x="685800" y="5998464"/>
            <a:ext cx="6355080" cy="256032"/>
          </a:xfrm>
          <a:prstGeom prst="roundRect">
            <a:avLst>
              <a:gd name="adj" fmla="val 5000"/>
            </a:avLst>
          </a:prstGeom>
          <a:solidFill>
            <a:srgbClr val="1E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7240" y="6035040"/>
            <a:ext cx="2057400" cy="182880"/>
          </a:xfrm>
          <a:prstGeom prst="rect">
            <a:avLst/>
          </a:prstGeom>
          <a:noFill/>
        </p:spPr>
        <p:txBody>
          <a:bodyPr wrap="square" anchor="t" lIns="0" rIns="0" tIns="0" bIns="0">
            <a:spAutoFit/>
          </a:bodyPr>
          <a:lstStyle/>
          <a:p>
            <a:pPr algn="l"/>
            <a:r>
              <a:rPr sz="1050" b="1" i="0">
                <a:solidFill>
                  <a:srgbClr val="FFFFFF"/>
                </a:solidFill>
                <a:latin typeface="Calibri"/>
              </a:rPr>
              <a:t>tests/test_process_lock.py</a:t>
            </a:r>
          </a:p>
        </p:txBody>
      </p:sp>
      <p:sp>
        <p:nvSpPr>
          <p:cNvPr id="50" name="TextBox 49"/>
          <p:cNvSpPr txBox="1"/>
          <p:nvPr/>
        </p:nvSpPr>
        <p:spPr>
          <a:xfrm>
            <a:off x="2852928" y="6035040"/>
            <a:ext cx="1234440" cy="182880"/>
          </a:xfrm>
          <a:prstGeom prst="rect">
            <a:avLst/>
          </a:prstGeom>
          <a:noFill/>
        </p:spPr>
        <p:txBody>
          <a:bodyPr wrap="square" anchor="t" lIns="0" rIns="0" tIns="0" bIns="0">
            <a:spAutoFit/>
          </a:bodyPr>
          <a:lstStyle/>
          <a:p>
            <a:pPr algn="l"/>
            <a:r>
              <a:rPr sz="1000" b="1" i="0">
                <a:solidFill>
                  <a:srgbClr val="F5A524"/>
                </a:solidFill>
                <a:latin typeface="Calibri"/>
              </a:rPr>
              <a:t>7 / 8 Pass (1 Skip)</a:t>
            </a:r>
          </a:p>
        </p:txBody>
      </p:sp>
      <p:sp>
        <p:nvSpPr>
          <p:cNvPr id="51" name="TextBox 50"/>
          <p:cNvSpPr txBox="1"/>
          <p:nvPr/>
        </p:nvSpPr>
        <p:spPr>
          <a:xfrm>
            <a:off x="4133087" y="6035040"/>
            <a:ext cx="2834640" cy="182880"/>
          </a:xfrm>
          <a:prstGeom prst="rect">
            <a:avLst/>
          </a:prstGeom>
          <a:noFill/>
        </p:spPr>
        <p:txBody>
          <a:bodyPr wrap="square" anchor="t" lIns="0" rIns="0" tIns="0" bIns="0">
            <a:spAutoFit/>
          </a:bodyPr>
          <a:lstStyle/>
          <a:p>
            <a:pPr algn="l"/>
            <a:r>
              <a:rPr sz="1000" b="0" i="0">
                <a:solidFill>
                  <a:srgbClr val="A9BCDB"/>
                </a:solidFill>
                <a:latin typeface="Calibri"/>
              </a:rPr>
              <a:t>Restart Manager lock checks &amp; platform guard</a:t>
            </a:r>
          </a:p>
        </p:txBody>
      </p:sp>
      <p:sp>
        <p:nvSpPr>
          <p:cNvPr id="52" name="Rounded Rectangle 51"/>
          <p:cNvSpPr/>
          <p:nvPr/>
        </p:nvSpPr>
        <p:spPr>
          <a:xfrm>
            <a:off x="7388352" y="3529584"/>
            <a:ext cx="4297680" cy="2889504"/>
          </a:xfrm>
          <a:prstGeom prst="roundRect">
            <a:avLst>
              <a:gd name="adj" fmla="val 4000"/>
            </a:avLst>
          </a:prstGeom>
          <a:solidFill>
            <a:srgbClr val="16294A"/>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589520" y="3675887"/>
            <a:ext cx="146304" cy="146304"/>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08975" y="3639312"/>
            <a:ext cx="3657600" cy="256032"/>
          </a:xfrm>
          <a:prstGeom prst="rect">
            <a:avLst/>
          </a:prstGeom>
          <a:noFill/>
        </p:spPr>
        <p:txBody>
          <a:bodyPr wrap="square" anchor="t" lIns="0" rIns="0" tIns="0" bIns="0">
            <a:spAutoFit/>
          </a:bodyPr>
          <a:lstStyle/>
          <a:p>
            <a:pPr algn="l"/>
            <a:r>
              <a:rPr sz="1100" b="1" i="0">
                <a:solidFill>
                  <a:srgbClr val="F5A524"/>
                </a:solidFill>
                <a:latin typeface="Calibri"/>
              </a:rPr>
              <a:t>WHY 1 TEST IS SKIPPED ON WINDOWS</a:t>
            </a:r>
          </a:p>
        </p:txBody>
      </p:sp>
      <p:sp>
        <p:nvSpPr>
          <p:cNvPr id="55" name="TextBox 54"/>
          <p:cNvSpPr txBox="1"/>
          <p:nvPr/>
        </p:nvSpPr>
        <p:spPr>
          <a:xfrm>
            <a:off x="7589520" y="3968496"/>
            <a:ext cx="3895344" cy="2340864"/>
          </a:xfrm>
          <a:prstGeom prst="rect">
            <a:avLst/>
          </a:prstGeom>
          <a:noFill/>
        </p:spPr>
        <p:txBody>
          <a:bodyPr wrap="square" anchor="t" lIns="0" rIns="0" tIns="0" bIns="0">
            <a:spAutoFit/>
          </a:bodyPr>
          <a:lstStyle/>
          <a:p>
            <a:pPr algn="l">
              <a:spcAft>
                <a:spcPts val="400"/>
              </a:spcAft>
            </a:pPr>
            <a:r>
              <a:rPr sz="1050" b="1" i="0">
                <a:solidFill>
                  <a:srgbClr val="FFFFFF"/>
                </a:solidFill>
                <a:latin typeface="Calibri"/>
              </a:rPr>
              <a:t>TestProcessLockAnalyzerCrossPlatform :: test_unsupported_platform_message</a:t>
            </a:r>
          </a:p>
          <a:p>
            <a:pPr algn="l">
              <a:spcAft>
                <a:spcPts val="800"/>
              </a:spcAft>
            </a:pPr>
            <a:r>
              <a:rPr sz="1050" b="0" i="0">
                <a:solidFill>
                  <a:srgbClr val="A9BCDB"/>
                </a:solidFill>
                <a:latin typeface="Calibri"/>
              </a:rPr>
              <a:t>• Decorated with @pytest.mark.skipif(sys.platform == 'win32', reason='Non-Windows platform check only').
• Verifies the fallback message returned when ProcessLockAnalyzer runs on POSIX/non-Windows platforms; on Windows 11 it is skipped by design while live Restart Manager tests run and pass.</a:t>
            </a:r>
          </a:p>
          <a:p>
            <a:pPr algn="l">
              <a:spcAft>
                <a:spcPts val="200"/>
              </a:spcAft>
            </a:pPr>
            <a:r>
              <a:rPr sz="1100" b="1" i="0">
                <a:solidFill>
                  <a:srgbClr val="4F8EF7"/>
                </a:solidFill>
                <a:latin typeface="Calibri"/>
              </a:rPr>
              <a:t>Automated Tests vs. Live GUI Demonstrations</a:t>
            </a:r>
          </a:p>
          <a:p>
            <a:pPr algn="l"/>
            <a:r>
              <a:rPr sz="1000" b="0" i="0">
                <a:solidFill>
                  <a:srgbClr val="A9BCDB"/>
                </a:solidFill>
                <a:latin typeface="Calibri"/>
              </a:rPr>
              <a:t>Automated tests (with injected + real OS state) verify all 7 classification branches; live GUI scenario runs (Slide 12) are reported separately.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12  •  LIVE SCENARIO RESULTS &amp; LIMITATIONS</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Live Scenario Outcomes, Scenario 05 (BLOCKED) and Limitations</a:t>
            </a:r>
          </a:p>
        </p:txBody>
      </p:sp>
      <p:sp>
        <p:nvSpPr>
          <p:cNvPr id="4" name="Rounded Rectangle 3"/>
          <p:cNvSpPr/>
          <p:nvPr/>
        </p:nvSpPr>
        <p:spPr>
          <a:xfrm>
            <a:off x="502920" y="1133856"/>
            <a:ext cx="2651760" cy="987552"/>
          </a:xfrm>
          <a:prstGeom prst="roundRect">
            <a:avLst>
              <a:gd name="adj" fmla="val 6000"/>
            </a:avLst>
          </a:prstGeom>
          <a:solidFill>
            <a:srgbClr val="16294A"/>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 y="1188720"/>
            <a:ext cx="777240" cy="566928"/>
          </a:xfrm>
          <a:prstGeom prst="rect">
            <a:avLst/>
          </a:prstGeom>
          <a:noFill/>
        </p:spPr>
        <p:txBody>
          <a:bodyPr wrap="square" anchor="ctr" lIns="0" rIns="0" tIns="0" bIns="0">
            <a:spAutoFit/>
          </a:bodyPr>
          <a:lstStyle/>
          <a:p>
            <a:pPr algn="ctr"/>
            <a:r>
              <a:rPr sz="3200" b="1" i="0">
                <a:solidFill>
                  <a:srgbClr val="4F8EF7"/>
                </a:solidFill>
                <a:latin typeface="Cambria"/>
              </a:rPr>
              <a:t>14</a:t>
            </a:r>
          </a:p>
        </p:txBody>
      </p:sp>
      <p:sp>
        <p:nvSpPr>
          <p:cNvPr id="6" name="TextBox 5"/>
          <p:cNvSpPr txBox="1"/>
          <p:nvPr/>
        </p:nvSpPr>
        <p:spPr>
          <a:xfrm>
            <a:off x="1435608" y="1225296"/>
            <a:ext cx="1627632" cy="786384"/>
          </a:xfrm>
          <a:prstGeom prst="rect">
            <a:avLst/>
          </a:prstGeom>
          <a:noFill/>
        </p:spPr>
        <p:txBody>
          <a:bodyPr wrap="square" anchor="t" lIns="0" rIns="0" tIns="0" bIns="0">
            <a:spAutoFit/>
          </a:bodyPr>
          <a:lstStyle/>
          <a:p>
            <a:pPr algn="l">
              <a:spcAft>
                <a:spcPts val="200"/>
              </a:spcAft>
            </a:pPr>
            <a:r>
              <a:rPr sz="1050" b="1" i="0">
                <a:solidFill>
                  <a:srgbClr val="FFFFFF"/>
                </a:solidFill>
                <a:latin typeface="Calibri"/>
              </a:rPr>
              <a:t>LOGICAL SCENARIO GROUPS</a:t>
            </a:r>
          </a:p>
          <a:p>
            <a:pPr algn="l"/>
            <a:r>
              <a:rPr sz="1000" b="0" i="0">
                <a:solidFill>
                  <a:srgbClr val="A9BCDB"/>
                </a:solidFill>
                <a:latin typeface="Calibri"/>
              </a:rPr>
              <a:t>Scenarios 01–14 in manifest v5</a:t>
            </a:r>
          </a:p>
        </p:txBody>
      </p:sp>
      <p:sp>
        <p:nvSpPr>
          <p:cNvPr id="7" name="Rounded Rectangle 6"/>
          <p:cNvSpPr/>
          <p:nvPr/>
        </p:nvSpPr>
        <p:spPr>
          <a:xfrm>
            <a:off x="3346704" y="1133856"/>
            <a:ext cx="2651760" cy="987552"/>
          </a:xfrm>
          <a:prstGeom prst="roundRect">
            <a:avLst>
              <a:gd name="adj" fmla="val 6000"/>
            </a:avLst>
          </a:prstGeom>
          <a:solidFill>
            <a:srgbClr val="16294A"/>
          </a:solidFill>
          <a:ln w="1270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1188720"/>
            <a:ext cx="777240" cy="566928"/>
          </a:xfrm>
          <a:prstGeom prst="rect">
            <a:avLst/>
          </a:prstGeom>
          <a:noFill/>
        </p:spPr>
        <p:txBody>
          <a:bodyPr wrap="square" anchor="ctr" lIns="0" rIns="0" tIns="0" bIns="0">
            <a:spAutoFit/>
          </a:bodyPr>
          <a:lstStyle/>
          <a:p>
            <a:pPr algn="ctr"/>
            <a:r>
              <a:rPr sz="3200" b="1" i="0">
                <a:solidFill>
                  <a:srgbClr val="4F8EF7"/>
                </a:solidFill>
                <a:latin typeface="Cambria"/>
              </a:rPr>
              <a:t>16</a:t>
            </a:r>
          </a:p>
        </p:txBody>
      </p:sp>
      <p:sp>
        <p:nvSpPr>
          <p:cNvPr id="9" name="TextBox 8"/>
          <p:cNvSpPr txBox="1"/>
          <p:nvPr/>
        </p:nvSpPr>
        <p:spPr>
          <a:xfrm>
            <a:off x="4279392" y="1225296"/>
            <a:ext cx="1627632" cy="786384"/>
          </a:xfrm>
          <a:prstGeom prst="rect">
            <a:avLst/>
          </a:prstGeom>
          <a:noFill/>
        </p:spPr>
        <p:txBody>
          <a:bodyPr wrap="square" anchor="t" lIns="0" rIns="0" tIns="0" bIns="0">
            <a:spAutoFit/>
          </a:bodyPr>
          <a:lstStyle/>
          <a:p>
            <a:pPr algn="l">
              <a:spcAft>
                <a:spcPts val="200"/>
              </a:spcAft>
            </a:pPr>
            <a:r>
              <a:rPr sz="1050" b="1" i="0">
                <a:solidFill>
                  <a:srgbClr val="FFFFFF"/>
                </a:solidFill>
                <a:latin typeface="Calibri"/>
              </a:rPr>
              <a:t>INDIVIDUAL EXECUTIONS</a:t>
            </a:r>
          </a:p>
          <a:p>
            <a:pPr algn="l"/>
            <a:r>
              <a:rPr sz="1000" b="0" i="0">
                <a:solidFill>
                  <a:srgbClr val="A9BCDB"/>
                </a:solidFill>
                <a:latin typeface="Calibri"/>
              </a:rPr>
              <a:t>Includes 01a/01b &amp; 04a/04b pairs</a:t>
            </a:r>
          </a:p>
        </p:txBody>
      </p:sp>
      <p:sp>
        <p:nvSpPr>
          <p:cNvPr id="10" name="Rounded Rectangle 9"/>
          <p:cNvSpPr/>
          <p:nvPr/>
        </p:nvSpPr>
        <p:spPr>
          <a:xfrm>
            <a:off x="6190488" y="1133856"/>
            <a:ext cx="2651760" cy="987552"/>
          </a:xfrm>
          <a:prstGeom prst="roundRect">
            <a:avLst>
              <a:gd name="adj" fmla="val 6000"/>
            </a:avLst>
          </a:prstGeom>
          <a:solidFill>
            <a:srgbClr val="16294A"/>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3" y="1188720"/>
            <a:ext cx="777240" cy="566928"/>
          </a:xfrm>
          <a:prstGeom prst="rect">
            <a:avLst/>
          </a:prstGeom>
          <a:noFill/>
        </p:spPr>
        <p:txBody>
          <a:bodyPr wrap="square" anchor="ctr" lIns="0" rIns="0" tIns="0" bIns="0">
            <a:spAutoFit/>
          </a:bodyPr>
          <a:lstStyle/>
          <a:p>
            <a:pPr algn="ctr"/>
            <a:r>
              <a:rPr sz="3200" b="1" i="0">
                <a:solidFill>
                  <a:srgbClr val="2DD4A7"/>
                </a:solidFill>
                <a:latin typeface="Cambria"/>
              </a:rPr>
              <a:t>15</a:t>
            </a:r>
          </a:p>
        </p:txBody>
      </p:sp>
      <p:sp>
        <p:nvSpPr>
          <p:cNvPr id="12" name="TextBox 11"/>
          <p:cNvSpPr txBox="1"/>
          <p:nvPr/>
        </p:nvSpPr>
        <p:spPr>
          <a:xfrm>
            <a:off x="7123175" y="1225296"/>
            <a:ext cx="1627632" cy="786384"/>
          </a:xfrm>
          <a:prstGeom prst="rect">
            <a:avLst/>
          </a:prstGeom>
          <a:noFill/>
        </p:spPr>
        <p:txBody>
          <a:bodyPr wrap="square" anchor="t" lIns="0" rIns="0" tIns="0" bIns="0">
            <a:spAutoFit/>
          </a:bodyPr>
          <a:lstStyle/>
          <a:p>
            <a:pPr algn="l">
              <a:spcAft>
                <a:spcPts val="200"/>
              </a:spcAft>
            </a:pPr>
            <a:r>
              <a:rPr sz="1050" b="1" i="0">
                <a:solidFill>
                  <a:srgbClr val="FFFFFF"/>
                </a:solidFill>
                <a:latin typeface="Calibri"/>
              </a:rPr>
              <a:t>MATCHED EXPECTATION (PASS)</a:t>
            </a:r>
          </a:p>
          <a:p>
            <a:pPr algn="l"/>
            <a:r>
              <a:rPr sz="1000" b="0" i="0">
                <a:solidFill>
                  <a:srgbClr val="A9BCDB"/>
                </a:solidFill>
                <a:latin typeface="Calibri"/>
              </a:rPr>
              <a:t>15 executions across 13 groups</a:t>
            </a:r>
          </a:p>
        </p:txBody>
      </p:sp>
      <p:sp>
        <p:nvSpPr>
          <p:cNvPr id="13" name="Rounded Rectangle 12"/>
          <p:cNvSpPr/>
          <p:nvPr/>
        </p:nvSpPr>
        <p:spPr>
          <a:xfrm>
            <a:off x="9034272" y="1133856"/>
            <a:ext cx="2651760" cy="987552"/>
          </a:xfrm>
          <a:prstGeom prst="roundRect">
            <a:avLst>
              <a:gd name="adj" fmla="val 6000"/>
            </a:avLst>
          </a:prstGeom>
          <a:solidFill>
            <a:srgbClr val="16294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2288" y="1188720"/>
            <a:ext cx="777240" cy="566928"/>
          </a:xfrm>
          <a:prstGeom prst="rect">
            <a:avLst/>
          </a:prstGeom>
          <a:noFill/>
        </p:spPr>
        <p:txBody>
          <a:bodyPr wrap="square" anchor="ctr" lIns="0" rIns="0" tIns="0" bIns="0">
            <a:spAutoFit/>
          </a:bodyPr>
          <a:lstStyle/>
          <a:p>
            <a:pPr algn="ctr"/>
            <a:r>
              <a:rPr sz="3200" b="1" i="0">
                <a:solidFill>
                  <a:srgbClr val="E8756B"/>
                </a:solidFill>
                <a:latin typeface="Cambria"/>
              </a:rPr>
              <a:t>1</a:t>
            </a:r>
          </a:p>
        </p:txBody>
      </p:sp>
      <p:sp>
        <p:nvSpPr>
          <p:cNvPr id="15" name="TextBox 14"/>
          <p:cNvSpPr txBox="1"/>
          <p:nvPr/>
        </p:nvSpPr>
        <p:spPr>
          <a:xfrm>
            <a:off x="9966960" y="1225296"/>
            <a:ext cx="1627632" cy="786384"/>
          </a:xfrm>
          <a:prstGeom prst="rect">
            <a:avLst/>
          </a:prstGeom>
          <a:noFill/>
        </p:spPr>
        <p:txBody>
          <a:bodyPr wrap="square" anchor="t" lIns="0" rIns="0" tIns="0" bIns="0">
            <a:spAutoFit/>
          </a:bodyPr>
          <a:lstStyle/>
          <a:p>
            <a:pPr algn="l">
              <a:spcAft>
                <a:spcPts val="200"/>
              </a:spcAft>
            </a:pPr>
            <a:r>
              <a:rPr sz="1050" b="1" i="0">
                <a:solidFill>
                  <a:srgbClr val="FFFFFF"/>
                </a:solidFill>
                <a:latin typeface="Calibri"/>
              </a:rPr>
              <a:t>BLOCKED (SCENARIO 05)</a:t>
            </a:r>
          </a:p>
          <a:p>
            <a:pPr algn="l"/>
            <a:r>
              <a:rPr sz="1000" b="0" i="0">
                <a:solidFill>
                  <a:srgbClr val="A9BCDB"/>
                </a:solidFill>
                <a:latin typeface="Calibri"/>
              </a:rPr>
              <a:t>Explicit-deny-ACE permission case</a:t>
            </a:r>
          </a:p>
        </p:txBody>
      </p:sp>
      <p:sp>
        <p:nvSpPr>
          <p:cNvPr id="16" name="Rounded Rectangle 15"/>
          <p:cNvSpPr/>
          <p:nvPr/>
        </p:nvSpPr>
        <p:spPr>
          <a:xfrm>
            <a:off x="502920" y="2249424"/>
            <a:ext cx="5440680" cy="4187952"/>
          </a:xfrm>
          <a:prstGeom prst="roundRect">
            <a:avLst>
              <a:gd name="adj" fmla="val 4000"/>
            </a:avLst>
          </a:prstGeom>
          <a:solidFill>
            <a:srgbClr val="16294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359152"/>
            <a:ext cx="5074920" cy="256032"/>
          </a:xfrm>
          <a:prstGeom prst="rect">
            <a:avLst/>
          </a:prstGeom>
          <a:noFill/>
        </p:spPr>
        <p:txBody>
          <a:bodyPr wrap="square" anchor="t" lIns="0" rIns="0" tIns="0" bIns="0">
            <a:spAutoFit/>
          </a:bodyPr>
          <a:lstStyle/>
          <a:p>
            <a:pPr algn="l"/>
            <a:r>
              <a:rPr sz="1150" b="1" i="0">
                <a:solidFill>
                  <a:srgbClr val="E8756B"/>
                </a:solidFill>
                <a:latin typeface="Calibri"/>
              </a:rPr>
              <a:t>SCENARIO 05 (BLOCKED) — EXPLICIT-DENY-ACE CASE</a:t>
            </a:r>
          </a:p>
        </p:txBody>
      </p:sp>
      <p:pic>
        <p:nvPicPr>
          <p:cNvPr id="18" name="Picture 17" descr="05_permission_restricted_blocked_bottom.png"/>
          <p:cNvPicPr>
            <a:picLocks noChangeAspect="1"/>
          </p:cNvPicPr>
          <p:nvPr/>
        </p:nvPicPr>
        <p:blipFill>
          <a:blip r:embed="rId3"/>
          <a:stretch>
            <a:fillRect/>
          </a:stretch>
        </p:blipFill>
        <p:spPr>
          <a:xfrm>
            <a:off x="685800" y="2670048"/>
            <a:ext cx="2706624" cy="2541798"/>
          </a:xfrm>
          <a:prstGeom prst="rect">
            <a:avLst/>
          </a:prstGeom>
          <a:ln>
            <a:noFill/>
          </a:ln>
        </p:spPr>
      </p:pic>
      <p:sp>
        <p:nvSpPr>
          <p:cNvPr id="19" name="Rounded Rectangle 18"/>
          <p:cNvSpPr/>
          <p:nvPr/>
        </p:nvSpPr>
        <p:spPr>
          <a:xfrm>
            <a:off x="3493008" y="2670048"/>
            <a:ext cx="2286000" cy="2541797"/>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4448" y="2743200"/>
            <a:ext cx="2103120" cy="2413781"/>
          </a:xfrm>
          <a:prstGeom prst="rect">
            <a:avLst/>
          </a:prstGeom>
          <a:noFill/>
        </p:spPr>
        <p:txBody>
          <a:bodyPr wrap="square" anchor="t" lIns="0" rIns="0" tIns="0" bIns="0">
            <a:spAutoFit/>
          </a:bodyPr>
          <a:lstStyle/>
          <a:p>
            <a:pPr algn="l">
              <a:spcAft>
                <a:spcPts val="300"/>
              </a:spcAft>
            </a:pPr>
            <a:r>
              <a:rPr sz="1100" b="1" i="0">
                <a:solidFill>
                  <a:srgbClr val="E8756B"/>
                </a:solidFill>
                <a:latin typeface="Calibri"/>
              </a:rPr>
              <a:t>Why Scenario 05 Is BLOCKED</a:t>
            </a:r>
          </a:p>
          <a:p>
            <a:pPr algn="l">
              <a:spcAft>
                <a:spcPts val="400"/>
              </a:spcAft>
            </a:pPr>
            <a:r>
              <a:rPr sz="1000" b="1" i="0">
                <a:solidFill>
                  <a:srgbClr val="F5A524"/>
                </a:solidFill>
                <a:latin typeface="Calibri"/>
              </a:rPr>
              <a:t>• Expected: PERMISSION_DENIED
• Actual: UNKNOWN_ERROR</a:t>
            </a:r>
          </a:p>
          <a:p>
            <a:pPr algn="l">
              <a:spcAft>
                <a:spcPts val="300"/>
              </a:spcAft>
            </a:pPr>
            <a:r>
              <a:rPr sz="1000" b="0" i="0">
                <a:solidFill>
                  <a:srgbClr val="FFFFFF"/>
                </a:solidFill>
                <a:latin typeface="Calibri"/>
              </a:rPr>
              <a:t>• Fixture carried an explicit NTFS deny-read ACE.</a:t>
            </a:r>
          </a:p>
          <a:p>
            <a:pPr algn="l">
              <a:spcAft>
                <a:spcPts val="300"/>
              </a:spcAft>
            </a:pPr>
            <a:r>
              <a:rPr sz="1000" b="0" i="0">
                <a:solidFill>
                  <a:srgbClr val="A9BCDB"/>
                </a:solidFill>
                <a:latin typeface="Calibri"/>
              </a:rPr>
              <a:t>• os.access() does not evaluate NTFS DACLs, so Permissions still listed READ: Allowed.</a:t>
            </a:r>
          </a:p>
          <a:p>
            <a:pPr algn="l"/>
            <a:r>
              <a:rPr sz="1000" b="0" i="0">
                <a:solidFill>
                  <a:srgbClr val="A9BCDB"/>
                </a:solidFill>
                <a:latin typeface="Calibri"/>
              </a:rPr>
              <a:t>• RmGetList returned Win32 error 5; Rule 5 honestly reported UNKNOWN_ERROR.</a:t>
            </a:r>
          </a:p>
        </p:txBody>
      </p:sp>
      <p:sp>
        <p:nvSpPr>
          <p:cNvPr id="21" name="Rounded Rectangle 20"/>
          <p:cNvSpPr/>
          <p:nvPr/>
        </p:nvSpPr>
        <p:spPr>
          <a:xfrm>
            <a:off x="685800" y="5284997"/>
            <a:ext cx="5093208" cy="1024128"/>
          </a:xfrm>
          <a:prstGeom prst="roundRect">
            <a:avLst>
              <a:gd name="adj" fmla="val 6000"/>
            </a:avLst>
          </a:prstGeom>
          <a:solidFill>
            <a:srgbClr val="0C1A30"/>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358149"/>
            <a:ext cx="4855464" cy="877824"/>
          </a:xfrm>
          <a:prstGeom prst="rect">
            <a:avLst/>
          </a:prstGeom>
          <a:noFill/>
        </p:spPr>
        <p:txBody>
          <a:bodyPr wrap="square" anchor="t" lIns="0" rIns="0" tIns="0" bIns="0">
            <a:spAutoFit/>
          </a:bodyPr>
          <a:lstStyle/>
          <a:p>
            <a:pPr algn="l">
              <a:spcAft>
                <a:spcPts val="200"/>
              </a:spcAft>
            </a:pPr>
            <a:r>
              <a:rPr sz="1050" b="1" i="0">
                <a:solidFill>
                  <a:srgbClr val="E8756B"/>
                </a:solidFill>
                <a:latin typeface="Calibri"/>
              </a:rPr>
              <a:t>Scenario 05 · Op: READ on 06_permission_restricted_file.txt · Actual: UNKNOWN_ERROR</a:t>
            </a:r>
          </a:p>
          <a:p>
            <a:pPr algn="l"/>
            <a:r>
              <a:rPr sz="1000" b="0" i="0">
                <a:solidFill>
                  <a:srgbClr val="A9BCDB"/>
                </a:solidFill>
                <a:latin typeface="Calibri"/>
              </a:rPr>
              <a:t>Reason: "Lock inspection error: RmGetList failed with error code 5." Declining to guess when an inspection fails is a deliberate design feature; PERMISSION_DENIED rules are verified via injected unit tests.</a:t>
            </a:r>
          </a:p>
        </p:txBody>
      </p:sp>
      <p:sp>
        <p:nvSpPr>
          <p:cNvPr id="23" name="Rounded Rectangle 22"/>
          <p:cNvSpPr/>
          <p:nvPr/>
        </p:nvSpPr>
        <p:spPr>
          <a:xfrm>
            <a:off x="6108192" y="2249424"/>
            <a:ext cx="5577840" cy="4187952"/>
          </a:xfrm>
          <a:prstGeom prst="roundRect">
            <a:avLst>
              <a:gd name="adj" fmla="val 4000"/>
            </a:avLst>
          </a:prstGeom>
          <a:solidFill>
            <a:srgbClr val="16294A"/>
          </a:solidFill>
          <a:ln w="12700">
            <a:solidFill>
              <a:srgbClr val="2A43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2359152"/>
            <a:ext cx="5175504" cy="256032"/>
          </a:xfrm>
          <a:prstGeom prst="rect">
            <a:avLst/>
          </a:prstGeom>
          <a:noFill/>
        </p:spPr>
        <p:txBody>
          <a:bodyPr wrap="square" anchor="t" lIns="0" rIns="0" tIns="0" bIns="0">
            <a:spAutoFit/>
          </a:bodyPr>
          <a:lstStyle/>
          <a:p>
            <a:pPr algn="l"/>
            <a:r>
              <a:rPr sz="1150" b="1" i="0">
                <a:solidFill>
                  <a:srgbClr val="F5A524"/>
                </a:solidFill>
                <a:latin typeface="Calibri"/>
              </a:rPr>
              <a:t>DOCUMENTED SYSTEM &amp; GUI LIMITATIONS (SECTIONS 6.11 &amp; 6.12)</a:t>
            </a:r>
          </a:p>
        </p:txBody>
      </p:sp>
      <p:sp>
        <p:nvSpPr>
          <p:cNvPr id="25" name="Rounded Rectangle 24"/>
          <p:cNvSpPr/>
          <p:nvPr/>
        </p:nvSpPr>
        <p:spPr>
          <a:xfrm>
            <a:off x="6309360" y="2670048"/>
            <a:ext cx="5175504" cy="658368"/>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7376" y="2706624"/>
            <a:ext cx="4919472" cy="585216"/>
          </a:xfrm>
          <a:prstGeom prst="rect">
            <a:avLst/>
          </a:prstGeom>
          <a:noFill/>
        </p:spPr>
        <p:txBody>
          <a:bodyPr wrap="square" anchor="t" lIns="0" rIns="0" tIns="0" bIns="0">
            <a:spAutoFit/>
          </a:bodyPr>
          <a:lstStyle/>
          <a:p>
            <a:pPr algn="l">
              <a:spcAft>
                <a:spcPts val="100"/>
              </a:spcAft>
            </a:pPr>
            <a:r>
              <a:rPr sz="1050" b="1" i="0">
                <a:solidFill>
                  <a:srgbClr val="F5A524"/>
                </a:solidFill>
                <a:latin typeface="Calibri"/>
              </a:rPr>
              <a:t>1. No Complete NTFS DACL Evaluation</a:t>
            </a:r>
          </a:p>
          <a:p>
            <a:pPr algn="l"/>
            <a:r>
              <a:rPr sz="1000" b="0" i="0">
                <a:solidFill>
                  <a:srgbClr val="A9BCDB"/>
                </a:solidFill>
                <a:latin typeface="Calibri"/>
              </a:rPr>
              <a:t>PermissionAnalyzer uses os.access() + owner SID lookup (OWNER_SECURITY_INFORMATION); inherited permissions, group rights, and explicit deny ACEs are not retrieved or evaluated.</a:t>
            </a:r>
          </a:p>
        </p:txBody>
      </p:sp>
      <p:sp>
        <p:nvSpPr>
          <p:cNvPr id="27" name="Rounded Rectangle 26"/>
          <p:cNvSpPr/>
          <p:nvPr/>
        </p:nvSpPr>
        <p:spPr>
          <a:xfrm>
            <a:off x="6309360" y="3401568"/>
            <a:ext cx="5175504" cy="658368"/>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7376" y="3438144"/>
            <a:ext cx="4919472" cy="585216"/>
          </a:xfrm>
          <a:prstGeom prst="rect">
            <a:avLst/>
          </a:prstGeom>
          <a:noFill/>
        </p:spPr>
        <p:txBody>
          <a:bodyPr wrap="square" anchor="t" lIns="0" rIns="0" tIns="0" bIns="0">
            <a:spAutoFit/>
          </a:bodyPr>
          <a:lstStyle/>
          <a:p>
            <a:pPr algn="l">
              <a:spcAft>
                <a:spcPts val="100"/>
              </a:spcAft>
            </a:pPr>
            <a:r>
              <a:rPr sz="1050" b="1" i="0">
                <a:solidFill>
                  <a:srgbClr val="FFFFFF"/>
                </a:solidFill>
                <a:latin typeface="Calibri"/>
              </a:rPr>
              <a:t>2. Approximated DELETE Permission</a:t>
            </a:r>
          </a:p>
          <a:p>
            <a:pPr algn="l"/>
            <a:r>
              <a:rPr sz="1000" b="0" i="0">
                <a:solidFill>
                  <a:srgbClr val="A9BCDB"/>
                </a:solidFill>
                <a:latin typeface="Calibri"/>
              </a:rPr>
              <a:t>DELETE is approximated by file write access (os.access(W_OK)) and read-only checks; parent-directory deletion rights (FILE_DELETE_CHILD) are not evaluated.</a:t>
            </a:r>
          </a:p>
        </p:txBody>
      </p:sp>
      <p:sp>
        <p:nvSpPr>
          <p:cNvPr id="29" name="Rounded Rectangle 28"/>
          <p:cNvSpPr/>
          <p:nvPr/>
        </p:nvSpPr>
        <p:spPr>
          <a:xfrm>
            <a:off x="6309360" y="4133087"/>
            <a:ext cx="5175504" cy="658368"/>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4169663"/>
            <a:ext cx="4919472" cy="585216"/>
          </a:xfrm>
          <a:prstGeom prst="rect">
            <a:avLst/>
          </a:prstGeom>
          <a:noFill/>
        </p:spPr>
        <p:txBody>
          <a:bodyPr wrap="square" anchor="t" lIns="0" rIns="0" tIns="0" bIns="0">
            <a:spAutoFit/>
          </a:bodyPr>
          <a:lstStyle/>
          <a:p>
            <a:pPr algn="l">
              <a:spcAft>
                <a:spcPts val="100"/>
              </a:spcAft>
            </a:pPr>
            <a:r>
              <a:rPr sz="1050" b="1" i="0">
                <a:solidFill>
                  <a:srgbClr val="FFFFFF"/>
                </a:solidFill>
                <a:latin typeface="Calibri"/>
              </a:rPr>
              <a:t>3. Restart Manager Scope &amp; Failure Modes</a:t>
            </a:r>
          </a:p>
          <a:p>
            <a:pPr algn="l"/>
            <a:r>
              <a:rPr sz="1000" b="0" i="0">
                <a:solidFill>
                  <a:srgbClr val="A9BCDB"/>
                </a:solidFill>
                <a:latin typeface="Calibri"/>
              </a:rPr>
              <a:t>Designed for installers, not as a universal enumeration of all open handles; captures a single point-in-time snapshot and can fail (e.g., Win32 error 5 in Scenario 05).</a:t>
            </a:r>
          </a:p>
        </p:txBody>
      </p:sp>
      <p:sp>
        <p:nvSpPr>
          <p:cNvPr id="31" name="Rounded Rectangle 30"/>
          <p:cNvSpPr/>
          <p:nvPr/>
        </p:nvSpPr>
        <p:spPr>
          <a:xfrm>
            <a:off x="6309360" y="4864608"/>
            <a:ext cx="5175504" cy="658368"/>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37376" y="4901184"/>
            <a:ext cx="4919472" cy="585216"/>
          </a:xfrm>
          <a:prstGeom prst="rect">
            <a:avLst/>
          </a:prstGeom>
          <a:noFill/>
        </p:spPr>
        <p:txBody>
          <a:bodyPr wrap="square" anchor="t" lIns="0" rIns="0" tIns="0" bIns="0">
            <a:spAutoFit/>
          </a:bodyPr>
          <a:lstStyle/>
          <a:p>
            <a:pPr algn="l">
              <a:spcAft>
                <a:spcPts val="100"/>
              </a:spcAft>
            </a:pPr>
            <a:r>
              <a:rPr sz="1050" b="1" i="0">
                <a:solidFill>
                  <a:srgbClr val="FFFFFF"/>
                </a:solidFill>
                <a:latin typeface="Calibri"/>
              </a:rPr>
              <a:t>4. Bounded Cloud-Sync Coverage</a:t>
            </a:r>
          </a:p>
          <a:p>
            <a:pPr algn="l"/>
            <a:r>
              <a:rPr sz="1000" b="0" i="0">
                <a:solidFill>
                  <a:srgbClr val="A9BCDB"/>
                </a:solidFill>
                <a:latin typeface="Calibri"/>
              </a:rPr>
              <a:t>Discovery is bounded to local OneDrive and Google Drive roots/daemons; positive confirmed sync locks are verified by automated tests rather than live capture.</a:t>
            </a:r>
          </a:p>
        </p:txBody>
      </p:sp>
      <p:sp>
        <p:nvSpPr>
          <p:cNvPr id="33" name="Rounded Rectangle 32"/>
          <p:cNvSpPr/>
          <p:nvPr/>
        </p:nvSpPr>
        <p:spPr>
          <a:xfrm>
            <a:off x="6309360" y="5596128"/>
            <a:ext cx="5175504" cy="658368"/>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632704"/>
            <a:ext cx="4919472" cy="585216"/>
          </a:xfrm>
          <a:prstGeom prst="rect">
            <a:avLst/>
          </a:prstGeom>
          <a:noFill/>
        </p:spPr>
        <p:txBody>
          <a:bodyPr wrap="square" anchor="t" lIns="0" rIns="0" tIns="0" bIns="0">
            <a:spAutoFit/>
          </a:bodyPr>
          <a:lstStyle/>
          <a:p>
            <a:pPr algn="l">
              <a:spcAft>
                <a:spcPts val="100"/>
              </a:spcAft>
            </a:pPr>
            <a:r>
              <a:rPr sz="1050" b="1" i="0">
                <a:solidFill>
                  <a:srgbClr val="F5A524"/>
                </a:solidFill>
                <a:latin typeface="Calibri"/>
              </a:rPr>
              <a:t>5. Two Observed Live GUI Limitations</a:t>
            </a:r>
          </a:p>
          <a:p>
            <a:pPr algn="l"/>
            <a:r>
              <a:rPr sz="1000" b="0" i="0">
                <a:solidFill>
                  <a:srgbClr val="A9BCDB"/>
                </a:solidFill>
                <a:latin typeface="Calibri"/>
              </a:rPr>
              <a:t>(a) In Scenario 09, a very long directory error path is not wrapped and pushes the Cloud Sync card partly off-window; (b) in top-viewport captures, the operation drop-down text is not visible (though shown in the Status panel).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1A30"/>
        </a:solidFill>
        <a:effectLst/>
      </p:bgPr>
    </p:bg>
    <p:spTree>
      <p:nvGrpSpPr>
        <p:cNvPr id="1" name=""/>
        <p:cNvGrpSpPr/>
        <p:nvPr/>
      </p:nvGrpSpPr>
      <p:grpSpPr/>
      <p:sp>
        <p:nvSpPr>
          <p:cNvPr id="2" name="TextBox 1"/>
          <p:cNvSpPr txBox="1"/>
          <p:nvPr/>
        </p:nvSpPr>
        <p:spPr>
          <a:xfrm>
            <a:off x="502920" y="237744"/>
            <a:ext cx="11183112" cy="237744"/>
          </a:xfrm>
          <a:prstGeom prst="rect">
            <a:avLst/>
          </a:prstGeom>
          <a:noFill/>
        </p:spPr>
        <p:txBody>
          <a:bodyPr wrap="square" anchor="t" lIns="0" rIns="0" tIns="0" bIns="0">
            <a:spAutoFit/>
          </a:bodyPr>
          <a:lstStyle/>
          <a:p>
            <a:pPr algn="l"/>
            <a:r>
              <a:rPr sz="1100" b="1" i="0">
                <a:solidFill>
                  <a:srgbClr val="4F8EF7"/>
                </a:solidFill>
                <a:latin typeface="Calibri"/>
              </a:rPr>
              <a:t>SLIDE 13  •  CONCLUSION &amp; FUTURE WORK</a:t>
            </a:r>
          </a:p>
        </p:txBody>
      </p:sp>
      <p:sp>
        <p:nvSpPr>
          <p:cNvPr id="3" name="TextBox 2"/>
          <p:cNvSpPr txBox="1"/>
          <p:nvPr/>
        </p:nvSpPr>
        <p:spPr>
          <a:xfrm>
            <a:off x="502920" y="475488"/>
            <a:ext cx="11183112" cy="493776"/>
          </a:xfrm>
          <a:prstGeom prst="rect">
            <a:avLst/>
          </a:prstGeom>
          <a:noFill/>
        </p:spPr>
        <p:txBody>
          <a:bodyPr wrap="square" anchor="t" lIns="0" rIns="0" tIns="0" bIns="0">
            <a:spAutoFit/>
          </a:bodyPr>
          <a:lstStyle/>
          <a:p>
            <a:pPr algn="l"/>
            <a:r>
              <a:rPr sz="2600" b="1" i="0">
                <a:solidFill>
                  <a:srgbClr val="FFFFFF"/>
                </a:solidFill>
                <a:latin typeface="Cambria"/>
              </a:rPr>
              <a:t>Conclusion, Future Improvements and Questions</a:t>
            </a:r>
          </a:p>
        </p:txBody>
      </p:sp>
      <p:sp>
        <p:nvSpPr>
          <p:cNvPr id="4" name="Rounded Rectangle 3"/>
          <p:cNvSpPr/>
          <p:nvPr/>
        </p:nvSpPr>
        <p:spPr>
          <a:xfrm>
            <a:off x="502920" y="1133856"/>
            <a:ext cx="5440680" cy="3968496"/>
          </a:xfrm>
          <a:prstGeom prst="roundRect">
            <a:avLst>
              <a:gd name="adj" fmla="val 4000"/>
            </a:avLst>
          </a:prstGeom>
          <a:solidFill>
            <a:srgbClr val="16294A"/>
          </a:solidFill>
          <a:ln w="12700">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280160"/>
            <a:ext cx="146304" cy="146304"/>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243584"/>
            <a:ext cx="4754880" cy="256032"/>
          </a:xfrm>
          <a:prstGeom prst="rect">
            <a:avLst/>
          </a:prstGeom>
          <a:noFill/>
        </p:spPr>
        <p:txBody>
          <a:bodyPr wrap="square" anchor="t" lIns="0" rIns="0" tIns="0" bIns="0">
            <a:spAutoFit/>
          </a:bodyPr>
          <a:lstStyle/>
          <a:p>
            <a:pPr algn="l"/>
            <a:r>
              <a:rPr sz="1150" b="1" i="0">
                <a:solidFill>
                  <a:srgbClr val="2DD4A7"/>
                </a:solidFill>
                <a:latin typeface="Calibri"/>
              </a:rPr>
              <a:t>DELIVERED &amp; VALIDATED SYSTEM SUMMARY</a:t>
            </a:r>
          </a:p>
        </p:txBody>
      </p:sp>
      <p:sp>
        <p:nvSpPr>
          <p:cNvPr id="7" name="Oval 6"/>
          <p:cNvSpPr/>
          <p:nvPr/>
        </p:nvSpPr>
        <p:spPr>
          <a:xfrm>
            <a:off x="731520" y="1655064"/>
            <a:ext cx="219456" cy="21945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55064"/>
            <a:ext cx="219456" cy="219456"/>
          </a:xfrm>
          <a:prstGeom prst="rect">
            <a:avLst/>
          </a:prstGeom>
          <a:noFill/>
        </p:spPr>
        <p:txBody>
          <a:bodyPr wrap="square" anchor="ctr" lIns="0" rIns="0" tIns="0" bIns="0">
            <a:spAutoFit/>
          </a:bodyPr>
          <a:lstStyle/>
          <a:p>
            <a:pPr algn="ctr"/>
            <a:r>
              <a:rPr sz="1000" b="1" i="0">
                <a:solidFill>
                  <a:srgbClr val="0C1A30"/>
                </a:solidFill>
                <a:latin typeface="Calibri"/>
              </a:rPr>
              <a:t>✓</a:t>
            </a:r>
          </a:p>
        </p:txBody>
      </p:sp>
      <p:sp>
        <p:nvSpPr>
          <p:cNvPr id="9" name="TextBox 8"/>
          <p:cNvSpPr txBox="1"/>
          <p:nvPr/>
        </p:nvSpPr>
        <p:spPr>
          <a:xfrm>
            <a:off x="1042416" y="1627632"/>
            <a:ext cx="4672584" cy="512064"/>
          </a:xfrm>
          <a:prstGeom prst="rect">
            <a:avLst/>
          </a:prstGeom>
          <a:noFill/>
        </p:spPr>
        <p:txBody>
          <a:bodyPr wrap="square" anchor="t" lIns="0" rIns="0" tIns="0" bIns="0">
            <a:spAutoFit/>
          </a:bodyPr>
          <a:lstStyle/>
          <a:p>
            <a:pPr algn="l"/>
            <a:r>
              <a:rPr sz="1150" b="1" i="0">
                <a:solidFill>
                  <a:srgbClr val="FFFFFF"/>
                </a:solidFill>
                <a:latin typeface="Calibri"/>
              </a:rPr>
              <a:t>Complete Four-Peer Architecture: </a:t>
            </a:r>
            <a:r>
              <a:rPr sz="1050" b="0" i="0">
                <a:solidFill>
                  <a:srgbClr val="A9BCDB"/>
                </a:solidFill>
                <a:latin typeface="Calibri"/>
              </a:rPr>
              <a:t>Process/Lock (Restart Manager), Permission/Ownership (os.access + Win32 owner), File Attribute (os.stat + GetFileAttributesW), and Cloud-Sync (OneDrive &amp; Google Drive) coordinated as equal peers.</a:t>
            </a:r>
          </a:p>
        </p:txBody>
      </p:sp>
      <p:sp>
        <p:nvSpPr>
          <p:cNvPr id="10" name="Oval 9"/>
          <p:cNvSpPr/>
          <p:nvPr/>
        </p:nvSpPr>
        <p:spPr>
          <a:xfrm>
            <a:off x="731520" y="2478024"/>
            <a:ext cx="219456" cy="21945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78024"/>
            <a:ext cx="219456" cy="219456"/>
          </a:xfrm>
          <a:prstGeom prst="rect">
            <a:avLst/>
          </a:prstGeom>
          <a:noFill/>
        </p:spPr>
        <p:txBody>
          <a:bodyPr wrap="square" anchor="ctr" lIns="0" rIns="0" tIns="0" bIns="0">
            <a:spAutoFit/>
          </a:bodyPr>
          <a:lstStyle/>
          <a:p>
            <a:pPr algn="ctr"/>
            <a:r>
              <a:rPr sz="1000" b="1" i="0">
                <a:solidFill>
                  <a:srgbClr val="0C1A30"/>
                </a:solidFill>
                <a:latin typeface="Calibri"/>
              </a:rPr>
              <a:t>✓</a:t>
            </a:r>
          </a:p>
        </p:txBody>
      </p:sp>
      <p:sp>
        <p:nvSpPr>
          <p:cNvPr id="12" name="TextBox 11"/>
          <p:cNvSpPr txBox="1"/>
          <p:nvPr/>
        </p:nvSpPr>
        <p:spPr>
          <a:xfrm>
            <a:off x="1042416" y="2450592"/>
            <a:ext cx="4672584" cy="512064"/>
          </a:xfrm>
          <a:prstGeom prst="rect">
            <a:avLst/>
          </a:prstGeom>
          <a:noFill/>
        </p:spPr>
        <p:txBody>
          <a:bodyPr wrap="square" anchor="t" lIns="0" rIns="0" tIns="0" bIns="0">
            <a:spAutoFit/>
          </a:bodyPr>
          <a:lstStyle/>
          <a:p>
            <a:pPr algn="l"/>
            <a:r>
              <a:rPr sz="1150" b="1" i="0">
                <a:solidFill>
                  <a:srgbClr val="FFFFFF"/>
                </a:solidFill>
                <a:latin typeface="Calibri"/>
              </a:rPr>
              <a:t>Deterministic Evidence Correlation: </a:t>
            </a:r>
            <a:r>
              <a:rPr sz="1050" b="0" i="0">
                <a:solidFill>
                  <a:srgbClr val="A9BCDB"/>
                </a:solidFill>
                <a:latin typeface="Calibri"/>
              </a:rPr>
              <a:t>7-rule priority classification (_classify) + correlate_sync_lock() selects one explainable primary cause while preserving secondary findings.</a:t>
            </a:r>
          </a:p>
        </p:txBody>
      </p:sp>
      <p:sp>
        <p:nvSpPr>
          <p:cNvPr id="13" name="Oval 12"/>
          <p:cNvSpPr/>
          <p:nvPr/>
        </p:nvSpPr>
        <p:spPr>
          <a:xfrm>
            <a:off x="731520" y="3300984"/>
            <a:ext cx="219456" cy="21945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300984"/>
            <a:ext cx="219456" cy="219456"/>
          </a:xfrm>
          <a:prstGeom prst="rect">
            <a:avLst/>
          </a:prstGeom>
          <a:noFill/>
        </p:spPr>
        <p:txBody>
          <a:bodyPr wrap="square" anchor="ctr" lIns="0" rIns="0" tIns="0" bIns="0">
            <a:spAutoFit/>
          </a:bodyPr>
          <a:lstStyle/>
          <a:p>
            <a:pPr algn="ctr"/>
            <a:r>
              <a:rPr sz="1000" b="1" i="0">
                <a:solidFill>
                  <a:srgbClr val="0C1A30"/>
                </a:solidFill>
                <a:latin typeface="Calibri"/>
              </a:rPr>
              <a:t>✓</a:t>
            </a:r>
          </a:p>
        </p:txBody>
      </p:sp>
      <p:sp>
        <p:nvSpPr>
          <p:cNvPr id="15" name="TextBox 14"/>
          <p:cNvSpPr txBox="1"/>
          <p:nvPr/>
        </p:nvSpPr>
        <p:spPr>
          <a:xfrm>
            <a:off x="1042416" y="3273552"/>
            <a:ext cx="4672584" cy="512064"/>
          </a:xfrm>
          <a:prstGeom prst="rect">
            <a:avLst/>
          </a:prstGeom>
          <a:noFill/>
        </p:spPr>
        <p:txBody>
          <a:bodyPr wrap="square" anchor="t" lIns="0" rIns="0" tIns="0" bIns="0">
            <a:spAutoFit/>
          </a:bodyPr>
          <a:lstStyle/>
          <a:p>
            <a:pPr algn="l"/>
            <a:r>
              <a:rPr sz="1150" b="1" i="0">
                <a:solidFill>
                  <a:srgbClr val="FFFFFF"/>
                </a:solidFill>
                <a:latin typeface="Calibri"/>
              </a:rPr>
              <a:t>Safe, Read-Only Advisory Design: </a:t>
            </a:r>
            <a:r>
              <a:rPr sz="1050" b="0" i="0">
                <a:solidFill>
                  <a:srgbClr val="A9BCDB"/>
                </a:solidFill>
                <a:latin typeface="Calibri"/>
              </a:rPr>
              <a:t>Recommender generates human-readable next steps naming specific PIDs, owners, or attributes; never modifies files or terminates processes.</a:t>
            </a:r>
          </a:p>
        </p:txBody>
      </p:sp>
      <p:sp>
        <p:nvSpPr>
          <p:cNvPr id="16" name="Oval 15"/>
          <p:cNvSpPr/>
          <p:nvPr/>
        </p:nvSpPr>
        <p:spPr>
          <a:xfrm>
            <a:off x="731520" y="4123944"/>
            <a:ext cx="219456" cy="21945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23944"/>
            <a:ext cx="219456" cy="219456"/>
          </a:xfrm>
          <a:prstGeom prst="rect">
            <a:avLst/>
          </a:prstGeom>
          <a:noFill/>
        </p:spPr>
        <p:txBody>
          <a:bodyPr wrap="square" anchor="ctr" lIns="0" rIns="0" tIns="0" bIns="0">
            <a:spAutoFit/>
          </a:bodyPr>
          <a:lstStyle/>
          <a:p>
            <a:pPr algn="ctr"/>
            <a:r>
              <a:rPr sz="1000" b="1" i="0">
                <a:solidFill>
                  <a:srgbClr val="0C1A30"/>
                </a:solidFill>
                <a:latin typeface="Calibri"/>
              </a:rPr>
              <a:t>✓</a:t>
            </a:r>
          </a:p>
        </p:txBody>
      </p:sp>
      <p:sp>
        <p:nvSpPr>
          <p:cNvPr id="18" name="TextBox 17"/>
          <p:cNvSpPr txBox="1"/>
          <p:nvPr/>
        </p:nvSpPr>
        <p:spPr>
          <a:xfrm>
            <a:off x="1042416" y="4096512"/>
            <a:ext cx="4672584" cy="512064"/>
          </a:xfrm>
          <a:prstGeom prst="rect">
            <a:avLst/>
          </a:prstGeom>
          <a:noFill/>
        </p:spPr>
        <p:txBody>
          <a:bodyPr wrap="square" anchor="t" lIns="0" rIns="0" tIns="0" bIns="0">
            <a:spAutoFit/>
          </a:bodyPr>
          <a:lstStyle/>
          <a:p>
            <a:pPr algn="l"/>
            <a:r>
              <a:rPr sz="1150" b="1" i="0">
                <a:solidFill>
                  <a:srgbClr val="FFFFFF"/>
                </a:solidFill>
                <a:latin typeface="Calibri"/>
              </a:rPr>
              <a:t>Verified Two-Layer Evidence Portfolio: </a:t>
            </a:r>
            <a:r>
              <a:rPr sz="1050" b="0" i="0">
                <a:solidFill>
                  <a:srgbClr val="A9BCDB"/>
                </a:solidFill>
                <a:latin typeface="Calibri"/>
              </a:rPr>
              <a:t>157 pytest tests (156 passed, 0 failed, 1 platform skip) + 16 live GUI executions across 14 scenario groups (15 passed, 1 honestly documented as BLOCKED).</a:t>
            </a:r>
          </a:p>
        </p:txBody>
      </p:sp>
      <p:sp>
        <p:nvSpPr>
          <p:cNvPr id="19" name="Rounded Rectangle 18"/>
          <p:cNvSpPr/>
          <p:nvPr/>
        </p:nvSpPr>
        <p:spPr>
          <a:xfrm>
            <a:off x="6153912" y="1133856"/>
            <a:ext cx="5532120" cy="3968496"/>
          </a:xfrm>
          <a:prstGeom prst="roundRect">
            <a:avLst>
              <a:gd name="adj" fmla="val 4000"/>
            </a:avLst>
          </a:prstGeom>
          <a:solidFill>
            <a:srgbClr val="16294A"/>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82512" y="1280160"/>
            <a:ext cx="146304" cy="146304"/>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1968" y="1243584"/>
            <a:ext cx="4846320" cy="256032"/>
          </a:xfrm>
          <a:prstGeom prst="rect">
            <a:avLst/>
          </a:prstGeom>
          <a:noFill/>
        </p:spPr>
        <p:txBody>
          <a:bodyPr wrap="square" anchor="t" lIns="0" rIns="0" tIns="0" bIns="0">
            <a:spAutoFit/>
          </a:bodyPr>
          <a:lstStyle/>
          <a:p>
            <a:pPr algn="l"/>
            <a:r>
              <a:rPr sz="1150" b="1" i="0">
                <a:solidFill>
                  <a:srgbClr val="F5A524"/>
                </a:solidFill>
                <a:latin typeface="Calibri"/>
              </a:rPr>
              <a:t>FUTURE IMPROVEMENTS (TABLE 7.1 — NOT IMPLEMENTED)</a:t>
            </a:r>
          </a:p>
        </p:txBody>
      </p:sp>
      <p:sp>
        <p:nvSpPr>
          <p:cNvPr id="22" name="Rounded Rectangle 21"/>
          <p:cNvSpPr/>
          <p:nvPr/>
        </p:nvSpPr>
        <p:spPr>
          <a:xfrm>
            <a:off x="6355080" y="1627632"/>
            <a:ext cx="5120640" cy="713232"/>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82496"/>
            <a:ext cx="4846320" cy="603504"/>
          </a:xfrm>
          <a:prstGeom prst="rect">
            <a:avLst/>
          </a:prstGeom>
          <a:noFill/>
        </p:spPr>
        <p:txBody>
          <a:bodyPr wrap="square" anchor="t" lIns="0" rIns="0" tIns="0" bIns="0">
            <a:spAutoFit/>
          </a:bodyPr>
          <a:lstStyle/>
          <a:p>
            <a:pPr algn="l">
              <a:spcAft>
                <a:spcPts val="200"/>
              </a:spcAft>
            </a:pPr>
            <a:r>
              <a:rPr sz="1100" b="1" i="0">
                <a:solidFill>
                  <a:srgbClr val="F5A524"/>
                </a:solidFill>
                <a:latin typeface="Calibri"/>
              </a:rPr>
              <a:t>Stronger NTFS DACL &amp; Effective-Access Evaluation</a:t>
            </a:r>
          </a:p>
          <a:p>
            <a:pPr algn="l"/>
            <a:r>
              <a:rPr sz="1000" b="0" i="0">
                <a:solidFill>
                  <a:srgbClr val="A9BCDB"/>
                </a:solidFill>
                <a:latin typeface="Calibri"/>
              </a:rPr>
              <a:t>Retrieve the security descriptor DACL (DACL_SECURITY_INFORMATION) and compute effective token rights, including inheritance and explicit deny ACEs.</a:t>
            </a:r>
          </a:p>
        </p:txBody>
      </p:sp>
      <p:sp>
        <p:nvSpPr>
          <p:cNvPr id="24" name="Rounded Rectangle 23"/>
          <p:cNvSpPr/>
          <p:nvPr/>
        </p:nvSpPr>
        <p:spPr>
          <a:xfrm>
            <a:off x="6355080" y="2450592"/>
            <a:ext cx="5120640" cy="713232"/>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2505456"/>
            <a:ext cx="4846320" cy="603504"/>
          </a:xfrm>
          <a:prstGeom prst="rect">
            <a:avLst/>
          </a:prstGeom>
          <a:noFill/>
        </p:spPr>
        <p:txBody>
          <a:bodyPr wrap="square" anchor="t" lIns="0" rIns="0" tIns="0" bIns="0">
            <a:spAutoFit/>
          </a:bodyPr>
          <a:lstStyle/>
          <a:p>
            <a:pPr algn="l">
              <a:spcAft>
                <a:spcPts val="200"/>
              </a:spcAft>
            </a:pPr>
            <a:r>
              <a:rPr sz="1100" b="1" i="0">
                <a:solidFill>
                  <a:srgbClr val="F5A524"/>
                </a:solidFill>
                <a:latin typeface="Calibri"/>
              </a:rPr>
              <a:t>Parent-Directory DELETE-Right Checks</a:t>
            </a:r>
          </a:p>
          <a:p>
            <a:pPr algn="l"/>
            <a:r>
              <a:rPr sz="1000" b="0" i="0">
                <a:solidFill>
                  <a:srgbClr val="A9BCDB"/>
                </a:solidFill>
                <a:latin typeface="Calibri"/>
              </a:rPr>
              <a:t>Evaluate parent-folder deletion permissions (FILE_DELETE_CHILD) alongside file write/read-only state.</a:t>
            </a:r>
          </a:p>
        </p:txBody>
      </p:sp>
      <p:sp>
        <p:nvSpPr>
          <p:cNvPr id="26" name="Rounded Rectangle 25"/>
          <p:cNvSpPr/>
          <p:nvPr/>
        </p:nvSpPr>
        <p:spPr>
          <a:xfrm>
            <a:off x="6355080" y="3273552"/>
            <a:ext cx="5120640" cy="713232"/>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3328416"/>
            <a:ext cx="4846320" cy="603504"/>
          </a:xfrm>
          <a:prstGeom prst="rect">
            <a:avLst/>
          </a:prstGeom>
          <a:noFill/>
        </p:spPr>
        <p:txBody>
          <a:bodyPr wrap="square" anchor="t" lIns="0" rIns="0" tIns="0" bIns="0">
            <a:spAutoFit/>
          </a:bodyPr>
          <a:lstStyle/>
          <a:p>
            <a:pPr algn="l">
              <a:spcAft>
                <a:spcPts val="200"/>
              </a:spcAft>
            </a:pPr>
            <a:r>
              <a:rPr sz="1100" b="1" i="0">
                <a:solidFill>
                  <a:srgbClr val="F5A524"/>
                </a:solidFill>
                <a:latin typeface="Calibri"/>
              </a:rPr>
              <a:t>Expanded Live Sync Testing &amp; Provider Discovery</a:t>
            </a:r>
          </a:p>
          <a:p>
            <a:pPr algn="l"/>
            <a:r>
              <a:rPr sz="1000" b="0" i="0">
                <a:solidFill>
                  <a:srgbClr val="A9BCDB"/>
                </a:solidFill>
                <a:latin typeface="Calibri"/>
              </a:rPr>
              <a:t>Capture positive live sync-lock scenarios safely using dedicated test accounts/folders and extend discovery to additional cloud providers.</a:t>
            </a:r>
          </a:p>
        </p:txBody>
      </p:sp>
      <p:sp>
        <p:nvSpPr>
          <p:cNvPr id="28" name="Rounded Rectangle 27"/>
          <p:cNvSpPr/>
          <p:nvPr/>
        </p:nvSpPr>
        <p:spPr>
          <a:xfrm>
            <a:off x="6355080" y="4096512"/>
            <a:ext cx="5120640" cy="713232"/>
          </a:xfrm>
          <a:prstGeom prst="roundRect">
            <a:avLst>
              <a:gd name="adj" fmla="val 6000"/>
            </a:avLst>
          </a:prstGeom>
          <a:solidFill>
            <a:srgbClr val="0C1A30"/>
          </a:solidFill>
          <a:ln w="12700">
            <a:solidFill>
              <a:srgbClr val="3A4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151376"/>
            <a:ext cx="4846320" cy="603504"/>
          </a:xfrm>
          <a:prstGeom prst="rect">
            <a:avLst/>
          </a:prstGeom>
          <a:noFill/>
        </p:spPr>
        <p:txBody>
          <a:bodyPr wrap="square" anchor="t" lIns="0" rIns="0" tIns="0" bIns="0">
            <a:spAutoFit/>
          </a:bodyPr>
          <a:lstStyle/>
          <a:p>
            <a:pPr algn="l">
              <a:spcAft>
                <a:spcPts val="200"/>
              </a:spcAft>
            </a:pPr>
            <a:r>
              <a:rPr sz="1100" b="1" i="0">
                <a:solidFill>
                  <a:srgbClr val="F5A524"/>
                </a:solidFill>
                <a:latin typeface="Calibri"/>
              </a:rPr>
              <a:t>GUI Path Wrapping &amp; Operation-Selector Refinements</a:t>
            </a:r>
          </a:p>
          <a:p>
            <a:pPr algn="l"/>
            <a:r>
              <a:rPr sz="1000" b="0" i="0">
                <a:solidFill>
                  <a:srgbClr val="A9BCDB"/>
                </a:solidFill>
                <a:latin typeface="Calibri"/>
              </a:rPr>
              <a:t>Wrap very long error paths inside result cards (Scenario 09) and verify operation combobox text visibility across capture modes.</a:t>
            </a:r>
          </a:p>
        </p:txBody>
      </p:sp>
      <p:sp>
        <p:nvSpPr>
          <p:cNvPr id="30" name="Rounded Rectangle 29"/>
          <p:cNvSpPr/>
          <p:nvPr/>
        </p:nvSpPr>
        <p:spPr>
          <a:xfrm>
            <a:off x="502920" y="5248656"/>
            <a:ext cx="11183112" cy="1207008"/>
          </a:xfrm>
          <a:prstGeom prst="roundRect">
            <a:avLst>
              <a:gd name="adj" fmla="val 5000"/>
            </a:avLst>
          </a:prstGeom>
          <a:solidFill>
            <a:srgbClr val="1E3560"/>
          </a:solidFill>
          <a:ln w="15240">
            <a:solidFill>
              <a:srgbClr val="4F8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340096"/>
            <a:ext cx="10725912" cy="420624"/>
          </a:xfrm>
          <a:prstGeom prst="rect">
            <a:avLst/>
          </a:prstGeom>
          <a:noFill/>
        </p:spPr>
        <p:txBody>
          <a:bodyPr wrap="square" anchor="t" lIns="0" rIns="0" tIns="0" bIns="0">
            <a:spAutoFit/>
          </a:bodyPr>
          <a:lstStyle/>
          <a:p>
            <a:pPr algn="ctr"/>
            <a:r>
              <a:rPr sz="2400" b="1" i="0">
                <a:solidFill>
                  <a:srgbClr val="FFFFFF"/>
                </a:solidFill>
                <a:latin typeface="Cambria"/>
              </a:rPr>
              <a:t>Thank You  —  Questions &amp; Discussion</a:t>
            </a:r>
          </a:p>
        </p:txBody>
      </p:sp>
      <p:sp>
        <p:nvSpPr>
          <p:cNvPr id="32" name="TextBox 31"/>
          <p:cNvSpPr txBox="1"/>
          <p:nvPr/>
        </p:nvSpPr>
        <p:spPr>
          <a:xfrm>
            <a:off x="731520" y="5779008"/>
            <a:ext cx="10725912" cy="292608"/>
          </a:xfrm>
          <a:prstGeom prst="rect">
            <a:avLst/>
          </a:prstGeom>
          <a:noFill/>
        </p:spPr>
        <p:txBody>
          <a:bodyPr wrap="square" anchor="t" lIns="0" rIns="0" tIns="0" bIns="0">
            <a:spAutoFit/>
          </a:bodyPr>
          <a:lstStyle/>
          <a:p>
            <a:pPr algn="ctr"/>
            <a:r>
              <a:rPr sz="1300" b="1" i="0">
                <a:solidFill>
                  <a:srgbClr val="4F8EF7"/>
                </a:solidFill>
                <a:latin typeface="Calibri"/>
              </a:rPr>
              <a:t>Yash Pradhan (24BCE0702)   •   Anjini Pandey (24BCE0714)   •   Dhruv Kothari (24BCE0570)</a:t>
            </a:r>
          </a:p>
        </p:txBody>
      </p:sp>
      <p:sp>
        <p:nvSpPr>
          <p:cNvPr id="33" name="TextBox 32"/>
          <p:cNvSpPr txBox="1"/>
          <p:nvPr/>
        </p:nvSpPr>
        <p:spPr>
          <a:xfrm>
            <a:off x="731520" y="6089904"/>
            <a:ext cx="10725912" cy="256032"/>
          </a:xfrm>
          <a:prstGeom prst="rect">
            <a:avLst/>
          </a:prstGeom>
          <a:noFill/>
        </p:spPr>
        <p:txBody>
          <a:bodyPr wrap="square" anchor="t" lIns="0" rIns="0" tIns="0" bIns="0">
            <a:spAutoFit/>
          </a:bodyPr>
          <a:lstStyle/>
          <a:p>
            <a:pPr algn="ctr"/>
            <a:r>
              <a:rPr sz="1050" b="0" i="0">
                <a:solidFill>
                  <a:srgbClr val="A9BCDB"/>
                </a:solidFill>
                <a:latin typeface="Calibri"/>
              </a:rPr>
              <a:t>BCSE303P – Operating Systems Lab   ·   School of Computer Science and Engineering, VIT Vellore   ·   Supervisor: Dr. N. Narayanan Prasanth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